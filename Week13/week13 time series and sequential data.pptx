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2"/>
  </p:notesMasterIdLst>
  <p:handoutMasterIdLst>
    <p:handoutMasterId r:id="rId53"/>
  </p:handoutMasterIdLst>
  <p:sldIdLst>
    <p:sldId id="265" r:id="rId2"/>
    <p:sldId id="625" r:id="rId3"/>
    <p:sldId id="713" r:id="rId4"/>
    <p:sldId id="626" r:id="rId5"/>
    <p:sldId id="719" r:id="rId6"/>
    <p:sldId id="714" r:id="rId7"/>
    <p:sldId id="720" r:id="rId8"/>
    <p:sldId id="721" r:id="rId9"/>
    <p:sldId id="718" r:id="rId10"/>
    <p:sldId id="738" r:id="rId11"/>
    <p:sldId id="712" r:id="rId12"/>
    <p:sldId id="739" r:id="rId13"/>
    <p:sldId id="643" r:id="rId14"/>
    <p:sldId id="724" r:id="rId15"/>
    <p:sldId id="722" r:id="rId16"/>
    <p:sldId id="723" r:id="rId17"/>
    <p:sldId id="725" r:id="rId18"/>
    <p:sldId id="726" r:id="rId19"/>
    <p:sldId id="727" r:id="rId20"/>
    <p:sldId id="728" r:id="rId21"/>
    <p:sldId id="729" r:id="rId22"/>
    <p:sldId id="730" r:id="rId23"/>
    <p:sldId id="732" r:id="rId24"/>
    <p:sldId id="733" r:id="rId25"/>
    <p:sldId id="734" r:id="rId26"/>
    <p:sldId id="735" r:id="rId27"/>
    <p:sldId id="736" r:id="rId28"/>
    <p:sldId id="737" r:id="rId29"/>
    <p:sldId id="740" r:id="rId30"/>
    <p:sldId id="741" r:id="rId31"/>
    <p:sldId id="743" r:id="rId32"/>
    <p:sldId id="744" r:id="rId33"/>
    <p:sldId id="742" r:id="rId34"/>
    <p:sldId id="745" r:id="rId35"/>
    <p:sldId id="746" r:id="rId36"/>
    <p:sldId id="747" r:id="rId37"/>
    <p:sldId id="748" r:id="rId38"/>
    <p:sldId id="749" r:id="rId39"/>
    <p:sldId id="751" r:id="rId40"/>
    <p:sldId id="753" r:id="rId41"/>
    <p:sldId id="752" r:id="rId42"/>
    <p:sldId id="750" r:id="rId43"/>
    <p:sldId id="755" r:id="rId44"/>
    <p:sldId id="757" r:id="rId45"/>
    <p:sldId id="756" r:id="rId46"/>
    <p:sldId id="758" r:id="rId47"/>
    <p:sldId id="759" r:id="rId48"/>
    <p:sldId id="760" r:id="rId49"/>
    <p:sldId id="761" r:id="rId50"/>
    <p:sldId id="762" r:id="rId51"/>
  </p:sldIdLst>
  <p:sldSz cx="9144000" cy="6858000" type="screen4x3"/>
  <p:notesSz cx="6797675" cy="987425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05" userDrawn="1">
          <p15:clr>
            <a:srgbClr val="A4A3A4"/>
          </p15:clr>
        </p15:guide>
        <p15:guide id="2" pos="2925"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김 준태" initials="김준" lastIdx="1" clrIdx="0">
    <p:extLst>
      <p:ext uri="{19B8F6BF-5375-455C-9EA6-DF929625EA0E}">
        <p15:presenceInfo xmlns:p15="http://schemas.microsoft.com/office/powerpoint/2012/main" userId="e588e086b754a516" providerId="Windows Live"/>
      </p:ext>
    </p:extLst>
  </p:cmAuthor>
  <p:cmAuthor id="2" name="Kim Junetae" initials="KJ" lastIdx="2" clrIdx="1">
    <p:extLst>
      <p:ext uri="{19B8F6BF-5375-455C-9EA6-DF929625EA0E}">
        <p15:presenceInfo xmlns:p15="http://schemas.microsoft.com/office/powerpoint/2012/main" userId="fa6929ba4052f729"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C3300"/>
    <a:srgbClr val="D3C2B1"/>
    <a:srgbClr val="FF7C80"/>
    <a:srgbClr val="FF9966"/>
    <a:srgbClr val="CAABA2"/>
    <a:srgbClr val="FFFFCC"/>
    <a:srgbClr val="FFFF66"/>
    <a:srgbClr val="CCFF99"/>
    <a:srgbClr val="CCECFF"/>
    <a:srgbClr val="99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940" autoAdjust="0"/>
    <p:restoredTop sz="92740" autoAdjust="0"/>
  </p:normalViewPr>
  <p:slideViewPr>
    <p:cSldViewPr snapToGrid="0" showGuides="1">
      <p:cViewPr varScale="1">
        <p:scale>
          <a:sx n="105" d="100"/>
          <a:sy n="105" d="100"/>
        </p:scale>
        <p:origin x="2124" y="108"/>
      </p:cViewPr>
      <p:guideLst>
        <p:guide orient="horz" pos="2205"/>
        <p:guide pos="2925"/>
      </p:guideLst>
    </p:cSldViewPr>
  </p:slideViewPr>
  <p:notesTextViewPr>
    <p:cViewPr>
      <p:scale>
        <a:sx n="200" d="100"/>
        <a:sy n="2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1"/>
            <a:ext cx="2945659" cy="495427"/>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sz="quarter" idx="1"/>
          </p:nvPr>
        </p:nvSpPr>
        <p:spPr>
          <a:xfrm>
            <a:off x="3850443" y="1"/>
            <a:ext cx="2945659" cy="495427"/>
          </a:xfrm>
          <a:prstGeom prst="rect">
            <a:avLst/>
          </a:prstGeom>
        </p:spPr>
        <p:txBody>
          <a:bodyPr vert="horz" lIns="91440" tIns="45720" rIns="91440" bIns="45720" rtlCol="0"/>
          <a:lstStyle>
            <a:lvl1pPr algn="r">
              <a:defRPr sz="1200"/>
            </a:lvl1pPr>
          </a:lstStyle>
          <a:p>
            <a:fld id="{D9D2A4DD-E6C5-4446-8814-DDCEAB64F4E0}" type="datetimeFigureOut">
              <a:rPr lang="ko-KR" altLang="en-US" smtClean="0"/>
              <a:t>2026-05-27</a:t>
            </a:fld>
            <a:endParaRPr lang="ko-KR" altLang="en-US"/>
          </a:p>
        </p:txBody>
      </p:sp>
      <p:sp>
        <p:nvSpPr>
          <p:cNvPr id="4" name="바닥글 개체 틀 3"/>
          <p:cNvSpPr>
            <a:spLocks noGrp="1"/>
          </p:cNvSpPr>
          <p:nvPr>
            <p:ph type="ftr" sz="quarter" idx="2"/>
          </p:nvPr>
        </p:nvSpPr>
        <p:spPr>
          <a:xfrm>
            <a:off x="0" y="9378824"/>
            <a:ext cx="2945659" cy="495426"/>
          </a:xfrm>
          <a:prstGeom prst="rect">
            <a:avLst/>
          </a:prstGeom>
        </p:spPr>
        <p:txBody>
          <a:bodyPr vert="horz" lIns="91440" tIns="45720" rIns="91440" bIns="45720" rtlCol="0" anchor="b"/>
          <a:lstStyle>
            <a:lvl1pPr algn="l">
              <a:defRPr sz="1200"/>
            </a:lvl1pPr>
          </a:lstStyle>
          <a:p>
            <a:endParaRPr lang="ko-KR" altLang="en-US"/>
          </a:p>
        </p:txBody>
      </p:sp>
      <p:sp>
        <p:nvSpPr>
          <p:cNvPr id="5" name="슬라이드 번호 개체 틀 4"/>
          <p:cNvSpPr>
            <a:spLocks noGrp="1"/>
          </p:cNvSpPr>
          <p:nvPr>
            <p:ph type="sldNum" sz="quarter" idx="3"/>
          </p:nvPr>
        </p:nvSpPr>
        <p:spPr>
          <a:xfrm>
            <a:off x="3850443" y="9378824"/>
            <a:ext cx="2945659" cy="495426"/>
          </a:xfrm>
          <a:prstGeom prst="rect">
            <a:avLst/>
          </a:prstGeom>
        </p:spPr>
        <p:txBody>
          <a:bodyPr vert="horz" lIns="91440" tIns="45720" rIns="91440" bIns="45720" rtlCol="0" anchor="b"/>
          <a:lstStyle>
            <a:lvl1pPr algn="r">
              <a:defRPr sz="1200"/>
            </a:lvl1pPr>
          </a:lstStyle>
          <a:p>
            <a:fld id="{C3AE5394-4E77-4E42-BEDA-D88072962C61}" type="slidenum">
              <a:rPr lang="ko-KR" altLang="en-US" smtClean="0"/>
              <a:t>‹#›</a:t>
            </a:fld>
            <a:endParaRPr lang="ko-KR" altLang="en-US"/>
          </a:p>
        </p:txBody>
      </p:sp>
    </p:spTree>
    <p:extLst>
      <p:ext uri="{BB962C8B-B14F-4D97-AF65-F5344CB8AC3E}">
        <p14:creationId xmlns:p14="http://schemas.microsoft.com/office/powerpoint/2010/main" val="186587540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1"/>
            <a:ext cx="2945659" cy="495427"/>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50443" y="1"/>
            <a:ext cx="2945659" cy="495427"/>
          </a:xfrm>
          <a:prstGeom prst="rect">
            <a:avLst/>
          </a:prstGeom>
        </p:spPr>
        <p:txBody>
          <a:bodyPr vert="horz" lIns="91440" tIns="45720" rIns="91440" bIns="45720" rtlCol="0"/>
          <a:lstStyle>
            <a:lvl1pPr algn="r">
              <a:defRPr sz="1200"/>
            </a:lvl1pPr>
          </a:lstStyle>
          <a:p>
            <a:fld id="{BF4D36B7-6BC9-4358-A9C9-63F4AFA82B46}" type="datetimeFigureOut">
              <a:rPr lang="ko-KR" altLang="en-US" smtClean="0"/>
              <a:t>2026-05-27</a:t>
            </a:fld>
            <a:endParaRPr lang="ko-KR" altLang="en-US"/>
          </a:p>
        </p:txBody>
      </p:sp>
      <p:sp>
        <p:nvSpPr>
          <p:cNvPr id="4" name="슬라이드 이미지 개체 틀 3"/>
          <p:cNvSpPr>
            <a:spLocks noGrp="1" noRot="1" noChangeAspect="1"/>
          </p:cNvSpPr>
          <p:nvPr>
            <p:ph type="sldImg" idx="2"/>
          </p:nvPr>
        </p:nvSpPr>
        <p:spPr>
          <a:xfrm>
            <a:off x="1176338" y="1233488"/>
            <a:ext cx="4445000" cy="333375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79768" y="4751982"/>
            <a:ext cx="5438140" cy="3887987"/>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9378824"/>
            <a:ext cx="2945659" cy="495426"/>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50443" y="9378824"/>
            <a:ext cx="2945659" cy="495426"/>
          </a:xfrm>
          <a:prstGeom prst="rect">
            <a:avLst/>
          </a:prstGeom>
        </p:spPr>
        <p:txBody>
          <a:bodyPr vert="horz" lIns="91440" tIns="45720" rIns="91440" bIns="45720" rtlCol="0" anchor="b"/>
          <a:lstStyle>
            <a:lvl1pPr algn="r">
              <a:defRPr sz="1200"/>
            </a:lvl1pPr>
          </a:lstStyle>
          <a:p>
            <a:fld id="{AE7DD7B4-6F0D-4FE3-8660-A7DE31D2AD67}" type="slidenum">
              <a:rPr lang="ko-KR" altLang="en-US" smtClean="0"/>
              <a:t>‹#›</a:t>
            </a:fld>
            <a:endParaRPr lang="ko-KR" altLang="en-US"/>
          </a:p>
        </p:txBody>
      </p:sp>
    </p:spTree>
    <p:extLst>
      <p:ext uri="{BB962C8B-B14F-4D97-AF65-F5344CB8AC3E}">
        <p14:creationId xmlns:p14="http://schemas.microsoft.com/office/powerpoint/2010/main" val="232996074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a:t>
            </a:fld>
            <a:endParaRPr lang="ko-KR" altLang="en-US"/>
          </a:p>
        </p:txBody>
      </p:sp>
    </p:spTree>
    <p:extLst>
      <p:ext uri="{BB962C8B-B14F-4D97-AF65-F5344CB8AC3E}">
        <p14:creationId xmlns:p14="http://schemas.microsoft.com/office/powerpoint/2010/main" val="929712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a:t>
            </a:fld>
            <a:endParaRPr lang="ko-KR" altLang="en-US"/>
          </a:p>
        </p:txBody>
      </p:sp>
    </p:spTree>
    <p:extLst>
      <p:ext uri="{BB962C8B-B14F-4D97-AF65-F5344CB8AC3E}">
        <p14:creationId xmlns:p14="http://schemas.microsoft.com/office/powerpoint/2010/main" val="30792605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a:t>
            </a:fld>
            <a:endParaRPr lang="ko-KR" altLang="en-US"/>
          </a:p>
        </p:txBody>
      </p:sp>
    </p:spTree>
    <p:extLst>
      <p:ext uri="{BB962C8B-B14F-4D97-AF65-F5344CB8AC3E}">
        <p14:creationId xmlns:p14="http://schemas.microsoft.com/office/powerpoint/2010/main" val="14335398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5</a:t>
            </a:fld>
            <a:endParaRPr lang="ko-KR" altLang="en-US"/>
          </a:p>
        </p:txBody>
      </p:sp>
    </p:spTree>
    <p:extLst>
      <p:ext uri="{BB962C8B-B14F-4D97-AF65-F5344CB8AC3E}">
        <p14:creationId xmlns:p14="http://schemas.microsoft.com/office/powerpoint/2010/main" val="3449462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6</a:t>
            </a:fld>
            <a:endParaRPr lang="ko-KR" altLang="en-US"/>
          </a:p>
        </p:txBody>
      </p:sp>
    </p:spTree>
    <p:extLst>
      <p:ext uri="{BB962C8B-B14F-4D97-AF65-F5344CB8AC3E}">
        <p14:creationId xmlns:p14="http://schemas.microsoft.com/office/powerpoint/2010/main" val="42428374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7</a:t>
            </a:fld>
            <a:endParaRPr lang="ko-KR" altLang="en-US"/>
          </a:p>
        </p:txBody>
      </p:sp>
    </p:spTree>
    <p:extLst>
      <p:ext uri="{BB962C8B-B14F-4D97-AF65-F5344CB8AC3E}">
        <p14:creationId xmlns:p14="http://schemas.microsoft.com/office/powerpoint/2010/main" val="28404370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8</a:t>
            </a:fld>
            <a:endParaRPr lang="ko-KR" altLang="en-US"/>
          </a:p>
        </p:txBody>
      </p:sp>
    </p:spTree>
    <p:extLst>
      <p:ext uri="{BB962C8B-B14F-4D97-AF65-F5344CB8AC3E}">
        <p14:creationId xmlns:p14="http://schemas.microsoft.com/office/powerpoint/2010/main" val="3641350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9</a:t>
            </a:fld>
            <a:endParaRPr lang="ko-KR" altLang="en-US"/>
          </a:p>
        </p:txBody>
      </p:sp>
    </p:spTree>
    <p:extLst>
      <p:ext uri="{BB962C8B-B14F-4D97-AF65-F5344CB8AC3E}">
        <p14:creationId xmlns:p14="http://schemas.microsoft.com/office/powerpoint/2010/main" val="37691366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10</a:t>
            </a:fld>
            <a:endParaRPr lang="ko-KR" altLang="en-US"/>
          </a:p>
        </p:txBody>
      </p:sp>
    </p:spTree>
    <p:extLst>
      <p:ext uri="{BB962C8B-B14F-4D97-AF65-F5344CB8AC3E}">
        <p14:creationId xmlns:p14="http://schemas.microsoft.com/office/powerpoint/2010/main" val="17347062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11</a:t>
            </a:fld>
            <a:endParaRPr lang="ko-KR" altLang="en-US"/>
          </a:p>
        </p:txBody>
      </p:sp>
    </p:spTree>
    <p:extLst>
      <p:ext uri="{BB962C8B-B14F-4D97-AF65-F5344CB8AC3E}">
        <p14:creationId xmlns:p14="http://schemas.microsoft.com/office/powerpoint/2010/main" val="1347478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12</a:t>
            </a:fld>
            <a:endParaRPr lang="ko-KR" altLang="en-US"/>
          </a:p>
        </p:txBody>
      </p:sp>
    </p:spTree>
    <p:extLst>
      <p:ext uri="{BB962C8B-B14F-4D97-AF65-F5344CB8AC3E}">
        <p14:creationId xmlns:p14="http://schemas.microsoft.com/office/powerpoint/2010/main" val="3728007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13</a:t>
            </a:fld>
            <a:endParaRPr lang="ko-KR" altLang="en-US"/>
          </a:p>
        </p:txBody>
      </p:sp>
    </p:spTree>
    <p:extLst>
      <p:ext uri="{BB962C8B-B14F-4D97-AF65-F5344CB8AC3E}">
        <p14:creationId xmlns:p14="http://schemas.microsoft.com/office/powerpoint/2010/main" val="17737111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14</a:t>
            </a:fld>
            <a:endParaRPr lang="ko-KR" altLang="en-US"/>
          </a:p>
        </p:txBody>
      </p:sp>
    </p:spTree>
    <p:extLst>
      <p:ext uri="{BB962C8B-B14F-4D97-AF65-F5344CB8AC3E}">
        <p14:creationId xmlns:p14="http://schemas.microsoft.com/office/powerpoint/2010/main" val="20995997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15</a:t>
            </a:fld>
            <a:endParaRPr lang="ko-KR" altLang="en-US"/>
          </a:p>
        </p:txBody>
      </p:sp>
    </p:spTree>
    <p:extLst>
      <p:ext uri="{BB962C8B-B14F-4D97-AF65-F5344CB8AC3E}">
        <p14:creationId xmlns:p14="http://schemas.microsoft.com/office/powerpoint/2010/main" val="20347861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16</a:t>
            </a:fld>
            <a:endParaRPr lang="ko-KR" altLang="en-US"/>
          </a:p>
        </p:txBody>
      </p:sp>
    </p:spTree>
    <p:extLst>
      <p:ext uri="{BB962C8B-B14F-4D97-AF65-F5344CB8AC3E}">
        <p14:creationId xmlns:p14="http://schemas.microsoft.com/office/powerpoint/2010/main" val="40425592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17</a:t>
            </a:fld>
            <a:endParaRPr lang="ko-KR" altLang="en-US"/>
          </a:p>
        </p:txBody>
      </p:sp>
    </p:spTree>
    <p:extLst>
      <p:ext uri="{BB962C8B-B14F-4D97-AF65-F5344CB8AC3E}">
        <p14:creationId xmlns:p14="http://schemas.microsoft.com/office/powerpoint/2010/main" val="155975024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18</a:t>
            </a:fld>
            <a:endParaRPr lang="ko-KR" altLang="en-US"/>
          </a:p>
        </p:txBody>
      </p:sp>
    </p:spTree>
    <p:extLst>
      <p:ext uri="{BB962C8B-B14F-4D97-AF65-F5344CB8AC3E}">
        <p14:creationId xmlns:p14="http://schemas.microsoft.com/office/powerpoint/2010/main" val="31626354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19</a:t>
            </a:fld>
            <a:endParaRPr lang="ko-KR" altLang="en-US"/>
          </a:p>
        </p:txBody>
      </p:sp>
    </p:spTree>
    <p:extLst>
      <p:ext uri="{BB962C8B-B14F-4D97-AF65-F5344CB8AC3E}">
        <p14:creationId xmlns:p14="http://schemas.microsoft.com/office/powerpoint/2010/main" val="32561076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20</a:t>
            </a:fld>
            <a:endParaRPr lang="ko-KR" altLang="en-US"/>
          </a:p>
        </p:txBody>
      </p:sp>
    </p:spTree>
    <p:extLst>
      <p:ext uri="{BB962C8B-B14F-4D97-AF65-F5344CB8AC3E}">
        <p14:creationId xmlns:p14="http://schemas.microsoft.com/office/powerpoint/2010/main" val="3112405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21</a:t>
            </a:fld>
            <a:endParaRPr lang="ko-KR" altLang="en-US"/>
          </a:p>
        </p:txBody>
      </p:sp>
    </p:spTree>
    <p:extLst>
      <p:ext uri="{BB962C8B-B14F-4D97-AF65-F5344CB8AC3E}">
        <p14:creationId xmlns:p14="http://schemas.microsoft.com/office/powerpoint/2010/main" val="30729621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22</a:t>
            </a:fld>
            <a:endParaRPr lang="ko-KR" altLang="en-US"/>
          </a:p>
        </p:txBody>
      </p:sp>
    </p:spTree>
    <p:extLst>
      <p:ext uri="{BB962C8B-B14F-4D97-AF65-F5344CB8AC3E}">
        <p14:creationId xmlns:p14="http://schemas.microsoft.com/office/powerpoint/2010/main" val="9757767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23</a:t>
            </a:fld>
            <a:endParaRPr lang="ko-KR" altLang="en-US"/>
          </a:p>
        </p:txBody>
      </p:sp>
    </p:spTree>
    <p:extLst>
      <p:ext uri="{BB962C8B-B14F-4D97-AF65-F5344CB8AC3E}">
        <p14:creationId xmlns:p14="http://schemas.microsoft.com/office/powerpoint/2010/main" val="21224893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24</a:t>
            </a:fld>
            <a:endParaRPr lang="ko-KR" altLang="en-US"/>
          </a:p>
        </p:txBody>
      </p:sp>
    </p:spTree>
    <p:extLst>
      <p:ext uri="{BB962C8B-B14F-4D97-AF65-F5344CB8AC3E}">
        <p14:creationId xmlns:p14="http://schemas.microsoft.com/office/powerpoint/2010/main" val="265651728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25</a:t>
            </a:fld>
            <a:endParaRPr lang="ko-KR" altLang="en-US"/>
          </a:p>
        </p:txBody>
      </p:sp>
    </p:spTree>
    <p:extLst>
      <p:ext uri="{BB962C8B-B14F-4D97-AF65-F5344CB8AC3E}">
        <p14:creationId xmlns:p14="http://schemas.microsoft.com/office/powerpoint/2010/main" val="384534125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26</a:t>
            </a:fld>
            <a:endParaRPr lang="ko-KR" altLang="en-US"/>
          </a:p>
        </p:txBody>
      </p:sp>
    </p:spTree>
    <p:extLst>
      <p:ext uri="{BB962C8B-B14F-4D97-AF65-F5344CB8AC3E}">
        <p14:creationId xmlns:p14="http://schemas.microsoft.com/office/powerpoint/2010/main" val="25423271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27</a:t>
            </a:fld>
            <a:endParaRPr lang="ko-KR" altLang="en-US"/>
          </a:p>
        </p:txBody>
      </p:sp>
    </p:spTree>
    <p:extLst>
      <p:ext uri="{BB962C8B-B14F-4D97-AF65-F5344CB8AC3E}">
        <p14:creationId xmlns:p14="http://schemas.microsoft.com/office/powerpoint/2010/main" val="161132109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28</a:t>
            </a:fld>
            <a:endParaRPr lang="ko-KR" altLang="en-US"/>
          </a:p>
        </p:txBody>
      </p:sp>
    </p:spTree>
    <p:extLst>
      <p:ext uri="{BB962C8B-B14F-4D97-AF65-F5344CB8AC3E}">
        <p14:creationId xmlns:p14="http://schemas.microsoft.com/office/powerpoint/2010/main" val="298086120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29</a:t>
            </a:fld>
            <a:endParaRPr lang="ko-KR" altLang="en-US"/>
          </a:p>
        </p:txBody>
      </p:sp>
    </p:spTree>
    <p:extLst>
      <p:ext uri="{BB962C8B-B14F-4D97-AF65-F5344CB8AC3E}">
        <p14:creationId xmlns:p14="http://schemas.microsoft.com/office/powerpoint/2010/main" val="84286599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30</a:t>
            </a:fld>
            <a:endParaRPr lang="ko-KR" altLang="en-US"/>
          </a:p>
        </p:txBody>
      </p:sp>
    </p:spTree>
    <p:extLst>
      <p:ext uri="{BB962C8B-B14F-4D97-AF65-F5344CB8AC3E}">
        <p14:creationId xmlns:p14="http://schemas.microsoft.com/office/powerpoint/2010/main" val="31142984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31</a:t>
            </a:fld>
            <a:endParaRPr lang="ko-KR" altLang="en-US"/>
          </a:p>
        </p:txBody>
      </p:sp>
    </p:spTree>
    <p:extLst>
      <p:ext uri="{BB962C8B-B14F-4D97-AF65-F5344CB8AC3E}">
        <p14:creationId xmlns:p14="http://schemas.microsoft.com/office/powerpoint/2010/main" val="422155301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32</a:t>
            </a:fld>
            <a:endParaRPr lang="ko-KR" altLang="en-US"/>
          </a:p>
        </p:txBody>
      </p:sp>
    </p:spTree>
    <p:extLst>
      <p:ext uri="{BB962C8B-B14F-4D97-AF65-F5344CB8AC3E}">
        <p14:creationId xmlns:p14="http://schemas.microsoft.com/office/powerpoint/2010/main" val="8554632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33</a:t>
            </a:fld>
            <a:endParaRPr lang="ko-KR" altLang="en-US"/>
          </a:p>
        </p:txBody>
      </p:sp>
    </p:spTree>
    <p:extLst>
      <p:ext uri="{BB962C8B-B14F-4D97-AF65-F5344CB8AC3E}">
        <p14:creationId xmlns:p14="http://schemas.microsoft.com/office/powerpoint/2010/main" val="4549949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34</a:t>
            </a:fld>
            <a:endParaRPr lang="ko-KR" altLang="en-US"/>
          </a:p>
        </p:txBody>
      </p:sp>
    </p:spTree>
    <p:extLst>
      <p:ext uri="{BB962C8B-B14F-4D97-AF65-F5344CB8AC3E}">
        <p14:creationId xmlns:p14="http://schemas.microsoft.com/office/powerpoint/2010/main" val="166603732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35</a:t>
            </a:fld>
            <a:endParaRPr lang="ko-KR" altLang="en-US"/>
          </a:p>
        </p:txBody>
      </p:sp>
    </p:spTree>
    <p:extLst>
      <p:ext uri="{BB962C8B-B14F-4D97-AF65-F5344CB8AC3E}">
        <p14:creationId xmlns:p14="http://schemas.microsoft.com/office/powerpoint/2010/main" val="12852984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36</a:t>
            </a:fld>
            <a:endParaRPr lang="ko-KR" altLang="en-US"/>
          </a:p>
        </p:txBody>
      </p:sp>
    </p:spTree>
    <p:extLst>
      <p:ext uri="{BB962C8B-B14F-4D97-AF65-F5344CB8AC3E}">
        <p14:creationId xmlns:p14="http://schemas.microsoft.com/office/powerpoint/2010/main" val="306514074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37</a:t>
            </a:fld>
            <a:endParaRPr lang="ko-KR" altLang="en-US"/>
          </a:p>
        </p:txBody>
      </p:sp>
    </p:spTree>
    <p:extLst>
      <p:ext uri="{BB962C8B-B14F-4D97-AF65-F5344CB8AC3E}">
        <p14:creationId xmlns:p14="http://schemas.microsoft.com/office/powerpoint/2010/main" val="14863700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38</a:t>
            </a:fld>
            <a:endParaRPr lang="ko-KR" altLang="en-US"/>
          </a:p>
        </p:txBody>
      </p:sp>
    </p:spTree>
    <p:extLst>
      <p:ext uri="{BB962C8B-B14F-4D97-AF65-F5344CB8AC3E}">
        <p14:creationId xmlns:p14="http://schemas.microsoft.com/office/powerpoint/2010/main" val="131298907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39</a:t>
            </a:fld>
            <a:endParaRPr lang="ko-KR" altLang="en-US"/>
          </a:p>
        </p:txBody>
      </p:sp>
    </p:spTree>
    <p:extLst>
      <p:ext uri="{BB962C8B-B14F-4D97-AF65-F5344CB8AC3E}">
        <p14:creationId xmlns:p14="http://schemas.microsoft.com/office/powerpoint/2010/main" val="277775068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40</a:t>
            </a:fld>
            <a:endParaRPr lang="ko-KR" altLang="en-US"/>
          </a:p>
        </p:txBody>
      </p:sp>
    </p:spTree>
    <p:extLst>
      <p:ext uri="{BB962C8B-B14F-4D97-AF65-F5344CB8AC3E}">
        <p14:creationId xmlns:p14="http://schemas.microsoft.com/office/powerpoint/2010/main" val="6764241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41</a:t>
            </a:fld>
            <a:endParaRPr lang="ko-KR" altLang="en-US"/>
          </a:p>
        </p:txBody>
      </p:sp>
    </p:spTree>
    <p:extLst>
      <p:ext uri="{BB962C8B-B14F-4D97-AF65-F5344CB8AC3E}">
        <p14:creationId xmlns:p14="http://schemas.microsoft.com/office/powerpoint/2010/main" val="65137967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42</a:t>
            </a:fld>
            <a:endParaRPr lang="ko-KR" altLang="en-US"/>
          </a:p>
        </p:txBody>
      </p:sp>
    </p:spTree>
    <p:extLst>
      <p:ext uri="{BB962C8B-B14F-4D97-AF65-F5344CB8AC3E}">
        <p14:creationId xmlns:p14="http://schemas.microsoft.com/office/powerpoint/2010/main" val="350534712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43</a:t>
            </a:fld>
            <a:endParaRPr lang="ko-KR" altLang="en-US"/>
          </a:p>
        </p:txBody>
      </p:sp>
    </p:spTree>
    <p:extLst>
      <p:ext uri="{BB962C8B-B14F-4D97-AF65-F5344CB8AC3E}">
        <p14:creationId xmlns:p14="http://schemas.microsoft.com/office/powerpoint/2010/main" val="200309017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44</a:t>
            </a:fld>
            <a:endParaRPr lang="ko-KR" altLang="en-US"/>
          </a:p>
        </p:txBody>
      </p:sp>
    </p:spTree>
    <p:extLst>
      <p:ext uri="{BB962C8B-B14F-4D97-AF65-F5344CB8AC3E}">
        <p14:creationId xmlns:p14="http://schemas.microsoft.com/office/powerpoint/2010/main" val="208280788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45</a:t>
            </a:fld>
            <a:endParaRPr lang="ko-KR" altLang="en-US"/>
          </a:p>
        </p:txBody>
      </p:sp>
    </p:spTree>
    <p:extLst>
      <p:ext uri="{BB962C8B-B14F-4D97-AF65-F5344CB8AC3E}">
        <p14:creationId xmlns:p14="http://schemas.microsoft.com/office/powerpoint/2010/main" val="102436606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46</a:t>
            </a:fld>
            <a:endParaRPr lang="ko-KR" altLang="en-US"/>
          </a:p>
        </p:txBody>
      </p:sp>
    </p:spTree>
    <p:extLst>
      <p:ext uri="{BB962C8B-B14F-4D97-AF65-F5344CB8AC3E}">
        <p14:creationId xmlns:p14="http://schemas.microsoft.com/office/powerpoint/2010/main" val="346003929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47</a:t>
            </a:fld>
            <a:endParaRPr lang="ko-KR" altLang="en-US"/>
          </a:p>
        </p:txBody>
      </p:sp>
    </p:spTree>
    <p:extLst>
      <p:ext uri="{BB962C8B-B14F-4D97-AF65-F5344CB8AC3E}">
        <p14:creationId xmlns:p14="http://schemas.microsoft.com/office/powerpoint/2010/main" val="276430503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48</a:t>
            </a:fld>
            <a:endParaRPr lang="ko-KR" altLang="en-US"/>
          </a:p>
        </p:txBody>
      </p:sp>
    </p:spTree>
    <p:extLst>
      <p:ext uri="{BB962C8B-B14F-4D97-AF65-F5344CB8AC3E}">
        <p14:creationId xmlns:p14="http://schemas.microsoft.com/office/powerpoint/2010/main" val="210519015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49</a:t>
            </a:fld>
            <a:endParaRPr lang="ko-KR" altLang="en-US"/>
          </a:p>
        </p:txBody>
      </p:sp>
    </p:spTree>
    <p:extLst>
      <p:ext uri="{BB962C8B-B14F-4D97-AF65-F5344CB8AC3E}">
        <p14:creationId xmlns:p14="http://schemas.microsoft.com/office/powerpoint/2010/main" val="1440104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E7DD7B4-6F0D-4FE3-8660-A7DE31D2AD67}" type="slidenum">
              <a:rPr lang="ko-KR" altLang="en-US" smtClean="0"/>
              <a:t>50</a:t>
            </a:fld>
            <a:endParaRPr lang="ko-KR" altLang="en-US"/>
          </a:p>
        </p:txBody>
      </p:sp>
    </p:spTree>
    <p:extLst>
      <p:ext uri="{BB962C8B-B14F-4D97-AF65-F5344CB8AC3E}">
        <p14:creationId xmlns:p14="http://schemas.microsoft.com/office/powerpoint/2010/main" val="10280613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ko-KR" altLang="en-US"/>
              <a:t>마스터 제목 스타일 편집</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16620632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Date Placeholder 3"/>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24046774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ko-KR" altLang="en-US"/>
              <a:t>마스터 제목 스타일 편집</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Date Placeholder 3"/>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16681503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5" name="Date Placeholder 4"/>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5150697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Content Placeholder 3"/>
          <p:cNvSpPr>
            <a:spLocks noGrp="1"/>
          </p:cNvSpPr>
          <p:nvPr>
            <p:ph sz="half" idx="2"/>
          </p:nvPr>
        </p:nvSpPr>
        <p:spPr>
          <a:xfrm>
            <a:off x="629842" y="2505075"/>
            <a:ext cx="3868340"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Content Placeholder 5"/>
          <p:cNvSpPr>
            <a:spLocks noGrp="1"/>
          </p:cNvSpPr>
          <p:nvPr>
            <p:ph sz="quarter" idx="4"/>
          </p:nvPr>
        </p:nvSpPr>
        <p:spPr>
          <a:xfrm>
            <a:off x="4629150" y="2505075"/>
            <a:ext cx="3887391"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7" name="Date Placeholder 6"/>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41789845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22500489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36884279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ko-KR" altLang="en-US"/>
              <a:t>마스터 제목 스타일 편집</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Date Placeholder 4"/>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3345564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Date Placeholder 4"/>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3424683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Date Placeholder 3"/>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3169215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Date Placeholder 3"/>
          <p:cNvSpPr>
            <a:spLocks noGrp="1"/>
          </p:cNvSpPr>
          <p:nvPr>
            <p:ph type="dt" sz="half" idx="10"/>
          </p:nvPr>
        </p:nvSpPr>
        <p:spPr/>
        <p:txBody>
          <a:bodyPr/>
          <a:lstStyle/>
          <a:p>
            <a:fld id="{178ADFAC-D890-497A-A497-2A400DD02E74}" type="datetimeFigureOut">
              <a:rPr lang="ko-KR" altLang="en-US" smtClean="0"/>
              <a:t>2026-05-27</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21405811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78ADFAC-D890-497A-A497-2A400DD02E74}" type="datetimeFigureOut">
              <a:rPr lang="ko-KR" altLang="en-US" smtClean="0"/>
              <a:t>2026-05-27</a:t>
            </a:fld>
            <a:endParaRPr lang="ko-KR" alt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548ECE-90A5-4F83-92E9-2BED0B46624D}" type="slidenum">
              <a:rPr lang="ko-KR" altLang="en-US" smtClean="0"/>
              <a:t>‹#›</a:t>
            </a:fld>
            <a:endParaRPr lang="ko-KR" altLang="en-US"/>
          </a:p>
        </p:txBody>
      </p:sp>
    </p:spTree>
    <p:extLst>
      <p:ext uri="{BB962C8B-B14F-4D97-AF65-F5344CB8AC3E}">
        <p14:creationId xmlns:p14="http://schemas.microsoft.com/office/powerpoint/2010/main" val="1952824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13/SlidingWindow.ipynb"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10/IrisOneHot.ipynb"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30.png"/></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9.jpeg"/></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9.jpeg"/></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0.jpeg"/></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2.gi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13/LSTM.ipynb"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13/HouseholdEnergyUse.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13/OccupancyEstimation.ipynb"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13/AlphabetSeq.ipynb"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colab.research.google.com/github/JunetaeKim/DeepLearningClass/blob/main/Week13/10LetterWords.ipynb"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직사각형 5"/>
          <p:cNvSpPr/>
          <p:nvPr/>
        </p:nvSpPr>
        <p:spPr>
          <a:xfrm>
            <a:off x="299838" y="1441108"/>
            <a:ext cx="8723137" cy="818494"/>
          </a:xfrm>
          <a:prstGeom prst="rect">
            <a:avLst/>
          </a:prstGeom>
        </p:spPr>
        <p:txBody>
          <a:bodyPr wrap="square">
            <a:spAutoFit/>
          </a:bodyPr>
          <a:lstStyle/>
          <a:p>
            <a:pPr algn="ctr">
              <a:lnSpc>
                <a:spcPct val="150000"/>
              </a:lnSpc>
            </a:pPr>
            <a:r>
              <a:rPr lang="en-US" altLang="ko-KR" sz="3600" dirty="0">
                <a:latin typeface="Arial Narrow" panose="020B0606020202030204" pitchFamily="34" charset="0"/>
                <a:cs typeface="Times New Roman" panose="02020603050405020304" pitchFamily="18" charset="0"/>
              </a:rPr>
              <a:t>Sequential and timeseries data</a:t>
            </a:r>
          </a:p>
        </p:txBody>
      </p:sp>
      <p:cxnSp>
        <p:nvCxnSpPr>
          <p:cNvPr id="13" name="직선 연결선 12"/>
          <p:cNvCxnSpPr/>
          <p:nvPr/>
        </p:nvCxnSpPr>
        <p:spPr>
          <a:xfrm>
            <a:off x="457200" y="3476625"/>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18" name="직선 연결선 17"/>
          <p:cNvCxnSpPr/>
          <p:nvPr/>
        </p:nvCxnSpPr>
        <p:spPr>
          <a:xfrm>
            <a:off x="3352800" y="3571875"/>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7" name="직사각형 6"/>
          <p:cNvSpPr/>
          <p:nvPr/>
        </p:nvSpPr>
        <p:spPr>
          <a:xfrm>
            <a:off x="1075166" y="3978237"/>
            <a:ext cx="6941127" cy="1314334"/>
          </a:xfrm>
          <a:prstGeom prst="rect">
            <a:avLst/>
          </a:prstGeom>
        </p:spPr>
        <p:txBody>
          <a:bodyPr wrap="square">
            <a:spAutoFit/>
          </a:bodyPr>
          <a:lstStyle/>
          <a:p>
            <a:pPr algn="ctr">
              <a:lnSpc>
                <a:spcPct val="150000"/>
              </a:lnSpc>
            </a:pPr>
            <a:r>
              <a:rPr lang="en-US" altLang="ko-KR" sz="3200" b="1" dirty="0">
                <a:latin typeface="Arial Narrow" panose="020B0606020202030204" pitchFamily="34" charset="0"/>
                <a:cs typeface="Times New Roman" panose="02020603050405020304" pitchFamily="18" charset="0"/>
              </a:rPr>
              <a:t>Ph.D. </a:t>
            </a:r>
            <a:r>
              <a:rPr lang="en-US" altLang="ko-KR" sz="3200" b="1" dirty="0" err="1">
                <a:latin typeface="Arial Narrow" panose="020B0606020202030204" pitchFamily="34" charset="0"/>
                <a:cs typeface="Times New Roman" panose="02020603050405020304" pitchFamily="18" charset="0"/>
              </a:rPr>
              <a:t>Junetae</a:t>
            </a:r>
            <a:r>
              <a:rPr lang="en-US" altLang="ko-KR" sz="3200" b="1" dirty="0">
                <a:latin typeface="Arial Narrow" panose="020B0606020202030204" pitchFamily="34" charset="0"/>
                <a:cs typeface="Times New Roman" panose="02020603050405020304" pitchFamily="18" charset="0"/>
              </a:rPr>
              <a:t>, Kim</a:t>
            </a:r>
          </a:p>
          <a:p>
            <a:pPr algn="ctr">
              <a:lnSpc>
                <a:spcPct val="150000"/>
              </a:lnSpc>
            </a:pPr>
            <a:r>
              <a:rPr lang="en-US" altLang="ko-KR" sz="2400" b="1" dirty="0">
                <a:latin typeface="Arial Narrow" panose="020B0606020202030204" pitchFamily="34" charset="0"/>
                <a:cs typeface="Times New Roman" panose="02020603050405020304" pitchFamily="18" charset="0"/>
              </a:rPr>
              <a:t>Associate professor </a:t>
            </a:r>
          </a:p>
        </p:txBody>
      </p:sp>
      <p:sp>
        <p:nvSpPr>
          <p:cNvPr id="9" name="TextBox 8">
            <a:extLst>
              <a:ext uri="{FF2B5EF4-FFF2-40B4-BE49-F238E27FC236}">
                <a16:creationId xmlns:a16="http://schemas.microsoft.com/office/drawing/2014/main" id="{CEFB9B8D-4441-4FDD-9D76-E9EA305C96FA}"/>
              </a:ext>
            </a:extLst>
          </p:cNvPr>
          <p:cNvSpPr txBox="1"/>
          <p:nvPr/>
        </p:nvSpPr>
        <p:spPr>
          <a:xfrm>
            <a:off x="4096512" y="2580947"/>
            <a:ext cx="1179576" cy="461665"/>
          </a:xfrm>
          <a:prstGeom prst="rect">
            <a:avLst/>
          </a:prstGeom>
          <a:noFill/>
        </p:spPr>
        <p:txBody>
          <a:bodyPr wrap="square">
            <a:spAutoFit/>
          </a:bodyPr>
          <a:lstStyle/>
          <a:p>
            <a:r>
              <a:rPr lang="en-US" altLang="ko-KR" sz="2400">
                <a:latin typeface="Arial Narrow" panose="020B0606020202030204" pitchFamily="34" charset="0"/>
                <a:cs typeface="Times New Roman" panose="02020603050405020304" pitchFamily="18" charset="0"/>
              </a:rPr>
              <a:t>Week 13</a:t>
            </a:r>
            <a:endParaRPr lang="en-US" altLang="ko-KR" sz="24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9109539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3" name="모서리가 둥근 직사각형 2"/>
          <p:cNvSpPr/>
          <p:nvPr/>
        </p:nvSpPr>
        <p:spPr>
          <a:xfrm>
            <a:off x="895546" y="1631577"/>
            <a:ext cx="7626285" cy="4099457"/>
          </a:xfrm>
          <a:prstGeom prst="roundRect">
            <a:avLst>
              <a:gd name="adj" fmla="val 6436"/>
            </a:avLst>
          </a:prstGeom>
          <a:noFill/>
          <a:ln>
            <a:solidFill>
              <a:schemeClr val="tx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045781" y="1518958"/>
            <a:ext cx="6879019" cy="1667316"/>
          </a:xfrm>
          <a:prstGeom prst="rect">
            <a:avLst/>
          </a:prstGeom>
        </p:spPr>
        <p:txBody>
          <a:bodyPr wrap="square">
            <a:spAutoFit/>
          </a:bodyPr>
          <a:lstStyle/>
          <a:p>
            <a:pPr marL="457200" indent="-457200">
              <a:lnSpc>
                <a:spcPct val="200000"/>
              </a:lnSpc>
              <a:buFont typeface="Arial" panose="020B0604020202020204" pitchFamily="34" charset="0"/>
              <a:buChar char="•"/>
            </a:pPr>
            <a:r>
              <a:rPr lang="en-US" altLang="ko-KR" dirty="0">
                <a:solidFill>
                  <a:srgbClr val="222222"/>
                </a:solidFill>
                <a:latin typeface="Arial Narrow" panose="020B0606020202030204" pitchFamily="34" charset="0"/>
              </a:rPr>
              <a:t>Introduction to time-series and</a:t>
            </a:r>
            <a:r>
              <a:rPr lang="ko-KR" altLang="en-US" dirty="0">
                <a:solidFill>
                  <a:srgbClr val="222222"/>
                </a:solidFill>
                <a:latin typeface="Arial Narrow" panose="020B0606020202030204" pitchFamily="34" charset="0"/>
              </a:rPr>
              <a:t> </a:t>
            </a:r>
            <a:r>
              <a:rPr lang="en-US" altLang="ko-KR" dirty="0">
                <a:solidFill>
                  <a:srgbClr val="222222"/>
                </a:solidFill>
                <a:latin typeface="Arial Narrow" panose="020B0606020202030204" pitchFamily="34" charset="0"/>
              </a:rPr>
              <a:t>sequential data</a:t>
            </a:r>
          </a:p>
          <a:p>
            <a:pPr marL="457200" indent="-457200">
              <a:lnSpc>
                <a:spcPct val="200000"/>
              </a:lnSpc>
              <a:buFont typeface="Arial" panose="020B0604020202020204" pitchFamily="34" charset="0"/>
              <a:buChar char="•"/>
            </a:pPr>
            <a:r>
              <a:rPr lang="en-US" altLang="ko-KR" dirty="0">
                <a:solidFill>
                  <a:srgbClr val="222222"/>
                </a:solidFill>
                <a:latin typeface="Arial Narrow" panose="020B0606020202030204" pitchFamily="34" charset="0"/>
              </a:rPr>
              <a:t>Introduction to recurrent neural networks (RNN) and  long short-term memory models (LSTM)</a:t>
            </a:r>
          </a:p>
        </p:txBody>
      </p:sp>
      <p:sp>
        <p:nvSpPr>
          <p:cNvPr id="8" name="직사각형 7">
            <a:extLst>
              <a:ext uri="{FF2B5EF4-FFF2-40B4-BE49-F238E27FC236}">
                <a16:creationId xmlns:a16="http://schemas.microsoft.com/office/drawing/2014/main" id="{71526429-7C47-4997-9969-04DFBBFA4E21}"/>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Contents</a:t>
            </a:r>
          </a:p>
        </p:txBody>
      </p:sp>
    </p:spTree>
    <p:extLst>
      <p:ext uri="{BB962C8B-B14F-4D97-AF65-F5344CB8AC3E}">
        <p14:creationId xmlns:p14="http://schemas.microsoft.com/office/powerpoint/2010/main" val="40975460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742077" cy="1840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timeseries data</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Timeseries data refers to a collection of observations obtained through repeated measurements over time. </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Examples: temperatures, stock prices, and annual retail sales.</a:t>
            </a:r>
            <a:endParaRPr lang="en-US" altLang="ko-KR" sz="1600"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pic>
        <p:nvPicPr>
          <p:cNvPr id="2050" name="Picture 2" descr="Time series analysis of daily temperature data in R - Cross Validated">
            <a:extLst>
              <a:ext uri="{FF2B5EF4-FFF2-40B4-BE49-F238E27FC236}">
                <a16:creationId xmlns:a16="http://schemas.microsoft.com/office/drawing/2014/main" id="{DF594071-C46D-AABD-2F79-621F4892D8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7225" y="3516789"/>
            <a:ext cx="3927475" cy="2202081"/>
          </a:xfrm>
          <a:prstGeom prst="rect">
            <a:avLst/>
          </a:prstGeom>
          <a:noFill/>
          <a:extLst>
            <a:ext uri="{909E8E84-426E-40DD-AFC4-6F175D3DCCD1}">
              <a14:hiddenFill xmlns:a14="http://schemas.microsoft.com/office/drawing/2010/main">
                <a:solidFill>
                  <a:srgbClr val="FFFFFF"/>
                </a:solidFill>
              </a14:hiddenFill>
            </a:ext>
          </a:extLst>
        </p:spPr>
      </p:pic>
      <p:pic>
        <p:nvPicPr>
          <p:cNvPr id="7" name="그림 6">
            <a:extLst>
              <a:ext uri="{FF2B5EF4-FFF2-40B4-BE49-F238E27FC236}">
                <a16:creationId xmlns:a16="http://schemas.microsoft.com/office/drawing/2014/main" id="{4220FA83-14F0-A793-833E-0635D944AFC2}"/>
              </a:ext>
            </a:extLst>
          </p:cNvPr>
          <p:cNvPicPr>
            <a:picLocks noChangeAspect="1"/>
          </p:cNvPicPr>
          <p:nvPr/>
        </p:nvPicPr>
        <p:blipFill>
          <a:blip r:embed="rId4"/>
          <a:stretch>
            <a:fillRect/>
          </a:stretch>
        </p:blipFill>
        <p:spPr>
          <a:xfrm>
            <a:off x="4933952" y="3516789"/>
            <a:ext cx="2944145" cy="2102961"/>
          </a:xfrm>
          <a:prstGeom prst="rect">
            <a:avLst/>
          </a:prstGeom>
        </p:spPr>
      </p:pic>
    </p:spTree>
    <p:extLst>
      <p:ext uri="{BB962C8B-B14F-4D97-AF65-F5344CB8AC3E}">
        <p14:creationId xmlns:p14="http://schemas.microsoft.com/office/powerpoint/2010/main" val="25872215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742077" cy="100944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dimensions of timeseries data</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T</a:t>
            </a:r>
            <a:r>
              <a:rPr lang="en-US" altLang="ko-KR" sz="1800" dirty="0">
                <a:solidFill>
                  <a:srgbClr val="222222"/>
                </a:solidFill>
                <a:latin typeface="Arial Narrow" panose="020B0606020202030204" pitchFamily="34" charset="0"/>
              </a:rPr>
              <a:t>ime series data may consist of multiple dimensions</a:t>
            </a:r>
            <a:r>
              <a:rPr lang="en-US" altLang="ko-KR" dirty="0">
                <a:solidFill>
                  <a:srgbClr val="222222"/>
                </a:solidFill>
                <a:latin typeface="Arial Narrow" panose="020B0606020202030204" pitchFamily="34" charset="0"/>
              </a:rPr>
              <a:t>, how? </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4927298D-F01B-868E-C1B1-6F22EB425DB4}"/>
              </a:ext>
            </a:extLst>
          </p:cNvPr>
          <p:cNvSpPr txBox="1"/>
          <p:nvPr/>
        </p:nvSpPr>
        <p:spPr>
          <a:xfrm>
            <a:off x="1517650" y="5197860"/>
            <a:ext cx="4572000" cy="1477328"/>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Dimensions: (# of obs. , # of variables)</a:t>
            </a:r>
          </a:p>
          <a:p>
            <a:endParaRPr lang="en-US" altLang="ko-KR" dirty="0">
              <a:solidFill>
                <a:srgbClr val="222222"/>
              </a:solidFill>
              <a:latin typeface="Arial Narrow" panose="020B0606020202030204" pitchFamily="34" charset="0"/>
            </a:endParaRPr>
          </a:p>
          <a:p>
            <a:pPr lvl="1"/>
            <a:r>
              <a:rPr lang="en-US" altLang="ko-KR" dirty="0">
                <a:solidFill>
                  <a:srgbClr val="222222"/>
                </a:solidFill>
                <a:latin typeface="Arial Narrow" panose="020B0606020202030204" pitchFamily="34" charset="0"/>
              </a:rPr>
              <a:t># of </a:t>
            </a:r>
            <a:r>
              <a:rPr lang="en-US" altLang="ko-KR" dirty="0" err="1">
                <a:solidFill>
                  <a:srgbClr val="222222"/>
                </a:solidFill>
                <a:latin typeface="Arial Narrow" panose="020B0606020202030204" pitchFamily="34" charset="0"/>
              </a:rPr>
              <a:t>obs</a:t>
            </a:r>
            <a:r>
              <a:rPr lang="en-US" altLang="ko-KR" dirty="0">
                <a:solidFill>
                  <a:srgbClr val="222222"/>
                </a:solidFill>
                <a:latin typeface="Arial Narrow" panose="020B0606020202030204" pitchFamily="34" charset="0"/>
              </a:rPr>
              <a:t> = 500</a:t>
            </a:r>
          </a:p>
          <a:p>
            <a:pPr lvl="1"/>
            <a:r>
              <a:rPr lang="en-US" altLang="ko-KR" dirty="0">
                <a:solidFill>
                  <a:srgbClr val="222222"/>
                </a:solidFill>
                <a:latin typeface="Arial Narrow" panose="020B0606020202030204" pitchFamily="34" charset="0"/>
              </a:rPr>
              <a:t># of variables = 2</a:t>
            </a:r>
            <a:endParaRPr lang="ko-KR" altLang="en-US" dirty="0"/>
          </a:p>
          <a:p>
            <a:endParaRPr lang="ko-KR" altLang="en-US" dirty="0"/>
          </a:p>
        </p:txBody>
      </p:sp>
      <p:pic>
        <p:nvPicPr>
          <p:cNvPr id="15" name="그림 14">
            <a:extLst>
              <a:ext uri="{FF2B5EF4-FFF2-40B4-BE49-F238E27FC236}">
                <a16:creationId xmlns:a16="http://schemas.microsoft.com/office/drawing/2014/main" id="{416360F5-9F01-11F8-21CF-854E9FA0C647}"/>
              </a:ext>
            </a:extLst>
          </p:cNvPr>
          <p:cNvPicPr>
            <a:picLocks noChangeAspect="1"/>
          </p:cNvPicPr>
          <p:nvPr/>
        </p:nvPicPr>
        <p:blipFill>
          <a:blip r:embed="rId3"/>
          <a:stretch>
            <a:fillRect/>
          </a:stretch>
        </p:blipFill>
        <p:spPr>
          <a:xfrm>
            <a:off x="508000" y="2499355"/>
            <a:ext cx="7981950" cy="2309872"/>
          </a:xfrm>
          <a:prstGeom prst="rect">
            <a:avLst/>
          </a:prstGeom>
        </p:spPr>
      </p:pic>
    </p:spTree>
    <p:extLst>
      <p:ext uri="{BB962C8B-B14F-4D97-AF65-F5344CB8AC3E}">
        <p14:creationId xmlns:p14="http://schemas.microsoft.com/office/powerpoint/2010/main" val="808935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0944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dimensions of timeseries data</a:t>
            </a:r>
          </a:p>
          <a:p>
            <a:pPr marL="741600" lvl="1" indent="-284400">
              <a:lnSpc>
                <a:spcPct val="150000"/>
              </a:lnSpc>
              <a:buFont typeface="Arial" panose="020B0604020202020204" pitchFamily="34" charset="0"/>
              <a:buChar char="•"/>
            </a:pPr>
            <a:r>
              <a:rPr lang="en-US" altLang="ko-KR" sz="1800" dirty="0">
                <a:solidFill>
                  <a:srgbClr val="222222"/>
                </a:solidFill>
                <a:latin typeface="Arial Narrow" panose="020B0606020202030204" pitchFamily="34" charset="0"/>
              </a:rPr>
              <a:t>Understanding dimensions of timeseries forecasting from an algorithmic perspective</a:t>
            </a:r>
            <a:endParaRPr lang="en-US" altLang="ko-KR"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pic>
        <p:nvPicPr>
          <p:cNvPr id="15" name="그림 14">
            <a:extLst>
              <a:ext uri="{FF2B5EF4-FFF2-40B4-BE49-F238E27FC236}">
                <a16:creationId xmlns:a16="http://schemas.microsoft.com/office/drawing/2014/main" id="{416360F5-9F01-11F8-21CF-854E9FA0C647}"/>
              </a:ext>
            </a:extLst>
          </p:cNvPr>
          <p:cNvPicPr>
            <a:picLocks noChangeAspect="1"/>
          </p:cNvPicPr>
          <p:nvPr/>
        </p:nvPicPr>
        <p:blipFill>
          <a:blip r:embed="rId3"/>
          <a:stretch>
            <a:fillRect/>
          </a:stretch>
        </p:blipFill>
        <p:spPr>
          <a:xfrm>
            <a:off x="508000" y="2499355"/>
            <a:ext cx="7981950" cy="2309872"/>
          </a:xfrm>
          <a:prstGeom prst="rect">
            <a:avLst/>
          </a:prstGeom>
        </p:spPr>
      </p:pic>
      <p:sp>
        <p:nvSpPr>
          <p:cNvPr id="19" name="사각형: 둥근 모서리 18">
            <a:extLst>
              <a:ext uri="{FF2B5EF4-FFF2-40B4-BE49-F238E27FC236}">
                <a16:creationId xmlns:a16="http://schemas.microsoft.com/office/drawing/2014/main" id="{DC65B0C8-8688-716D-FC4E-548205B87084}"/>
              </a:ext>
            </a:extLst>
          </p:cNvPr>
          <p:cNvSpPr/>
          <p:nvPr/>
        </p:nvSpPr>
        <p:spPr>
          <a:xfrm>
            <a:off x="1130300" y="2603500"/>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사각형: 둥근 모서리 19">
            <a:extLst>
              <a:ext uri="{FF2B5EF4-FFF2-40B4-BE49-F238E27FC236}">
                <a16:creationId xmlns:a16="http://schemas.microsoft.com/office/drawing/2014/main" id="{4C1BEAF0-5988-7FE5-54C8-5D53FC0473E6}"/>
              </a:ext>
            </a:extLst>
          </p:cNvPr>
          <p:cNvSpPr/>
          <p:nvPr/>
        </p:nvSpPr>
        <p:spPr>
          <a:xfrm>
            <a:off x="2813651" y="2603500"/>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TextBox 20">
            <a:extLst>
              <a:ext uri="{FF2B5EF4-FFF2-40B4-BE49-F238E27FC236}">
                <a16:creationId xmlns:a16="http://schemas.microsoft.com/office/drawing/2014/main" id="{FCCB5320-35E9-1124-F7B3-95078B4B3035}"/>
              </a:ext>
            </a:extLst>
          </p:cNvPr>
          <p:cNvSpPr txBox="1"/>
          <p:nvPr/>
        </p:nvSpPr>
        <p:spPr>
          <a:xfrm>
            <a:off x="1371000" y="2269521"/>
            <a:ext cx="1178526"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Input interval</a:t>
            </a:r>
            <a:endParaRPr lang="ko-KR" altLang="en-US" sz="1400" dirty="0"/>
          </a:p>
        </p:txBody>
      </p:sp>
      <p:sp>
        <p:nvSpPr>
          <p:cNvPr id="22" name="TextBox 21">
            <a:extLst>
              <a:ext uri="{FF2B5EF4-FFF2-40B4-BE49-F238E27FC236}">
                <a16:creationId xmlns:a16="http://schemas.microsoft.com/office/drawing/2014/main" id="{C1AF88DA-0671-FD86-CA50-8CA6D85900CE}"/>
              </a:ext>
            </a:extLst>
          </p:cNvPr>
          <p:cNvSpPr txBox="1"/>
          <p:nvPr/>
        </p:nvSpPr>
        <p:spPr>
          <a:xfrm>
            <a:off x="2636450" y="2269522"/>
            <a:ext cx="1446599"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Prediction interval</a:t>
            </a:r>
            <a:endParaRPr lang="ko-KR" altLang="en-US" sz="1400" dirty="0"/>
          </a:p>
        </p:txBody>
      </p:sp>
      <p:grpSp>
        <p:nvGrpSpPr>
          <p:cNvPr id="5" name="그룹 4">
            <a:extLst>
              <a:ext uri="{FF2B5EF4-FFF2-40B4-BE49-F238E27FC236}">
                <a16:creationId xmlns:a16="http://schemas.microsoft.com/office/drawing/2014/main" id="{7D4666E7-0CBD-E013-C95D-EFC4F41FEE89}"/>
              </a:ext>
            </a:extLst>
          </p:cNvPr>
          <p:cNvGrpSpPr/>
          <p:nvPr/>
        </p:nvGrpSpPr>
        <p:grpSpPr>
          <a:xfrm>
            <a:off x="2077649" y="5087675"/>
            <a:ext cx="1039599" cy="631195"/>
            <a:chOff x="2077650" y="5087675"/>
            <a:chExt cx="887800" cy="631195"/>
          </a:xfrm>
        </p:grpSpPr>
        <p:sp>
          <p:nvSpPr>
            <p:cNvPr id="2" name="사각형: 둥근 모서리 1">
              <a:extLst>
                <a:ext uri="{FF2B5EF4-FFF2-40B4-BE49-F238E27FC236}">
                  <a16:creationId xmlns:a16="http://schemas.microsoft.com/office/drawing/2014/main" id="{4B1CD9E5-18E7-9215-97B6-F54276DB1B6C}"/>
                </a:ext>
              </a:extLst>
            </p:cNvPr>
            <p:cNvSpPr/>
            <p:nvPr/>
          </p:nvSpPr>
          <p:spPr>
            <a:xfrm>
              <a:off x="2077650" y="5087675"/>
              <a:ext cx="887800" cy="631195"/>
            </a:xfrm>
            <a:prstGeom prst="roundRect">
              <a:avLst>
                <a:gd name="adj" fmla="val 1430"/>
              </a:avLst>
            </a:prstGeom>
            <a:solidFill>
              <a:schemeClr val="accent6">
                <a:alpha val="2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TextBox 3">
              <a:extLst>
                <a:ext uri="{FF2B5EF4-FFF2-40B4-BE49-F238E27FC236}">
                  <a16:creationId xmlns:a16="http://schemas.microsoft.com/office/drawing/2014/main" id="{980D770B-0A7F-572D-7CE7-223764445B69}"/>
                </a:ext>
              </a:extLst>
            </p:cNvPr>
            <p:cNvSpPr txBox="1"/>
            <p:nvPr/>
          </p:nvSpPr>
          <p:spPr>
            <a:xfrm>
              <a:off x="2185988" y="5233995"/>
              <a:ext cx="701675" cy="338554"/>
            </a:xfrm>
            <a:prstGeom prst="rect">
              <a:avLst/>
            </a:prstGeom>
            <a:noFill/>
          </p:spPr>
          <p:txBody>
            <a:bodyPr wrap="square">
              <a:spAutoFit/>
            </a:bodyPr>
            <a:lstStyle/>
            <a:p>
              <a:pPr algn="ctr"/>
              <a:r>
                <a:rPr lang="en-US" altLang="ko-KR" sz="1600" dirty="0">
                  <a:solidFill>
                    <a:srgbClr val="222222"/>
                  </a:solidFill>
                  <a:latin typeface="Arial Narrow" panose="020B0606020202030204" pitchFamily="34" charset="0"/>
                </a:rPr>
                <a:t>Model</a:t>
              </a:r>
              <a:endParaRPr lang="ko-KR" altLang="en-US" sz="1600" dirty="0"/>
            </a:p>
          </p:txBody>
        </p:sp>
      </p:grpSp>
      <p:cxnSp>
        <p:nvCxnSpPr>
          <p:cNvPr id="8" name="직선 화살표 연결선 7">
            <a:extLst>
              <a:ext uri="{FF2B5EF4-FFF2-40B4-BE49-F238E27FC236}">
                <a16:creationId xmlns:a16="http://schemas.microsoft.com/office/drawing/2014/main" id="{9C7B6CFE-9BB9-0F73-75D1-0BB527E0B22D}"/>
              </a:ext>
            </a:extLst>
          </p:cNvPr>
          <p:cNvCxnSpPr/>
          <p:nvPr/>
        </p:nvCxnSpPr>
        <p:spPr>
          <a:xfrm>
            <a:off x="2171700" y="4654550"/>
            <a:ext cx="0" cy="34925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9" name="직선 화살표 연결선 8">
            <a:extLst>
              <a:ext uri="{FF2B5EF4-FFF2-40B4-BE49-F238E27FC236}">
                <a16:creationId xmlns:a16="http://schemas.microsoft.com/office/drawing/2014/main" id="{9AE46E0D-551C-3DE2-AE3E-F9A4699D5C24}"/>
              </a:ext>
            </a:extLst>
          </p:cNvPr>
          <p:cNvCxnSpPr/>
          <p:nvPr/>
        </p:nvCxnSpPr>
        <p:spPr>
          <a:xfrm>
            <a:off x="2963865" y="4654550"/>
            <a:ext cx="0" cy="349250"/>
          </a:xfrm>
          <a:prstGeom prst="straightConnector1">
            <a:avLst/>
          </a:prstGeom>
          <a:ln w="12700">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6" name="직사각형 15">
            <a:extLst>
              <a:ext uri="{FF2B5EF4-FFF2-40B4-BE49-F238E27FC236}">
                <a16:creationId xmlns:a16="http://schemas.microsoft.com/office/drawing/2014/main" id="{E94ABE6F-6600-70C2-5411-53C12B6B0BF4}"/>
              </a:ext>
            </a:extLst>
          </p:cNvPr>
          <p:cNvSpPr/>
          <p:nvPr/>
        </p:nvSpPr>
        <p:spPr>
          <a:xfrm>
            <a:off x="6712161" y="5404077"/>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7" name="직선 화살표 연결선 16">
            <a:extLst>
              <a:ext uri="{FF2B5EF4-FFF2-40B4-BE49-F238E27FC236}">
                <a16:creationId xmlns:a16="http://schemas.microsoft.com/office/drawing/2014/main" id="{56716153-0B2C-8F80-ED91-98838AD1D54B}"/>
              </a:ext>
            </a:extLst>
          </p:cNvPr>
          <p:cNvCxnSpPr>
            <a:cxnSpLocks/>
          </p:cNvCxnSpPr>
          <p:nvPr/>
        </p:nvCxnSpPr>
        <p:spPr>
          <a:xfrm>
            <a:off x="6745185" y="5321300"/>
            <a:ext cx="88902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직선 화살표 연결선 17">
            <a:extLst>
              <a:ext uri="{FF2B5EF4-FFF2-40B4-BE49-F238E27FC236}">
                <a16:creationId xmlns:a16="http://schemas.microsoft.com/office/drawing/2014/main" id="{B904748A-B338-F253-3D2C-3128575EBA4B}"/>
              </a:ext>
            </a:extLst>
          </p:cNvPr>
          <p:cNvCxnSpPr>
            <a:cxnSpLocks/>
          </p:cNvCxnSpPr>
          <p:nvPr/>
        </p:nvCxnSpPr>
        <p:spPr>
          <a:xfrm flipV="1">
            <a:off x="7718036" y="5404077"/>
            <a:ext cx="0" cy="7935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48797E23-0266-150B-BE51-7C435C94245A}"/>
              </a:ext>
            </a:extLst>
          </p:cNvPr>
          <p:cNvCxnSpPr>
            <a:cxnSpLocks/>
          </p:cNvCxnSpPr>
          <p:nvPr/>
        </p:nvCxnSpPr>
        <p:spPr>
          <a:xfrm flipV="1">
            <a:off x="7401317" y="6318477"/>
            <a:ext cx="332983" cy="2839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586A02B4-9429-7A2A-DB2F-FD9236FB0E8E}"/>
              </a:ext>
            </a:extLst>
          </p:cNvPr>
          <p:cNvSpPr txBox="1"/>
          <p:nvPr/>
        </p:nvSpPr>
        <p:spPr>
          <a:xfrm>
            <a:off x="6819603" y="5043776"/>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Time steps</a:t>
            </a:r>
            <a:endParaRPr lang="ko-KR" altLang="en-US" sz="1200" b="1" dirty="0"/>
          </a:p>
        </p:txBody>
      </p:sp>
      <p:sp>
        <p:nvSpPr>
          <p:cNvPr id="33" name="TextBox 32">
            <a:extLst>
              <a:ext uri="{FF2B5EF4-FFF2-40B4-BE49-F238E27FC236}">
                <a16:creationId xmlns:a16="http://schemas.microsoft.com/office/drawing/2014/main" id="{98BC7296-5084-9253-0359-6815FA7DBFBE}"/>
              </a:ext>
            </a:extLst>
          </p:cNvPr>
          <p:cNvSpPr txBox="1"/>
          <p:nvPr/>
        </p:nvSpPr>
        <p:spPr>
          <a:xfrm rot="5400000">
            <a:off x="7400418" y="5755497"/>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Variables</a:t>
            </a:r>
            <a:endParaRPr lang="ko-KR" altLang="en-US" sz="1200" b="1" dirty="0"/>
          </a:p>
        </p:txBody>
      </p:sp>
      <p:sp>
        <p:nvSpPr>
          <p:cNvPr id="34" name="TextBox 33">
            <a:extLst>
              <a:ext uri="{FF2B5EF4-FFF2-40B4-BE49-F238E27FC236}">
                <a16:creationId xmlns:a16="http://schemas.microsoft.com/office/drawing/2014/main" id="{C1EAA7B8-9ED1-D2CB-46D9-CF40972E2AF4}"/>
              </a:ext>
            </a:extLst>
          </p:cNvPr>
          <p:cNvSpPr txBox="1"/>
          <p:nvPr/>
        </p:nvSpPr>
        <p:spPr>
          <a:xfrm rot="19077183">
            <a:off x="7291689" y="6340385"/>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sample </a:t>
            </a:r>
            <a:endParaRPr lang="ko-KR" altLang="en-US" sz="1200" b="1" dirty="0"/>
          </a:p>
        </p:txBody>
      </p:sp>
    </p:spTree>
    <p:extLst>
      <p:ext uri="{BB962C8B-B14F-4D97-AF65-F5344CB8AC3E}">
        <p14:creationId xmlns:p14="http://schemas.microsoft.com/office/powerpoint/2010/main" val="9489084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0944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dimensions of timeseries data</a:t>
            </a:r>
          </a:p>
          <a:p>
            <a:pPr marL="741600" lvl="1" indent="-284400">
              <a:lnSpc>
                <a:spcPct val="150000"/>
              </a:lnSpc>
              <a:buFont typeface="Arial" panose="020B0604020202020204" pitchFamily="34" charset="0"/>
              <a:buChar char="•"/>
            </a:pPr>
            <a:r>
              <a:rPr lang="en-US" altLang="ko-KR" sz="1800" dirty="0">
                <a:solidFill>
                  <a:srgbClr val="222222"/>
                </a:solidFill>
                <a:latin typeface="Arial Narrow" panose="020B0606020202030204" pitchFamily="34" charset="0"/>
              </a:rPr>
              <a:t>Understanding dimensions of timeseries forecasting from an algorithmic perspective</a:t>
            </a:r>
            <a:endParaRPr lang="en-US" altLang="ko-KR"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pic>
        <p:nvPicPr>
          <p:cNvPr id="15" name="그림 14">
            <a:extLst>
              <a:ext uri="{FF2B5EF4-FFF2-40B4-BE49-F238E27FC236}">
                <a16:creationId xmlns:a16="http://schemas.microsoft.com/office/drawing/2014/main" id="{416360F5-9F01-11F8-21CF-854E9FA0C647}"/>
              </a:ext>
            </a:extLst>
          </p:cNvPr>
          <p:cNvPicPr>
            <a:picLocks noChangeAspect="1"/>
          </p:cNvPicPr>
          <p:nvPr/>
        </p:nvPicPr>
        <p:blipFill>
          <a:blip r:embed="rId3"/>
          <a:stretch>
            <a:fillRect/>
          </a:stretch>
        </p:blipFill>
        <p:spPr>
          <a:xfrm>
            <a:off x="508000" y="2499355"/>
            <a:ext cx="7981950" cy="2309872"/>
          </a:xfrm>
          <a:prstGeom prst="rect">
            <a:avLst/>
          </a:prstGeom>
        </p:spPr>
      </p:pic>
      <p:sp>
        <p:nvSpPr>
          <p:cNvPr id="21" name="TextBox 20">
            <a:extLst>
              <a:ext uri="{FF2B5EF4-FFF2-40B4-BE49-F238E27FC236}">
                <a16:creationId xmlns:a16="http://schemas.microsoft.com/office/drawing/2014/main" id="{FCCB5320-35E9-1124-F7B3-95078B4B3035}"/>
              </a:ext>
            </a:extLst>
          </p:cNvPr>
          <p:cNvSpPr txBox="1"/>
          <p:nvPr/>
        </p:nvSpPr>
        <p:spPr>
          <a:xfrm>
            <a:off x="1371000" y="2269521"/>
            <a:ext cx="1178526"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Input interval</a:t>
            </a:r>
            <a:endParaRPr lang="ko-KR" altLang="en-US" sz="1400" dirty="0"/>
          </a:p>
        </p:txBody>
      </p:sp>
      <p:sp>
        <p:nvSpPr>
          <p:cNvPr id="22" name="TextBox 21">
            <a:extLst>
              <a:ext uri="{FF2B5EF4-FFF2-40B4-BE49-F238E27FC236}">
                <a16:creationId xmlns:a16="http://schemas.microsoft.com/office/drawing/2014/main" id="{C1AF88DA-0671-FD86-CA50-8CA6D85900CE}"/>
              </a:ext>
            </a:extLst>
          </p:cNvPr>
          <p:cNvSpPr txBox="1"/>
          <p:nvPr/>
        </p:nvSpPr>
        <p:spPr>
          <a:xfrm>
            <a:off x="2636450" y="2269522"/>
            <a:ext cx="1446599"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Prediction interval</a:t>
            </a:r>
            <a:endParaRPr lang="ko-KR" altLang="en-US" sz="1400" dirty="0"/>
          </a:p>
        </p:txBody>
      </p:sp>
      <p:sp>
        <p:nvSpPr>
          <p:cNvPr id="23" name="사각형: 둥근 모서리 22">
            <a:extLst>
              <a:ext uri="{FF2B5EF4-FFF2-40B4-BE49-F238E27FC236}">
                <a16:creationId xmlns:a16="http://schemas.microsoft.com/office/drawing/2014/main" id="{9E271535-F4AB-70D3-A81A-A1BD4BE8E2E4}"/>
              </a:ext>
            </a:extLst>
          </p:cNvPr>
          <p:cNvSpPr/>
          <p:nvPr/>
        </p:nvSpPr>
        <p:spPr>
          <a:xfrm>
            <a:off x="1282700" y="2604294"/>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사각형: 둥근 모서리 23">
            <a:extLst>
              <a:ext uri="{FF2B5EF4-FFF2-40B4-BE49-F238E27FC236}">
                <a16:creationId xmlns:a16="http://schemas.microsoft.com/office/drawing/2014/main" id="{7AF56EC3-D956-39F1-BEC4-759F72C48CD7}"/>
              </a:ext>
            </a:extLst>
          </p:cNvPr>
          <p:cNvSpPr/>
          <p:nvPr/>
        </p:nvSpPr>
        <p:spPr>
          <a:xfrm>
            <a:off x="2966051" y="2604294"/>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직사각형 33">
            <a:extLst>
              <a:ext uri="{FF2B5EF4-FFF2-40B4-BE49-F238E27FC236}">
                <a16:creationId xmlns:a16="http://schemas.microsoft.com/office/drawing/2014/main" id="{9702A6D1-9B51-CC7E-82F9-0AAB575F3F63}"/>
              </a:ext>
            </a:extLst>
          </p:cNvPr>
          <p:cNvSpPr/>
          <p:nvPr/>
        </p:nvSpPr>
        <p:spPr>
          <a:xfrm>
            <a:off x="6650456" y="5467350"/>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직사각형 34">
            <a:extLst>
              <a:ext uri="{FF2B5EF4-FFF2-40B4-BE49-F238E27FC236}">
                <a16:creationId xmlns:a16="http://schemas.microsoft.com/office/drawing/2014/main" id="{203B4EAF-959F-1DB8-A62F-0E5691295FF0}"/>
              </a:ext>
            </a:extLst>
          </p:cNvPr>
          <p:cNvSpPr/>
          <p:nvPr/>
        </p:nvSpPr>
        <p:spPr>
          <a:xfrm>
            <a:off x="6712161" y="5404077"/>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8" name="직선 화살표 연결선 37">
            <a:extLst>
              <a:ext uri="{FF2B5EF4-FFF2-40B4-BE49-F238E27FC236}">
                <a16:creationId xmlns:a16="http://schemas.microsoft.com/office/drawing/2014/main" id="{32B33582-DC05-9885-A7DF-1BF1F659C29C}"/>
              </a:ext>
            </a:extLst>
          </p:cNvPr>
          <p:cNvCxnSpPr>
            <a:cxnSpLocks/>
          </p:cNvCxnSpPr>
          <p:nvPr/>
        </p:nvCxnSpPr>
        <p:spPr>
          <a:xfrm>
            <a:off x="6745185" y="5321300"/>
            <a:ext cx="88902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직선 화살표 연결선 38">
            <a:extLst>
              <a:ext uri="{FF2B5EF4-FFF2-40B4-BE49-F238E27FC236}">
                <a16:creationId xmlns:a16="http://schemas.microsoft.com/office/drawing/2014/main" id="{C681F9EF-1106-BB8B-95D5-48032BBB6231}"/>
              </a:ext>
            </a:extLst>
          </p:cNvPr>
          <p:cNvCxnSpPr>
            <a:cxnSpLocks/>
          </p:cNvCxnSpPr>
          <p:nvPr/>
        </p:nvCxnSpPr>
        <p:spPr>
          <a:xfrm flipV="1">
            <a:off x="7718036" y="5404077"/>
            <a:ext cx="0" cy="7935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직선 화살표 연결선 39">
            <a:extLst>
              <a:ext uri="{FF2B5EF4-FFF2-40B4-BE49-F238E27FC236}">
                <a16:creationId xmlns:a16="http://schemas.microsoft.com/office/drawing/2014/main" id="{6D4669ED-A367-E4A6-3810-98ECEBBA9642}"/>
              </a:ext>
            </a:extLst>
          </p:cNvPr>
          <p:cNvCxnSpPr>
            <a:cxnSpLocks/>
          </p:cNvCxnSpPr>
          <p:nvPr/>
        </p:nvCxnSpPr>
        <p:spPr>
          <a:xfrm flipV="1">
            <a:off x="7401317" y="6318477"/>
            <a:ext cx="332983" cy="2839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423C7625-6692-6C89-7590-396262F92DAD}"/>
              </a:ext>
            </a:extLst>
          </p:cNvPr>
          <p:cNvSpPr txBox="1"/>
          <p:nvPr/>
        </p:nvSpPr>
        <p:spPr>
          <a:xfrm>
            <a:off x="6819603" y="5043776"/>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Time steps</a:t>
            </a:r>
            <a:endParaRPr lang="ko-KR" altLang="en-US" sz="1200" b="1" dirty="0"/>
          </a:p>
        </p:txBody>
      </p:sp>
      <p:sp>
        <p:nvSpPr>
          <p:cNvPr id="42" name="TextBox 41">
            <a:extLst>
              <a:ext uri="{FF2B5EF4-FFF2-40B4-BE49-F238E27FC236}">
                <a16:creationId xmlns:a16="http://schemas.microsoft.com/office/drawing/2014/main" id="{031A6D0F-BFD0-A20A-E0AE-CF929E015072}"/>
              </a:ext>
            </a:extLst>
          </p:cNvPr>
          <p:cNvSpPr txBox="1"/>
          <p:nvPr/>
        </p:nvSpPr>
        <p:spPr>
          <a:xfrm rot="5400000">
            <a:off x="7400418" y="5755497"/>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Variables</a:t>
            </a:r>
            <a:endParaRPr lang="ko-KR" altLang="en-US" sz="1200" b="1" dirty="0"/>
          </a:p>
        </p:txBody>
      </p:sp>
      <p:sp>
        <p:nvSpPr>
          <p:cNvPr id="43" name="TextBox 42">
            <a:extLst>
              <a:ext uri="{FF2B5EF4-FFF2-40B4-BE49-F238E27FC236}">
                <a16:creationId xmlns:a16="http://schemas.microsoft.com/office/drawing/2014/main" id="{7D8794EF-F4C8-C6BB-3546-B7B9B2F17DE9}"/>
              </a:ext>
            </a:extLst>
          </p:cNvPr>
          <p:cNvSpPr txBox="1"/>
          <p:nvPr/>
        </p:nvSpPr>
        <p:spPr>
          <a:xfrm rot="19077183">
            <a:off x="7291689" y="6340385"/>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sample </a:t>
            </a:r>
            <a:endParaRPr lang="ko-KR" altLang="en-US" sz="1200" b="1" dirty="0"/>
          </a:p>
        </p:txBody>
      </p:sp>
    </p:spTree>
    <p:extLst>
      <p:ext uri="{BB962C8B-B14F-4D97-AF65-F5344CB8AC3E}">
        <p14:creationId xmlns:p14="http://schemas.microsoft.com/office/powerpoint/2010/main" val="16053084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0944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dimensions of timeseries data</a:t>
            </a:r>
          </a:p>
          <a:p>
            <a:pPr marL="741600" lvl="1" indent="-284400">
              <a:lnSpc>
                <a:spcPct val="150000"/>
              </a:lnSpc>
              <a:buFont typeface="Arial" panose="020B0604020202020204" pitchFamily="34" charset="0"/>
              <a:buChar char="•"/>
            </a:pPr>
            <a:r>
              <a:rPr lang="en-US" altLang="ko-KR" sz="1800" dirty="0">
                <a:solidFill>
                  <a:srgbClr val="222222"/>
                </a:solidFill>
                <a:latin typeface="Arial Narrow" panose="020B0606020202030204" pitchFamily="34" charset="0"/>
              </a:rPr>
              <a:t>Understanding dimensions of timeseries forecasting from an algorithmic perspective</a:t>
            </a:r>
            <a:endParaRPr lang="en-US" altLang="ko-KR"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pic>
        <p:nvPicPr>
          <p:cNvPr id="15" name="그림 14">
            <a:extLst>
              <a:ext uri="{FF2B5EF4-FFF2-40B4-BE49-F238E27FC236}">
                <a16:creationId xmlns:a16="http://schemas.microsoft.com/office/drawing/2014/main" id="{416360F5-9F01-11F8-21CF-854E9FA0C647}"/>
              </a:ext>
            </a:extLst>
          </p:cNvPr>
          <p:cNvPicPr>
            <a:picLocks noChangeAspect="1"/>
          </p:cNvPicPr>
          <p:nvPr/>
        </p:nvPicPr>
        <p:blipFill>
          <a:blip r:embed="rId3"/>
          <a:stretch>
            <a:fillRect/>
          </a:stretch>
        </p:blipFill>
        <p:spPr>
          <a:xfrm>
            <a:off x="508000" y="2499355"/>
            <a:ext cx="7981950" cy="2309872"/>
          </a:xfrm>
          <a:prstGeom prst="rect">
            <a:avLst/>
          </a:prstGeom>
        </p:spPr>
      </p:pic>
      <p:sp>
        <p:nvSpPr>
          <p:cNvPr id="21" name="TextBox 20">
            <a:extLst>
              <a:ext uri="{FF2B5EF4-FFF2-40B4-BE49-F238E27FC236}">
                <a16:creationId xmlns:a16="http://schemas.microsoft.com/office/drawing/2014/main" id="{FCCB5320-35E9-1124-F7B3-95078B4B3035}"/>
              </a:ext>
            </a:extLst>
          </p:cNvPr>
          <p:cNvSpPr txBox="1"/>
          <p:nvPr/>
        </p:nvSpPr>
        <p:spPr>
          <a:xfrm>
            <a:off x="1371000" y="2269521"/>
            <a:ext cx="1178526"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Input interval</a:t>
            </a:r>
            <a:endParaRPr lang="ko-KR" altLang="en-US" sz="1400" dirty="0"/>
          </a:p>
        </p:txBody>
      </p:sp>
      <p:sp>
        <p:nvSpPr>
          <p:cNvPr id="22" name="TextBox 21">
            <a:extLst>
              <a:ext uri="{FF2B5EF4-FFF2-40B4-BE49-F238E27FC236}">
                <a16:creationId xmlns:a16="http://schemas.microsoft.com/office/drawing/2014/main" id="{C1AF88DA-0671-FD86-CA50-8CA6D85900CE}"/>
              </a:ext>
            </a:extLst>
          </p:cNvPr>
          <p:cNvSpPr txBox="1"/>
          <p:nvPr/>
        </p:nvSpPr>
        <p:spPr>
          <a:xfrm>
            <a:off x="2636450" y="2269522"/>
            <a:ext cx="1446599"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Prediction interval</a:t>
            </a:r>
            <a:endParaRPr lang="ko-KR" altLang="en-US" sz="1400" dirty="0"/>
          </a:p>
        </p:txBody>
      </p:sp>
      <p:sp>
        <p:nvSpPr>
          <p:cNvPr id="25" name="사각형: 둥근 모서리 24">
            <a:extLst>
              <a:ext uri="{FF2B5EF4-FFF2-40B4-BE49-F238E27FC236}">
                <a16:creationId xmlns:a16="http://schemas.microsoft.com/office/drawing/2014/main" id="{34004E93-AFCA-D902-3123-0287821F1B64}"/>
              </a:ext>
            </a:extLst>
          </p:cNvPr>
          <p:cNvSpPr/>
          <p:nvPr/>
        </p:nvSpPr>
        <p:spPr>
          <a:xfrm>
            <a:off x="1451771" y="2603500"/>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사각형: 둥근 모서리 25">
            <a:extLst>
              <a:ext uri="{FF2B5EF4-FFF2-40B4-BE49-F238E27FC236}">
                <a16:creationId xmlns:a16="http://schemas.microsoft.com/office/drawing/2014/main" id="{A142FD12-8F3A-E43E-FB78-423588F2C41E}"/>
              </a:ext>
            </a:extLst>
          </p:cNvPr>
          <p:cNvSpPr/>
          <p:nvPr/>
        </p:nvSpPr>
        <p:spPr>
          <a:xfrm>
            <a:off x="3135122" y="2603500"/>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a:extLst>
              <a:ext uri="{FF2B5EF4-FFF2-40B4-BE49-F238E27FC236}">
                <a16:creationId xmlns:a16="http://schemas.microsoft.com/office/drawing/2014/main" id="{374BE1BF-7CCC-E612-DE61-648CD863880F}"/>
              </a:ext>
            </a:extLst>
          </p:cNvPr>
          <p:cNvSpPr/>
          <p:nvPr/>
        </p:nvSpPr>
        <p:spPr>
          <a:xfrm>
            <a:off x="6587346" y="5507985"/>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직사각형 4">
            <a:extLst>
              <a:ext uri="{FF2B5EF4-FFF2-40B4-BE49-F238E27FC236}">
                <a16:creationId xmlns:a16="http://schemas.microsoft.com/office/drawing/2014/main" id="{CA95A6F1-2BCD-5E1A-834E-B85B70C1F6C0}"/>
              </a:ext>
            </a:extLst>
          </p:cNvPr>
          <p:cNvSpPr/>
          <p:nvPr/>
        </p:nvSpPr>
        <p:spPr>
          <a:xfrm>
            <a:off x="6650456" y="5467350"/>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직사각형 6">
            <a:extLst>
              <a:ext uri="{FF2B5EF4-FFF2-40B4-BE49-F238E27FC236}">
                <a16:creationId xmlns:a16="http://schemas.microsoft.com/office/drawing/2014/main" id="{7A6CF0D4-857B-EF06-9DC6-BD38A1C6D0F8}"/>
              </a:ext>
            </a:extLst>
          </p:cNvPr>
          <p:cNvSpPr/>
          <p:nvPr/>
        </p:nvSpPr>
        <p:spPr>
          <a:xfrm>
            <a:off x="6712161" y="5404077"/>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 name="직선 화살표 연결선 7">
            <a:extLst>
              <a:ext uri="{FF2B5EF4-FFF2-40B4-BE49-F238E27FC236}">
                <a16:creationId xmlns:a16="http://schemas.microsoft.com/office/drawing/2014/main" id="{553ED98C-C081-0614-802A-82306CDED1A6}"/>
              </a:ext>
            </a:extLst>
          </p:cNvPr>
          <p:cNvCxnSpPr>
            <a:cxnSpLocks/>
          </p:cNvCxnSpPr>
          <p:nvPr/>
        </p:nvCxnSpPr>
        <p:spPr>
          <a:xfrm>
            <a:off x="6745185" y="5321300"/>
            <a:ext cx="88902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직선 화살표 연결선 8">
            <a:extLst>
              <a:ext uri="{FF2B5EF4-FFF2-40B4-BE49-F238E27FC236}">
                <a16:creationId xmlns:a16="http://schemas.microsoft.com/office/drawing/2014/main" id="{4C864B3D-A484-54AC-08DC-F873CC1E7EC1}"/>
              </a:ext>
            </a:extLst>
          </p:cNvPr>
          <p:cNvCxnSpPr>
            <a:cxnSpLocks/>
          </p:cNvCxnSpPr>
          <p:nvPr/>
        </p:nvCxnSpPr>
        <p:spPr>
          <a:xfrm flipV="1">
            <a:off x="7718036" y="5404077"/>
            <a:ext cx="0" cy="7935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직선 화살표 연결선 10">
            <a:extLst>
              <a:ext uri="{FF2B5EF4-FFF2-40B4-BE49-F238E27FC236}">
                <a16:creationId xmlns:a16="http://schemas.microsoft.com/office/drawing/2014/main" id="{9908D646-D316-A961-DF81-F5F1094A2BE3}"/>
              </a:ext>
            </a:extLst>
          </p:cNvPr>
          <p:cNvCxnSpPr>
            <a:cxnSpLocks/>
          </p:cNvCxnSpPr>
          <p:nvPr/>
        </p:nvCxnSpPr>
        <p:spPr>
          <a:xfrm flipV="1">
            <a:off x="7401317" y="6318477"/>
            <a:ext cx="332983" cy="2839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6EA9B32B-17CB-2BDC-2844-0292278115B6}"/>
              </a:ext>
            </a:extLst>
          </p:cNvPr>
          <p:cNvSpPr txBox="1"/>
          <p:nvPr/>
        </p:nvSpPr>
        <p:spPr>
          <a:xfrm>
            <a:off x="6819603" y="5043776"/>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Time steps</a:t>
            </a:r>
            <a:endParaRPr lang="ko-KR" altLang="en-US" sz="1200" b="1" dirty="0"/>
          </a:p>
        </p:txBody>
      </p:sp>
      <p:sp>
        <p:nvSpPr>
          <p:cNvPr id="13" name="TextBox 12">
            <a:extLst>
              <a:ext uri="{FF2B5EF4-FFF2-40B4-BE49-F238E27FC236}">
                <a16:creationId xmlns:a16="http://schemas.microsoft.com/office/drawing/2014/main" id="{DB919360-D549-FDE4-DD7C-323DE3A3FE31}"/>
              </a:ext>
            </a:extLst>
          </p:cNvPr>
          <p:cNvSpPr txBox="1"/>
          <p:nvPr/>
        </p:nvSpPr>
        <p:spPr>
          <a:xfrm rot="5400000">
            <a:off x="7400418" y="5755497"/>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Variables</a:t>
            </a:r>
            <a:endParaRPr lang="ko-KR" altLang="en-US" sz="1200" b="1" dirty="0"/>
          </a:p>
        </p:txBody>
      </p:sp>
      <p:sp>
        <p:nvSpPr>
          <p:cNvPr id="14" name="TextBox 13">
            <a:extLst>
              <a:ext uri="{FF2B5EF4-FFF2-40B4-BE49-F238E27FC236}">
                <a16:creationId xmlns:a16="http://schemas.microsoft.com/office/drawing/2014/main" id="{3FDDF470-2664-D6E4-CB78-216547C831DB}"/>
              </a:ext>
            </a:extLst>
          </p:cNvPr>
          <p:cNvSpPr txBox="1"/>
          <p:nvPr/>
        </p:nvSpPr>
        <p:spPr>
          <a:xfrm rot="19077183">
            <a:off x="7291689" y="6340385"/>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sample </a:t>
            </a:r>
            <a:endParaRPr lang="ko-KR" altLang="en-US" sz="1200" b="1" dirty="0"/>
          </a:p>
        </p:txBody>
      </p:sp>
    </p:spTree>
    <p:extLst>
      <p:ext uri="{BB962C8B-B14F-4D97-AF65-F5344CB8AC3E}">
        <p14:creationId xmlns:p14="http://schemas.microsoft.com/office/powerpoint/2010/main" val="9002518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0944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dimensions of timeseries data</a:t>
            </a:r>
          </a:p>
          <a:p>
            <a:pPr marL="741600" lvl="1" indent="-284400">
              <a:lnSpc>
                <a:spcPct val="150000"/>
              </a:lnSpc>
              <a:buFont typeface="Arial" panose="020B0604020202020204" pitchFamily="34" charset="0"/>
              <a:buChar char="•"/>
            </a:pPr>
            <a:r>
              <a:rPr lang="en-US" altLang="ko-KR" sz="1800" dirty="0">
                <a:solidFill>
                  <a:srgbClr val="222222"/>
                </a:solidFill>
                <a:latin typeface="Arial Narrow" panose="020B0606020202030204" pitchFamily="34" charset="0"/>
              </a:rPr>
              <a:t>Understanding dimensions of timeseries forecasting from an algorithmic perspective</a:t>
            </a:r>
            <a:endParaRPr lang="en-US" altLang="ko-KR"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pic>
        <p:nvPicPr>
          <p:cNvPr id="15" name="그림 14">
            <a:extLst>
              <a:ext uri="{FF2B5EF4-FFF2-40B4-BE49-F238E27FC236}">
                <a16:creationId xmlns:a16="http://schemas.microsoft.com/office/drawing/2014/main" id="{416360F5-9F01-11F8-21CF-854E9FA0C647}"/>
              </a:ext>
            </a:extLst>
          </p:cNvPr>
          <p:cNvPicPr>
            <a:picLocks noChangeAspect="1"/>
          </p:cNvPicPr>
          <p:nvPr/>
        </p:nvPicPr>
        <p:blipFill>
          <a:blip r:embed="rId3"/>
          <a:stretch>
            <a:fillRect/>
          </a:stretch>
        </p:blipFill>
        <p:spPr>
          <a:xfrm>
            <a:off x="508000" y="2499355"/>
            <a:ext cx="7981950" cy="2309872"/>
          </a:xfrm>
          <a:prstGeom prst="rect">
            <a:avLst/>
          </a:prstGeom>
        </p:spPr>
      </p:pic>
      <p:sp>
        <p:nvSpPr>
          <p:cNvPr id="21" name="TextBox 20">
            <a:extLst>
              <a:ext uri="{FF2B5EF4-FFF2-40B4-BE49-F238E27FC236}">
                <a16:creationId xmlns:a16="http://schemas.microsoft.com/office/drawing/2014/main" id="{FCCB5320-35E9-1124-F7B3-95078B4B3035}"/>
              </a:ext>
            </a:extLst>
          </p:cNvPr>
          <p:cNvSpPr txBox="1"/>
          <p:nvPr/>
        </p:nvSpPr>
        <p:spPr>
          <a:xfrm>
            <a:off x="1371000" y="2269521"/>
            <a:ext cx="1178526"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Input interval</a:t>
            </a:r>
            <a:endParaRPr lang="ko-KR" altLang="en-US" sz="1400" dirty="0"/>
          </a:p>
        </p:txBody>
      </p:sp>
      <p:sp>
        <p:nvSpPr>
          <p:cNvPr id="22" name="TextBox 21">
            <a:extLst>
              <a:ext uri="{FF2B5EF4-FFF2-40B4-BE49-F238E27FC236}">
                <a16:creationId xmlns:a16="http://schemas.microsoft.com/office/drawing/2014/main" id="{C1AF88DA-0671-FD86-CA50-8CA6D85900CE}"/>
              </a:ext>
            </a:extLst>
          </p:cNvPr>
          <p:cNvSpPr txBox="1"/>
          <p:nvPr/>
        </p:nvSpPr>
        <p:spPr>
          <a:xfrm>
            <a:off x="2636450" y="2269522"/>
            <a:ext cx="1446599"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Prediction interval</a:t>
            </a:r>
            <a:endParaRPr lang="ko-KR" altLang="en-US" sz="1400" dirty="0"/>
          </a:p>
        </p:txBody>
      </p:sp>
      <p:sp>
        <p:nvSpPr>
          <p:cNvPr id="29" name="사각형: 둥근 모서리 28">
            <a:extLst>
              <a:ext uri="{FF2B5EF4-FFF2-40B4-BE49-F238E27FC236}">
                <a16:creationId xmlns:a16="http://schemas.microsoft.com/office/drawing/2014/main" id="{49D49EB3-DBC7-0D36-2610-A2FD16F3AAD5}"/>
              </a:ext>
            </a:extLst>
          </p:cNvPr>
          <p:cNvSpPr/>
          <p:nvPr/>
        </p:nvSpPr>
        <p:spPr>
          <a:xfrm>
            <a:off x="1804600" y="2602706"/>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사각형: 둥근 모서리 29">
            <a:extLst>
              <a:ext uri="{FF2B5EF4-FFF2-40B4-BE49-F238E27FC236}">
                <a16:creationId xmlns:a16="http://schemas.microsoft.com/office/drawing/2014/main" id="{F6577893-9030-9C2C-16A3-E01B15A882CD}"/>
              </a:ext>
            </a:extLst>
          </p:cNvPr>
          <p:cNvSpPr/>
          <p:nvPr/>
        </p:nvSpPr>
        <p:spPr>
          <a:xfrm>
            <a:off x="3487951" y="2602706"/>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직사각형 2">
            <a:extLst>
              <a:ext uri="{FF2B5EF4-FFF2-40B4-BE49-F238E27FC236}">
                <a16:creationId xmlns:a16="http://schemas.microsoft.com/office/drawing/2014/main" id="{53326A89-79BA-27A2-0B97-BD9A9F1432C6}"/>
              </a:ext>
            </a:extLst>
          </p:cNvPr>
          <p:cNvSpPr/>
          <p:nvPr/>
        </p:nvSpPr>
        <p:spPr>
          <a:xfrm>
            <a:off x="6524236" y="5575372"/>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a:extLst>
              <a:ext uri="{FF2B5EF4-FFF2-40B4-BE49-F238E27FC236}">
                <a16:creationId xmlns:a16="http://schemas.microsoft.com/office/drawing/2014/main" id="{3AA98D53-F524-00EC-F8AB-2F8302CDD3AA}"/>
              </a:ext>
            </a:extLst>
          </p:cNvPr>
          <p:cNvSpPr/>
          <p:nvPr/>
        </p:nvSpPr>
        <p:spPr>
          <a:xfrm>
            <a:off x="6587346" y="5507985"/>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직사각형 4">
            <a:extLst>
              <a:ext uri="{FF2B5EF4-FFF2-40B4-BE49-F238E27FC236}">
                <a16:creationId xmlns:a16="http://schemas.microsoft.com/office/drawing/2014/main" id="{C9D4FF7D-871A-7B01-E8EA-B4F08B8F6DB1}"/>
              </a:ext>
            </a:extLst>
          </p:cNvPr>
          <p:cNvSpPr/>
          <p:nvPr/>
        </p:nvSpPr>
        <p:spPr>
          <a:xfrm>
            <a:off x="6650456" y="5467350"/>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직사각형 6">
            <a:extLst>
              <a:ext uri="{FF2B5EF4-FFF2-40B4-BE49-F238E27FC236}">
                <a16:creationId xmlns:a16="http://schemas.microsoft.com/office/drawing/2014/main" id="{036CB2DC-CBCB-9606-5CA2-81F150D906ED}"/>
              </a:ext>
            </a:extLst>
          </p:cNvPr>
          <p:cNvSpPr/>
          <p:nvPr/>
        </p:nvSpPr>
        <p:spPr>
          <a:xfrm>
            <a:off x="6712161" y="5404077"/>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 name="직선 화살표 연결선 7">
            <a:extLst>
              <a:ext uri="{FF2B5EF4-FFF2-40B4-BE49-F238E27FC236}">
                <a16:creationId xmlns:a16="http://schemas.microsoft.com/office/drawing/2014/main" id="{828DA4A9-C733-848B-BAD6-D2E10840DFA2}"/>
              </a:ext>
            </a:extLst>
          </p:cNvPr>
          <p:cNvCxnSpPr>
            <a:cxnSpLocks/>
          </p:cNvCxnSpPr>
          <p:nvPr/>
        </p:nvCxnSpPr>
        <p:spPr>
          <a:xfrm>
            <a:off x="6745185" y="5321300"/>
            <a:ext cx="88902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직선 화살표 연결선 8">
            <a:extLst>
              <a:ext uri="{FF2B5EF4-FFF2-40B4-BE49-F238E27FC236}">
                <a16:creationId xmlns:a16="http://schemas.microsoft.com/office/drawing/2014/main" id="{94763385-DBED-31EA-E427-8F86A15EFB37}"/>
              </a:ext>
            </a:extLst>
          </p:cNvPr>
          <p:cNvCxnSpPr>
            <a:cxnSpLocks/>
          </p:cNvCxnSpPr>
          <p:nvPr/>
        </p:nvCxnSpPr>
        <p:spPr>
          <a:xfrm flipV="1">
            <a:off x="7718036" y="5404077"/>
            <a:ext cx="0" cy="7935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직선 화살표 연결선 10">
            <a:extLst>
              <a:ext uri="{FF2B5EF4-FFF2-40B4-BE49-F238E27FC236}">
                <a16:creationId xmlns:a16="http://schemas.microsoft.com/office/drawing/2014/main" id="{21941C6E-11DE-BD65-5643-C89079F4B8EC}"/>
              </a:ext>
            </a:extLst>
          </p:cNvPr>
          <p:cNvCxnSpPr>
            <a:cxnSpLocks/>
          </p:cNvCxnSpPr>
          <p:nvPr/>
        </p:nvCxnSpPr>
        <p:spPr>
          <a:xfrm flipV="1">
            <a:off x="7401317" y="6318477"/>
            <a:ext cx="332983" cy="2839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00A4440-6F80-7567-5949-383C60CC29A5}"/>
              </a:ext>
            </a:extLst>
          </p:cNvPr>
          <p:cNvSpPr txBox="1"/>
          <p:nvPr/>
        </p:nvSpPr>
        <p:spPr>
          <a:xfrm>
            <a:off x="6819603" y="5043776"/>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Time steps</a:t>
            </a:r>
            <a:endParaRPr lang="ko-KR" altLang="en-US" sz="1200" b="1" dirty="0"/>
          </a:p>
        </p:txBody>
      </p:sp>
      <p:sp>
        <p:nvSpPr>
          <p:cNvPr id="13" name="TextBox 12">
            <a:extLst>
              <a:ext uri="{FF2B5EF4-FFF2-40B4-BE49-F238E27FC236}">
                <a16:creationId xmlns:a16="http://schemas.microsoft.com/office/drawing/2014/main" id="{2CF62203-3556-3B54-5303-FC38A6DB7374}"/>
              </a:ext>
            </a:extLst>
          </p:cNvPr>
          <p:cNvSpPr txBox="1"/>
          <p:nvPr/>
        </p:nvSpPr>
        <p:spPr>
          <a:xfrm rot="5400000">
            <a:off x="7400418" y="5755497"/>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Variables</a:t>
            </a:r>
            <a:endParaRPr lang="ko-KR" altLang="en-US" sz="1200" b="1" dirty="0"/>
          </a:p>
        </p:txBody>
      </p:sp>
      <p:sp>
        <p:nvSpPr>
          <p:cNvPr id="14" name="TextBox 13">
            <a:extLst>
              <a:ext uri="{FF2B5EF4-FFF2-40B4-BE49-F238E27FC236}">
                <a16:creationId xmlns:a16="http://schemas.microsoft.com/office/drawing/2014/main" id="{2E41C17E-18DF-4914-41E7-AD1A0B413144}"/>
              </a:ext>
            </a:extLst>
          </p:cNvPr>
          <p:cNvSpPr txBox="1"/>
          <p:nvPr/>
        </p:nvSpPr>
        <p:spPr>
          <a:xfrm rot="19077183">
            <a:off x="7291689" y="6340385"/>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sample </a:t>
            </a:r>
            <a:endParaRPr lang="ko-KR" altLang="en-US" sz="1200" b="1" dirty="0"/>
          </a:p>
        </p:txBody>
      </p:sp>
    </p:spTree>
    <p:extLst>
      <p:ext uri="{BB962C8B-B14F-4D97-AF65-F5344CB8AC3E}">
        <p14:creationId xmlns:p14="http://schemas.microsoft.com/office/powerpoint/2010/main" val="36526880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0944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dimensions of timeseries data</a:t>
            </a:r>
          </a:p>
          <a:p>
            <a:pPr marL="741600" lvl="1" indent="-284400">
              <a:lnSpc>
                <a:spcPct val="150000"/>
              </a:lnSpc>
              <a:buFont typeface="Arial" panose="020B0604020202020204" pitchFamily="34" charset="0"/>
              <a:buChar char="•"/>
            </a:pPr>
            <a:r>
              <a:rPr lang="en-US" altLang="ko-KR" sz="1800" dirty="0">
                <a:solidFill>
                  <a:srgbClr val="222222"/>
                </a:solidFill>
                <a:latin typeface="Arial Narrow" panose="020B0606020202030204" pitchFamily="34" charset="0"/>
              </a:rPr>
              <a:t>Understanding dimensions of timeseries forecasting from an algorithmic perspective</a:t>
            </a:r>
            <a:endParaRPr lang="en-US" altLang="ko-KR"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pic>
        <p:nvPicPr>
          <p:cNvPr id="15" name="그림 14">
            <a:extLst>
              <a:ext uri="{FF2B5EF4-FFF2-40B4-BE49-F238E27FC236}">
                <a16:creationId xmlns:a16="http://schemas.microsoft.com/office/drawing/2014/main" id="{416360F5-9F01-11F8-21CF-854E9FA0C647}"/>
              </a:ext>
            </a:extLst>
          </p:cNvPr>
          <p:cNvPicPr>
            <a:picLocks noChangeAspect="1"/>
          </p:cNvPicPr>
          <p:nvPr/>
        </p:nvPicPr>
        <p:blipFill>
          <a:blip r:embed="rId3"/>
          <a:stretch>
            <a:fillRect/>
          </a:stretch>
        </p:blipFill>
        <p:spPr>
          <a:xfrm>
            <a:off x="508000" y="2499355"/>
            <a:ext cx="7981950" cy="2309872"/>
          </a:xfrm>
          <a:prstGeom prst="rect">
            <a:avLst/>
          </a:prstGeom>
        </p:spPr>
      </p:pic>
      <p:sp>
        <p:nvSpPr>
          <p:cNvPr id="19" name="사각형: 둥근 모서리 18">
            <a:extLst>
              <a:ext uri="{FF2B5EF4-FFF2-40B4-BE49-F238E27FC236}">
                <a16:creationId xmlns:a16="http://schemas.microsoft.com/office/drawing/2014/main" id="{DC65B0C8-8688-716D-FC4E-548205B87084}"/>
              </a:ext>
            </a:extLst>
          </p:cNvPr>
          <p:cNvSpPr/>
          <p:nvPr/>
        </p:nvSpPr>
        <p:spPr>
          <a:xfrm>
            <a:off x="1130300" y="2603500"/>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사각형: 둥근 모서리 19">
            <a:extLst>
              <a:ext uri="{FF2B5EF4-FFF2-40B4-BE49-F238E27FC236}">
                <a16:creationId xmlns:a16="http://schemas.microsoft.com/office/drawing/2014/main" id="{4C1BEAF0-5988-7FE5-54C8-5D53FC0473E6}"/>
              </a:ext>
            </a:extLst>
          </p:cNvPr>
          <p:cNvSpPr/>
          <p:nvPr/>
        </p:nvSpPr>
        <p:spPr>
          <a:xfrm>
            <a:off x="2813651" y="2603500"/>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TextBox 20">
            <a:extLst>
              <a:ext uri="{FF2B5EF4-FFF2-40B4-BE49-F238E27FC236}">
                <a16:creationId xmlns:a16="http://schemas.microsoft.com/office/drawing/2014/main" id="{FCCB5320-35E9-1124-F7B3-95078B4B3035}"/>
              </a:ext>
            </a:extLst>
          </p:cNvPr>
          <p:cNvSpPr txBox="1"/>
          <p:nvPr/>
        </p:nvSpPr>
        <p:spPr>
          <a:xfrm>
            <a:off x="1371000" y="2269521"/>
            <a:ext cx="1178526"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Input interval</a:t>
            </a:r>
            <a:endParaRPr lang="ko-KR" altLang="en-US" sz="1400" dirty="0"/>
          </a:p>
        </p:txBody>
      </p:sp>
      <p:sp>
        <p:nvSpPr>
          <p:cNvPr id="22" name="TextBox 21">
            <a:extLst>
              <a:ext uri="{FF2B5EF4-FFF2-40B4-BE49-F238E27FC236}">
                <a16:creationId xmlns:a16="http://schemas.microsoft.com/office/drawing/2014/main" id="{C1AF88DA-0671-FD86-CA50-8CA6D85900CE}"/>
              </a:ext>
            </a:extLst>
          </p:cNvPr>
          <p:cNvSpPr txBox="1"/>
          <p:nvPr/>
        </p:nvSpPr>
        <p:spPr>
          <a:xfrm>
            <a:off x="2636450" y="2269522"/>
            <a:ext cx="1446599" cy="307777"/>
          </a:xfrm>
          <a:prstGeom prst="rect">
            <a:avLst/>
          </a:prstGeom>
          <a:noFill/>
        </p:spPr>
        <p:txBody>
          <a:bodyPr wrap="square">
            <a:spAutoFit/>
          </a:bodyPr>
          <a:lstStyle/>
          <a:p>
            <a:r>
              <a:rPr lang="en-US" altLang="ko-KR" sz="1400" dirty="0">
                <a:solidFill>
                  <a:srgbClr val="222222"/>
                </a:solidFill>
                <a:latin typeface="Arial Narrow" panose="020B0606020202030204" pitchFamily="34" charset="0"/>
              </a:rPr>
              <a:t>Prediction interval</a:t>
            </a:r>
            <a:endParaRPr lang="ko-KR" altLang="en-US" sz="1400" dirty="0"/>
          </a:p>
        </p:txBody>
      </p:sp>
      <p:sp>
        <p:nvSpPr>
          <p:cNvPr id="23" name="사각형: 둥근 모서리 22">
            <a:extLst>
              <a:ext uri="{FF2B5EF4-FFF2-40B4-BE49-F238E27FC236}">
                <a16:creationId xmlns:a16="http://schemas.microsoft.com/office/drawing/2014/main" id="{9E271535-F4AB-70D3-A81A-A1BD4BE8E2E4}"/>
              </a:ext>
            </a:extLst>
          </p:cNvPr>
          <p:cNvSpPr/>
          <p:nvPr/>
        </p:nvSpPr>
        <p:spPr>
          <a:xfrm>
            <a:off x="1282700" y="2604294"/>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사각형: 둥근 모서리 23">
            <a:extLst>
              <a:ext uri="{FF2B5EF4-FFF2-40B4-BE49-F238E27FC236}">
                <a16:creationId xmlns:a16="http://schemas.microsoft.com/office/drawing/2014/main" id="{7AF56EC3-D956-39F1-BEC4-759F72C48CD7}"/>
              </a:ext>
            </a:extLst>
          </p:cNvPr>
          <p:cNvSpPr/>
          <p:nvPr/>
        </p:nvSpPr>
        <p:spPr>
          <a:xfrm>
            <a:off x="2966051" y="2604294"/>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사각형: 둥근 모서리 24">
            <a:extLst>
              <a:ext uri="{FF2B5EF4-FFF2-40B4-BE49-F238E27FC236}">
                <a16:creationId xmlns:a16="http://schemas.microsoft.com/office/drawing/2014/main" id="{34004E93-AFCA-D902-3123-0287821F1B64}"/>
              </a:ext>
            </a:extLst>
          </p:cNvPr>
          <p:cNvSpPr/>
          <p:nvPr/>
        </p:nvSpPr>
        <p:spPr>
          <a:xfrm>
            <a:off x="1451771" y="2603500"/>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사각형: 둥근 모서리 25">
            <a:extLst>
              <a:ext uri="{FF2B5EF4-FFF2-40B4-BE49-F238E27FC236}">
                <a16:creationId xmlns:a16="http://schemas.microsoft.com/office/drawing/2014/main" id="{A142FD12-8F3A-E43E-FB78-423588F2C41E}"/>
              </a:ext>
            </a:extLst>
          </p:cNvPr>
          <p:cNvSpPr/>
          <p:nvPr/>
        </p:nvSpPr>
        <p:spPr>
          <a:xfrm>
            <a:off x="3135122" y="2603500"/>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사각형: 둥근 모서리 26">
            <a:extLst>
              <a:ext uri="{FF2B5EF4-FFF2-40B4-BE49-F238E27FC236}">
                <a16:creationId xmlns:a16="http://schemas.microsoft.com/office/drawing/2014/main" id="{25B7AE2C-3ECF-047E-B415-50D2F6D55219}"/>
              </a:ext>
            </a:extLst>
          </p:cNvPr>
          <p:cNvSpPr/>
          <p:nvPr/>
        </p:nvSpPr>
        <p:spPr>
          <a:xfrm>
            <a:off x="1620842" y="2603897"/>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사각형: 둥근 모서리 27">
            <a:extLst>
              <a:ext uri="{FF2B5EF4-FFF2-40B4-BE49-F238E27FC236}">
                <a16:creationId xmlns:a16="http://schemas.microsoft.com/office/drawing/2014/main" id="{9E786967-26DC-DE9A-3F8B-15F959DEAA7F}"/>
              </a:ext>
            </a:extLst>
          </p:cNvPr>
          <p:cNvSpPr/>
          <p:nvPr/>
        </p:nvSpPr>
        <p:spPr>
          <a:xfrm>
            <a:off x="3304193" y="2603897"/>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사각형: 둥근 모서리 28">
            <a:extLst>
              <a:ext uri="{FF2B5EF4-FFF2-40B4-BE49-F238E27FC236}">
                <a16:creationId xmlns:a16="http://schemas.microsoft.com/office/drawing/2014/main" id="{49D49EB3-DBC7-0D36-2610-A2FD16F3AAD5}"/>
              </a:ext>
            </a:extLst>
          </p:cNvPr>
          <p:cNvSpPr/>
          <p:nvPr/>
        </p:nvSpPr>
        <p:spPr>
          <a:xfrm>
            <a:off x="1804600" y="2602706"/>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사각형: 둥근 모서리 29">
            <a:extLst>
              <a:ext uri="{FF2B5EF4-FFF2-40B4-BE49-F238E27FC236}">
                <a16:creationId xmlns:a16="http://schemas.microsoft.com/office/drawing/2014/main" id="{F6577893-9030-9C2C-16A3-E01B15A882CD}"/>
              </a:ext>
            </a:extLst>
          </p:cNvPr>
          <p:cNvSpPr/>
          <p:nvPr/>
        </p:nvSpPr>
        <p:spPr>
          <a:xfrm>
            <a:off x="3487951" y="2602706"/>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사각형: 둥근 모서리 1">
            <a:extLst>
              <a:ext uri="{FF2B5EF4-FFF2-40B4-BE49-F238E27FC236}">
                <a16:creationId xmlns:a16="http://schemas.microsoft.com/office/drawing/2014/main" id="{BB1C9A05-0CF7-7FBD-50E8-BB03B75A5D2A}"/>
              </a:ext>
            </a:extLst>
          </p:cNvPr>
          <p:cNvSpPr/>
          <p:nvPr/>
        </p:nvSpPr>
        <p:spPr>
          <a:xfrm>
            <a:off x="6124186" y="2602706"/>
            <a:ext cx="1663700" cy="1955800"/>
          </a:xfrm>
          <a:prstGeom prst="roundRect">
            <a:avLst>
              <a:gd name="adj" fmla="val 1430"/>
            </a:avLst>
          </a:prstGeom>
          <a:solidFill>
            <a:schemeClr val="accent1">
              <a:alpha val="2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사각형: 둥근 모서리 2">
            <a:extLst>
              <a:ext uri="{FF2B5EF4-FFF2-40B4-BE49-F238E27FC236}">
                <a16:creationId xmlns:a16="http://schemas.microsoft.com/office/drawing/2014/main" id="{BCE8FD3F-5005-1C1E-AD74-770998C591C4}"/>
              </a:ext>
            </a:extLst>
          </p:cNvPr>
          <p:cNvSpPr/>
          <p:nvPr/>
        </p:nvSpPr>
        <p:spPr>
          <a:xfrm>
            <a:off x="7807537" y="2602706"/>
            <a:ext cx="303599" cy="1955800"/>
          </a:xfrm>
          <a:prstGeom prst="roundRect">
            <a:avLst>
              <a:gd name="adj" fmla="val 1430"/>
            </a:avLst>
          </a:prstGeom>
          <a:solidFill>
            <a:srgbClr val="FF0000">
              <a:alpha val="1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 name="직선 화살표 연결선 4">
            <a:extLst>
              <a:ext uri="{FF2B5EF4-FFF2-40B4-BE49-F238E27FC236}">
                <a16:creationId xmlns:a16="http://schemas.microsoft.com/office/drawing/2014/main" id="{6F452FB2-FEF9-1FAD-1A93-F054DECCF825}"/>
              </a:ext>
            </a:extLst>
          </p:cNvPr>
          <p:cNvCxnSpPr/>
          <p:nvPr/>
        </p:nvCxnSpPr>
        <p:spPr>
          <a:xfrm>
            <a:off x="3987419" y="3429000"/>
            <a:ext cx="1794258" cy="0"/>
          </a:xfrm>
          <a:prstGeom prst="straightConnector1">
            <a:avLst/>
          </a:prstGeom>
          <a:ln w="127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2C39F6F-A9E6-7FB5-1D24-47FF6F4B811E}"/>
              </a:ext>
            </a:extLst>
          </p:cNvPr>
          <p:cNvSpPr txBox="1"/>
          <p:nvPr/>
        </p:nvSpPr>
        <p:spPr>
          <a:xfrm>
            <a:off x="3950301" y="3095261"/>
            <a:ext cx="2002553" cy="338554"/>
          </a:xfrm>
          <a:prstGeom prst="rect">
            <a:avLst/>
          </a:prstGeom>
          <a:noFill/>
        </p:spPr>
        <p:txBody>
          <a:bodyPr wrap="square">
            <a:spAutoFit/>
          </a:bodyPr>
          <a:lstStyle/>
          <a:p>
            <a:r>
              <a:rPr lang="en-US" altLang="ko-KR" sz="1600" i="1" dirty="0">
                <a:solidFill>
                  <a:srgbClr val="222222"/>
                </a:solidFill>
                <a:latin typeface="Arial Narrow" panose="020B0606020202030204" pitchFamily="34" charset="0"/>
              </a:rPr>
              <a:t>Sliding window frame</a:t>
            </a:r>
            <a:endParaRPr lang="ko-KR" altLang="en-US" sz="1600" i="1" dirty="0"/>
          </a:p>
        </p:txBody>
      </p:sp>
      <p:sp>
        <p:nvSpPr>
          <p:cNvPr id="9" name="TextBox 8">
            <a:extLst>
              <a:ext uri="{FF2B5EF4-FFF2-40B4-BE49-F238E27FC236}">
                <a16:creationId xmlns:a16="http://schemas.microsoft.com/office/drawing/2014/main" id="{2B09F2A6-8218-E9C4-1E8D-DD5FF4C653C7}"/>
              </a:ext>
            </a:extLst>
          </p:cNvPr>
          <p:cNvSpPr txBox="1"/>
          <p:nvPr/>
        </p:nvSpPr>
        <p:spPr>
          <a:xfrm>
            <a:off x="1336674" y="5016885"/>
            <a:ext cx="6289887" cy="1477328"/>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Dimensions: (# of samples, # of time steps , # of variables)</a:t>
            </a:r>
          </a:p>
          <a:p>
            <a:endParaRPr lang="en-US" altLang="ko-KR" dirty="0">
              <a:solidFill>
                <a:srgbClr val="222222"/>
              </a:solidFill>
              <a:latin typeface="Arial Narrow" panose="020B0606020202030204" pitchFamily="34" charset="0"/>
            </a:endParaRPr>
          </a:p>
          <a:p>
            <a:pPr lvl="1"/>
            <a:r>
              <a:rPr lang="en-US" altLang="ko-KR" sz="1800" dirty="0">
                <a:solidFill>
                  <a:srgbClr val="222222"/>
                </a:solidFill>
                <a:latin typeface="Arial Narrow" panose="020B0606020202030204" pitchFamily="34" charset="0"/>
              </a:rPr>
              <a:t># of samples </a:t>
            </a:r>
            <a:r>
              <a:rPr lang="en-US" altLang="ko-KR" dirty="0">
                <a:solidFill>
                  <a:srgbClr val="222222"/>
                </a:solidFill>
                <a:latin typeface="Arial Narrow" panose="020B0606020202030204" pitchFamily="34" charset="0"/>
              </a:rPr>
              <a:t>= </a:t>
            </a:r>
            <a:r>
              <a:rPr lang="en-US" altLang="ko-KR" sz="1800" dirty="0">
                <a:solidFill>
                  <a:srgbClr val="222222"/>
                </a:solidFill>
                <a:latin typeface="Arial Narrow" panose="020B0606020202030204" pitchFamily="34" charset="0"/>
              </a:rPr>
              <a:t># of windows</a:t>
            </a:r>
            <a:endParaRPr lang="en-US" altLang="ko-KR" dirty="0">
              <a:solidFill>
                <a:srgbClr val="222222"/>
              </a:solidFill>
              <a:latin typeface="Arial Narrow" panose="020B0606020202030204" pitchFamily="34" charset="0"/>
            </a:endParaRPr>
          </a:p>
          <a:p>
            <a:pPr lvl="1"/>
            <a:r>
              <a:rPr lang="en-US" altLang="ko-KR" dirty="0">
                <a:solidFill>
                  <a:srgbClr val="222222"/>
                </a:solidFill>
                <a:latin typeface="Arial Narrow" panose="020B0606020202030204" pitchFamily="34" charset="0"/>
              </a:rPr>
              <a:t># of </a:t>
            </a:r>
            <a:r>
              <a:rPr lang="en-US" altLang="ko-KR" sz="1800" dirty="0">
                <a:solidFill>
                  <a:srgbClr val="222222"/>
                </a:solidFill>
                <a:latin typeface="Arial Narrow" panose="020B0606020202030204" pitchFamily="34" charset="0"/>
              </a:rPr>
              <a:t>time steps</a:t>
            </a:r>
            <a:r>
              <a:rPr lang="en-US" altLang="ko-KR" dirty="0">
                <a:solidFill>
                  <a:srgbClr val="222222"/>
                </a:solidFill>
                <a:latin typeface="Arial Narrow" panose="020B0606020202030204" pitchFamily="34" charset="0"/>
              </a:rPr>
              <a:t> = window sizes</a:t>
            </a:r>
          </a:p>
          <a:p>
            <a:pPr lvl="1"/>
            <a:r>
              <a:rPr lang="en-US" altLang="ko-KR" dirty="0">
                <a:solidFill>
                  <a:srgbClr val="222222"/>
                </a:solidFill>
                <a:latin typeface="Arial Narrow" panose="020B0606020202030204" pitchFamily="34" charset="0"/>
              </a:rPr>
              <a:t># of </a:t>
            </a:r>
            <a:r>
              <a:rPr lang="en-US" altLang="ko-KR" sz="1800" dirty="0">
                <a:solidFill>
                  <a:srgbClr val="222222"/>
                </a:solidFill>
                <a:latin typeface="Arial Narrow" panose="020B0606020202030204" pitchFamily="34" charset="0"/>
              </a:rPr>
              <a:t>variables </a:t>
            </a:r>
            <a:r>
              <a:rPr lang="en-US" altLang="ko-KR" dirty="0">
                <a:solidFill>
                  <a:srgbClr val="222222"/>
                </a:solidFill>
                <a:latin typeface="Arial Narrow" panose="020B0606020202030204" pitchFamily="34" charset="0"/>
              </a:rPr>
              <a:t>= variable sizes</a:t>
            </a:r>
            <a:endParaRPr lang="ko-KR" altLang="en-US" dirty="0"/>
          </a:p>
        </p:txBody>
      </p:sp>
      <p:sp>
        <p:nvSpPr>
          <p:cNvPr id="12" name="직사각형 11">
            <a:extLst>
              <a:ext uri="{FF2B5EF4-FFF2-40B4-BE49-F238E27FC236}">
                <a16:creationId xmlns:a16="http://schemas.microsoft.com/office/drawing/2014/main" id="{33FAB5C7-4A51-5B50-D54E-3D33E7B64B44}"/>
              </a:ext>
            </a:extLst>
          </p:cNvPr>
          <p:cNvSpPr/>
          <p:nvPr/>
        </p:nvSpPr>
        <p:spPr>
          <a:xfrm>
            <a:off x="6461126" y="5643086"/>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970F40CE-106B-EDA2-EAFA-7FCE9D3243F4}"/>
              </a:ext>
            </a:extLst>
          </p:cNvPr>
          <p:cNvSpPr/>
          <p:nvPr/>
        </p:nvSpPr>
        <p:spPr>
          <a:xfrm>
            <a:off x="6524236" y="5575372"/>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93659775-F311-B0B4-9C89-C92AFD520D3A}"/>
              </a:ext>
            </a:extLst>
          </p:cNvPr>
          <p:cNvSpPr/>
          <p:nvPr/>
        </p:nvSpPr>
        <p:spPr>
          <a:xfrm>
            <a:off x="6587346" y="5507985"/>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직사각형 15">
            <a:extLst>
              <a:ext uri="{FF2B5EF4-FFF2-40B4-BE49-F238E27FC236}">
                <a16:creationId xmlns:a16="http://schemas.microsoft.com/office/drawing/2014/main" id="{BC8AD749-4006-F3BD-1008-AB2C09B16094}"/>
              </a:ext>
            </a:extLst>
          </p:cNvPr>
          <p:cNvSpPr/>
          <p:nvPr/>
        </p:nvSpPr>
        <p:spPr>
          <a:xfrm>
            <a:off x="6650456" y="5467350"/>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직사각형 16">
            <a:extLst>
              <a:ext uri="{FF2B5EF4-FFF2-40B4-BE49-F238E27FC236}">
                <a16:creationId xmlns:a16="http://schemas.microsoft.com/office/drawing/2014/main" id="{C44D0A37-1E2A-3213-79F9-CD479B50B0CD}"/>
              </a:ext>
            </a:extLst>
          </p:cNvPr>
          <p:cNvSpPr/>
          <p:nvPr/>
        </p:nvSpPr>
        <p:spPr>
          <a:xfrm>
            <a:off x="6712161" y="5404077"/>
            <a:ext cx="914400" cy="914400"/>
          </a:xfrm>
          <a:prstGeom prst="rect">
            <a:avLst/>
          </a:prstGeom>
          <a:solidFill>
            <a:schemeClr val="tx1">
              <a:alpha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1" name="직선 화살표 연결선 30">
            <a:extLst>
              <a:ext uri="{FF2B5EF4-FFF2-40B4-BE49-F238E27FC236}">
                <a16:creationId xmlns:a16="http://schemas.microsoft.com/office/drawing/2014/main" id="{B4279FEB-E70D-47E1-6563-8A10142B5C2B}"/>
              </a:ext>
            </a:extLst>
          </p:cNvPr>
          <p:cNvCxnSpPr>
            <a:cxnSpLocks/>
          </p:cNvCxnSpPr>
          <p:nvPr/>
        </p:nvCxnSpPr>
        <p:spPr>
          <a:xfrm>
            <a:off x="6745185" y="5321300"/>
            <a:ext cx="88902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직선 화살표 연결선 32">
            <a:extLst>
              <a:ext uri="{FF2B5EF4-FFF2-40B4-BE49-F238E27FC236}">
                <a16:creationId xmlns:a16="http://schemas.microsoft.com/office/drawing/2014/main" id="{81161C3E-CCD9-675D-3CD1-8644B4795150}"/>
              </a:ext>
            </a:extLst>
          </p:cNvPr>
          <p:cNvCxnSpPr>
            <a:cxnSpLocks/>
          </p:cNvCxnSpPr>
          <p:nvPr/>
        </p:nvCxnSpPr>
        <p:spPr>
          <a:xfrm flipV="1">
            <a:off x="7718036" y="5404077"/>
            <a:ext cx="0" cy="7935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직선 화살표 연결선 34">
            <a:extLst>
              <a:ext uri="{FF2B5EF4-FFF2-40B4-BE49-F238E27FC236}">
                <a16:creationId xmlns:a16="http://schemas.microsoft.com/office/drawing/2014/main" id="{44A0B5A1-7019-1351-7BC4-F05F34FDE4E1}"/>
              </a:ext>
            </a:extLst>
          </p:cNvPr>
          <p:cNvCxnSpPr>
            <a:cxnSpLocks/>
          </p:cNvCxnSpPr>
          <p:nvPr/>
        </p:nvCxnSpPr>
        <p:spPr>
          <a:xfrm flipV="1">
            <a:off x="7401317" y="6318477"/>
            <a:ext cx="332983" cy="2839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C2423CA4-50C3-3DC8-F36A-84E765A533D9}"/>
              </a:ext>
            </a:extLst>
          </p:cNvPr>
          <p:cNvSpPr txBox="1"/>
          <p:nvPr/>
        </p:nvSpPr>
        <p:spPr>
          <a:xfrm>
            <a:off x="6819603" y="5043776"/>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Time steps</a:t>
            </a:r>
            <a:endParaRPr lang="ko-KR" altLang="en-US" sz="1200" b="1" dirty="0"/>
          </a:p>
        </p:txBody>
      </p:sp>
      <p:sp>
        <p:nvSpPr>
          <p:cNvPr id="44" name="TextBox 43">
            <a:extLst>
              <a:ext uri="{FF2B5EF4-FFF2-40B4-BE49-F238E27FC236}">
                <a16:creationId xmlns:a16="http://schemas.microsoft.com/office/drawing/2014/main" id="{60EA76C1-B192-6FF3-2455-67421D15640F}"/>
              </a:ext>
            </a:extLst>
          </p:cNvPr>
          <p:cNvSpPr txBox="1"/>
          <p:nvPr/>
        </p:nvSpPr>
        <p:spPr>
          <a:xfrm rot="5400000">
            <a:off x="7400418" y="5755497"/>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Variables</a:t>
            </a:r>
            <a:endParaRPr lang="ko-KR" altLang="en-US" sz="1200" b="1" dirty="0"/>
          </a:p>
        </p:txBody>
      </p:sp>
      <p:sp>
        <p:nvSpPr>
          <p:cNvPr id="45" name="TextBox 44">
            <a:extLst>
              <a:ext uri="{FF2B5EF4-FFF2-40B4-BE49-F238E27FC236}">
                <a16:creationId xmlns:a16="http://schemas.microsoft.com/office/drawing/2014/main" id="{196526F0-224C-776C-233D-350A9855108F}"/>
              </a:ext>
            </a:extLst>
          </p:cNvPr>
          <p:cNvSpPr txBox="1"/>
          <p:nvPr/>
        </p:nvSpPr>
        <p:spPr>
          <a:xfrm rot="19077183">
            <a:off x="7291689" y="6340385"/>
            <a:ext cx="852695" cy="276999"/>
          </a:xfrm>
          <a:prstGeom prst="rect">
            <a:avLst/>
          </a:prstGeom>
          <a:noFill/>
        </p:spPr>
        <p:txBody>
          <a:bodyPr wrap="square">
            <a:spAutoFit/>
          </a:bodyPr>
          <a:lstStyle/>
          <a:p>
            <a:r>
              <a:rPr lang="en-US" altLang="ko-KR" sz="1200" b="1" dirty="0">
                <a:solidFill>
                  <a:srgbClr val="222222"/>
                </a:solidFill>
                <a:latin typeface="Arial Narrow" panose="020B0606020202030204" pitchFamily="34" charset="0"/>
              </a:rPr>
              <a:t>sample </a:t>
            </a:r>
            <a:endParaRPr lang="ko-KR" altLang="en-US" sz="1200" b="1" dirty="0"/>
          </a:p>
        </p:txBody>
      </p:sp>
    </p:spTree>
    <p:extLst>
      <p:ext uri="{BB962C8B-B14F-4D97-AF65-F5344CB8AC3E}">
        <p14:creationId xmlns:p14="http://schemas.microsoft.com/office/powerpoint/2010/main" val="35762762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308693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How to compose time series data in the form of a sliding window frame.</a:t>
            </a:r>
          </a:p>
          <a:p>
            <a:pPr marL="741600" lvl="1" indent="-284400">
              <a:lnSpc>
                <a:spcPct val="150000"/>
              </a:lnSpc>
              <a:buFont typeface="Arial" panose="020B0604020202020204" pitchFamily="34" charset="0"/>
              <a:buChar char="•"/>
            </a:pPr>
            <a:r>
              <a:rPr lang="en-US" altLang="ko-KR" sz="1800" dirty="0">
                <a:solidFill>
                  <a:srgbClr val="222222"/>
                </a:solidFill>
                <a:latin typeface="Arial Narrow" panose="020B0606020202030204" pitchFamily="34" charset="0"/>
              </a:rPr>
              <a:t>By using </a:t>
            </a:r>
            <a:r>
              <a:rPr lang="en-US" altLang="ko-KR" sz="1800" dirty="0" err="1">
                <a:solidFill>
                  <a:srgbClr val="222222"/>
                </a:solidFill>
                <a:latin typeface="Arial Narrow" panose="020B0606020202030204" pitchFamily="34" charset="0"/>
              </a:rPr>
              <a:t>tf.signal.frame</a:t>
            </a:r>
            <a:r>
              <a:rPr lang="en-US" altLang="ko-KR" sz="1800" dirty="0">
                <a:solidFill>
                  <a:srgbClr val="222222"/>
                </a:solidFill>
                <a:latin typeface="Arial Narrow" panose="020B0606020202030204" pitchFamily="34" charset="0"/>
              </a:rPr>
              <a:t>, data can be composed in the form of a sliding window frame.</a:t>
            </a:r>
          </a:p>
          <a:p>
            <a:pPr marL="741600" lvl="1" indent="-284400">
              <a:lnSpc>
                <a:spcPct val="150000"/>
              </a:lnSpc>
              <a:buFont typeface="Arial" panose="020B0604020202020204" pitchFamily="34" charset="0"/>
              <a:buChar char="•"/>
            </a:pPr>
            <a:endParaRPr lang="en-US" altLang="ko-KR" dirty="0">
              <a:solidFill>
                <a:srgbClr val="222222"/>
              </a:solidFill>
              <a:latin typeface="Arial Narrow" panose="020B0606020202030204" pitchFamily="34" charset="0"/>
            </a:endParaRPr>
          </a:p>
          <a:p>
            <a:pPr marL="741600" lvl="1" indent="-284400">
              <a:lnSpc>
                <a:spcPct val="150000"/>
              </a:lnSpc>
              <a:buFont typeface="Arial" panose="020B0604020202020204" pitchFamily="34" charset="0"/>
              <a:buChar char="•"/>
            </a:pPr>
            <a:r>
              <a:rPr lang="en-US" altLang="ko-KR" dirty="0" err="1">
                <a:solidFill>
                  <a:srgbClr val="222222"/>
                </a:solidFill>
                <a:latin typeface="Arial Narrow" panose="020B0606020202030204" pitchFamily="34" charset="0"/>
              </a:rPr>
              <a:t>tf.</a:t>
            </a:r>
            <a:r>
              <a:rPr lang="en-US" altLang="ko-KR" dirty="0" err="1">
                <a:solidFill>
                  <a:schemeClr val="accent5"/>
                </a:solidFill>
                <a:latin typeface="Arial Narrow" panose="020B0606020202030204" pitchFamily="34" charset="0"/>
              </a:rPr>
              <a:t>signal</a:t>
            </a:r>
            <a:r>
              <a:rPr lang="en-US" altLang="ko-KR" dirty="0" err="1">
                <a:solidFill>
                  <a:srgbClr val="222222"/>
                </a:solidFill>
                <a:latin typeface="Arial Narrow" panose="020B0606020202030204" pitchFamily="34" charset="0"/>
              </a:rPr>
              <a:t>.</a:t>
            </a:r>
            <a:r>
              <a:rPr lang="en-US" altLang="ko-KR" dirty="0" err="1">
                <a:solidFill>
                  <a:schemeClr val="accent5"/>
                </a:solidFill>
                <a:latin typeface="Arial Narrow" panose="020B0606020202030204" pitchFamily="34" charset="0"/>
              </a:rPr>
              <a:t>frame</a:t>
            </a:r>
            <a:r>
              <a:rPr lang="en-US" altLang="ko-KR" dirty="0">
                <a:solidFill>
                  <a:srgbClr val="222222"/>
                </a:solidFill>
                <a:latin typeface="Arial Narrow" panose="020B0606020202030204" pitchFamily="34" charset="0"/>
              </a:rPr>
              <a:t>(data, </a:t>
            </a:r>
            <a:r>
              <a:rPr lang="en-US" altLang="ko-KR" dirty="0" err="1">
                <a:solidFill>
                  <a:srgbClr val="222222"/>
                </a:solidFill>
                <a:latin typeface="Arial Narrow" panose="020B0606020202030204" pitchFamily="34" charset="0"/>
              </a:rPr>
              <a:t>frame_length</a:t>
            </a:r>
            <a:r>
              <a:rPr lang="en-US" altLang="ko-KR" dirty="0">
                <a:solidFill>
                  <a:srgbClr val="222222"/>
                </a:solidFill>
                <a:latin typeface="Arial Narrow" panose="020B0606020202030204" pitchFamily="34" charset="0"/>
              </a:rPr>
              <a:t>, </a:t>
            </a:r>
            <a:r>
              <a:rPr lang="en-US" altLang="ko-KR" dirty="0" err="1">
                <a:solidFill>
                  <a:srgbClr val="222222"/>
                </a:solidFill>
                <a:latin typeface="Arial Narrow" panose="020B0606020202030204" pitchFamily="34" charset="0"/>
              </a:rPr>
              <a:t>frame_step</a:t>
            </a:r>
            <a:r>
              <a:rPr lang="en-US" altLang="ko-KR" dirty="0">
                <a:solidFill>
                  <a:srgbClr val="222222"/>
                </a:solidFill>
                <a:latin typeface="Arial Narrow" panose="020B0606020202030204" pitchFamily="34" charset="0"/>
              </a:rPr>
              <a:t>)</a:t>
            </a:r>
          </a:p>
          <a:p>
            <a:pPr marL="1198800" lvl="2" indent="-284400">
              <a:lnSpc>
                <a:spcPct val="150000"/>
              </a:lnSpc>
              <a:buFont typeface="Arial" panose="020B0604020202020204" pitchFamily="34" charset="0"/>
              <a:buChar char="•"/>
            </a:pPr>
            <a:r>
              <a:rPr lang="en-US" altLang="ko-KR" dirty="0" err="1">
                <a:solidFill>
                  <a:srgbClr val="222222"/>
                </a:solidFill>
                <a:latin typeface="Arial Narrow" panose="020B0606020202030204" pitchFamily="34" charset="0"/>
              </a:rPr>
              <a:t>frame_length</a:t>
            </a:r>
            <a:r>
              <a:rPr lang="en-US" altLang="ko-KR" dirty="0">
                <a:solidFill>
                  <a:srgbClr val="222222"/>
                </a:solidFill>
                <a:latin typeface="Arial Narrow" panose="020B0606020202030204" pitchFamily="34" charset="0"/>
              </a:rPr>
              <a:t>: window size</a:t>
            </a:r>
          </a:p>
          <a:p>
            <a:pPr marL="1198800" lvl="2" indent="-284400">
              <a:lnSpc>
                <a:spcPct val="150000"/>
              </a:lnSpc>
              <a:buFont typeface="Arial" panose="020B0604020202020204" pitchFamily="34" charset="0"/>
              <a:buChar char="•"/>
            </a:pPr>
            <a:r>
              <a:rPr lang="en-US" altLang="ko-KR" dirty="0" err="1">
                <a:solidFill>
                  <a:srgbClr val="222222"/>
                </a:solidFill>
                <a:latin typeface="Arial Narrow" panose="020B0606020202030204" pitchFamily="34" charset="0"/>
              </a:rPr>
              <a:t>frame_step</a:t>
            </a:r>
            <a:r>
              <a:rPr lang="en-US" altLang="ko-KR" dirty="0">
                <a:solidFill>
                  <a:srgbClr val="222222"/>
                </a:solidFill>
                <a:latin typeface="Arial Narrow" panose="020B0606020202030204" pitchFamily="34" charset="0"/>
              </a:rPr>
              <a:t>: stride</a:t>
            </a:r>
          </a:p>
          <a:p>
            <a:pPr marL="741600" lvl="1" indent="-284400">
              <a:lnSpc>
                <a:spcPct val="150000"/>
              </a:lnSpc>
              <a:buFont typeface="Arial" panose="020B0604020202020204" pitchFamily="34" charset="0"/>
              <a:buChar char="•"/>
            </a:pPr>
            <a:endParaRPr lang="en-US" altLang="ko-KR" sz="1800"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sp>
        <p:nvSpPr>
          <p:cNvPr id="7" name="TextBox 6">
            <a:extLst>
              <a:ext uri="{FF2B5EF4-FFF2-40B4-BE49-F238E27FC236}">
                <a16:creationId xmlns:a16="http://schemas.microsoft.com/office/drawing/2014/main" id="{3A981397-94FD-D47C-1A84-CF58E13DF550}"/>
              </a:ext>
            </a:extLst>
          </p:cNvPr>
          <p:cNvSpPr txBox="1"/>
          <p:nvPr/>
        </p:nvSpPr>
        <p:spPr>
          <a:xfrm>
            <a:off x="2193090" y="4507944"/>
            <a:ext cx="4572000" cy="923330"/>
          </a:xfrm>
          <a:prstGeom prst="rect">
            <a:avLst/>
          </a:prstGeom>
          <a:noFill/>
        </p:spPr>
        <p:txBody>
          <a:bodyPr wrap="square">
            <a:spAutoFit/>
          </a:bodyPr>
          <a:lstStyle/>
          <a:p>
            <a:r>
              <a:rPr lang="en-US" altLang="ko-KR" dirty="0">
                <a:hlinkClick r:id="rId3"/>
              </a:rPr>
              <a:t>https://colab.research.google.com/github/JunetaeKim/DeepLearningClass/blob/main/Week13/</a:t>
            </a:r>
            <a:r>
              <a:rPr lang="en-US" altLang="ko-KR" b="0" i="0" u="none" strike="noStrike" dirty="0">
                <a:effectLst/>
                <a:latin typeface="-apple-system"/>
                <a:hlinkClick r:id="rId3"/>
              </a:rPr>
              <a:t>SlidingWindow</a:t>
            </a:r>
            <a:r>
              <a:rPr lang="en-US" altLang="ko-KR" dirty="0">
                <a:hlinkClick r:id="rId3"/>
              </a:rPr>
              <a:t>.ipynb</a:t>
            </a:r>
            <a:endParaRPr lang="ko-KR" altLang="en-US" dirty="0"/>
          </a:p>
        </p:txBody>
      </p:sp>
    </p:spTree>
    <p:extLst>
      <p:ext uri="{BB962C8B-B14F-4D97-AF65-F5344CB8AC3E}">
        <p14:creationId xmlns:p14="http://schemas.microsoft.com/office/powerpoint/2010/main" val="5479667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742077" cy="1424942"/>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sequential data</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Sequential data refers to any data that contain elements that are ordered into sequences.</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Examples: DNA sequences and Natural languages. </a:t>
            </a:r>
            <a:endParaRPr lang="en-US" altLang="ko-KR" sz="1600"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pic>
        <p:nvPicPr>
          <p:cNvPr id="2" name="Picture 2" descr="5,457 Gene Sequence Stock Photos, Pictures &amp; Royalty-Free Images - iStock">
            <a:extLst>
              <a:ext uri="{FF2B5EF4-FFF2-40B4-BE49-F238E27FC236}">
                <a16:creationId xmlns:a16="http://schemas.microsoft.com/office/drawing/2014/main" id="{CCEE8982-8948-2BBC-8BCB-88E7E7FBE1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2168"/>
          <a:stretch/>
        </p:blipFill>
        <p:spPr bwMode="auto">
          <a:xfrm>
            <a:off x="812800" y="3239829"/>
            <a:ext cx="3294699" cy="194812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E3F4CF6-9B0E-DC33-025B-D32A9448886E}"/>
              </a:ext>
            </a:extLst>
          </p:cNvPr>
          <p:cNvSpPr txBox="1"/>
          <p:nvPr/>
        </p:nvSpPr>
        <p:spPr>
          <a:xfrm>
            <a:off x="1587500" y="5181600"/>
            <a:ext cx="1644650" cy="369332"/>
          </a:xfrm>
          <a:prstGeom prst="rect">
            <a:avLst/>
          </a:prstGeom>
          <a:noFill/>
        </p:spPr>
        <p:txBody>
          <a:bodyPr wrap="square">
            <a:spAutoFit/>
          </a:bodyPr>
          <a:lstStyle/>
          <a:p>
            <a:r>
              <a:rPr lang="en-US" altLang="ko-KR" dirty="0"/>
              <a:t>DNA sequences </a:t>
            </a:r>
            <a:endParaRPr lang="ko-KR" altLang="en-US" dirty="0"/>
          </a:p>
        </p:txBody>
      </p:sp>
      <p:pic>
        <p:nvPicPr>
          <p:cNvPr id="15" name="그림 14">
            <a:extLst>
              <a:ext uri="{FF2B5EF4-FFF2-40B4-BE49-F238E27FC236}">
                <a16:creationId xmlns:a16="http://schemas.microsoft.com/office/drawing/2014/main" id="{EB7A2077-8CEC-20B8-25B9-FC8F0516BA9B}"/>
              </a:ext>
            </a:extLst>
          </p:cNvPr>
          <p:cNvPicPr>
            <a:picLocks noChangeAspect="1"/>
          </p:cNvPicPr>
          <p:nvPr/>
        </p:nvPicPr>
        <p:blipFill>
          <a:blip r:embed="rId4"/>
          <a:stretch>
            <a:fillRect/>
          </a:stretch>
        </p:blipFill>
        <p:spPr>
          <a:xfrm>
            <a:off x="5334001" y="3049779"/>
            <a:ext cx="2571749" cy="2183161"/>
          </a:xfrm>
          <a:prstGeom prst="rect">
            <a:avLst/>
          </a:prstGeom>
        </p:spPr>
      </p:pic>
      <p:sp>
        <p:nvSpPr>
          <p:cNvPr id="17" name="TextBox 16">
            <a:extLst>
              <a:ext uri="{FF2B5EF4-FFF2-40B4-BE49-F238E27FC236}">
                <a16:creationId xmlns:a16="http://schemas.microsoft.com/office/drawing/2014/main" id="{8F1DA814-4150-E532-D475-FBCD706B3D38}"/>
              </a:ext>
            </a:extLst>
          </p:cNvPr>
          <p:cNvSpPr txBox="1"/>
          <p:nvPr/>
        </p:nvSpPr>
        <p:spPr>
          <a:xfrm>
            <a:off x="5848350" y="5221272"/>
            <a:ext cx="1790701" cy="369332"/>
          </a:xfrm>
          <a:prstGeom prst="rect">
            <a:avLst/>
          </a:prstGeom>
          <a:noFill/>
        </p:spPr>
        <p:txBody>
          <a:bodyPr wrap="square">
            <a:spAutoFit/>
          </a:bodyPr>
          <a:lstStyle/>
          <a:p>
            <a:r>
              <a:rPr lang="en-US" altLang="ko-KR" dirty="0">
                <a:solidFill>
                  <a:srgbClr val="222222"/>
                </a:solidFill>
                <a:latin typeface="Arial Narrow" panose="020B0606020202030204" pitchFamily="34" charset="0"/>
              </a:rPr>
              <a:t>Natural languages</a:t>
            </a:r>
            <a:endParaRPr lang="ko-KR" altLang="en-US" dirty="0"/>
          </a:p>
        </p:txBody>
      </p:sp>
    </p:spTree>
    <p:extLst>
      <p:ext uri="{BB962C8B-B14F-4D97-AF65-F5344CB8AC3E}">
        <p14:creationId xmlns:p14="http://schemas.microsoft.com/office/powerpoint/2010/main" val="8564734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742077" cy="100944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Understanding dimensions of sequential data</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Sequential </a:t>
            </a:r>
            <a:r>
              <a:rPr lang="en-US" altLang="ko-KR" sz="1800" dirty="0">
                <a:solidFill>
                  <a:srgbClr val="222222"/>
                </a:solidFill>
                <a:latin typeface="Arial Narrow" panose="020B0606020202030204" pitchFamily="34" charset="0"/>
              </a:rPr>
              <a:t>data may consist of 1 or 2 dimensions</a:t>
            </a:r>
            <a:r>
              <a:rPr lang="en-US" altLang="ko-KR" dirty="0">
                <a:solidFill>
                  <a:srgbClr val="222222"/>
                </a:solidFill>
                <a:latin typeface="Arial Narrow" panose="020B0606020202030204" pitchFamily="34" charset="0"/>
              </a:rPr>
              <a:t>, how? </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graphicFrame>
        <p:nvGraphicFramePr>
          <p:cNvPr id="2" name="표 1">
            <a:extLst>
              <a:ext uri="{FF2B5EF4-FFF2-40B4-BE49-F238E27FC236}">
                <a16:creationId xmlns:a16="http://schemas.microsoft.com/office/drawing/2014/main" id="{F7CDE52D-925B-9D84-A83A-C1DCDB00A725}"/>
              </a:ext>
            </a:extLst>
          </p:cNvPr>
          <p:cNvGraphicFramePr>
            <a:graphicFrameLocks noGrp="1"/>
          </p:cNvGraphicFramePr>
          <p:nvPr>
            <p:extLst>
              <p:ext uri="{D42A27DB-BD31-4B8C-83A1-F6EECF244321}">
                <p14:modId xmlns:p14="http://schemas.microsoft.com/office/powerpoint/2010/main" val="2905000820"/>
              </p:ext>
            </p:extLst>
          </p:nvPr>
        </p:nvGraphicFramePr>
        <p:xfrm>
          <a:off x="1023985" y="2910231"/>
          <a:ext cx="685800" cy="2005965"/>
        </p:xfrm>
        <a:graphic>
          <a:graphicData uri="http://schemas.openxmlformats.org/drawingml/2006/table">
            <a:tbl>
              <a:tblPr>
                <a:tableStyleId>{5940675A-B579-460E-94D1-54222C63F5DA}</a:tableStyleId>
              </a:tblPr>
              <a:tblGrid>
                <a:gridCol w="685800">
                  <a:extLst>
                    <a:ext uri="{9D8B030D-6E8A-4147-A177-3AD203B41FA5}">
                      <a16:colId xmlns:a16="http://schemas.microsoft.com/office/drawing/2014/main" val="3852429648"/>
                    </a:ext>
                  </a:extLst>
                </a:gridCol>
              </a:tblGrid>
              <a:tr h="209550">
                <a:tc>
                  <a:txBody>
                    <a:bodyPr/>
                    <a:lstStyle/>
                    <a:p>
                      <a:pPr algn="ctr" fontAlgn="ctr"/>
                      <a:r>
                        <a:rPr lang="en-US" sz="1400" u="none" strike="noStrike" dirty="0">
                          <a:effectLst/>
                        </a:rPr>
                        <a:t>A</a:t>
                      </a:r>
                      <a:endParaRPr 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1074154816"/>
                  </a:ext>
                </a:extLst>
              </a:tr>
              <a:tr h="209550">
                <a:tc>
                  <a:txBody>
                    <a:bodyPr/>
                    <a:lstStyle/>
                    <a:p>
                      <a:pPr algn="ctr" fontAlgn="ctr"/>
                      <a:r>
                        <a:rPr lang="en-US" sz="1400" u="none" strike="noStrike">
                          <a:effectLst/>
                        </a:rPr>
                        <a:t>B</a:t>
                      </a:r>
                      <a:endParaRPr lang="en-US"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3133875431"/>
                  </a:ext>
                </a:extLst>
              </a:tr>
              <a:tr h="209550">
                <a:tc>
                  <a:txBody>
                    <a:bodyPr/>
                    <a:lstStyle/>
                    <a:p>
                      <a:pPr algn="ctr" fontAlgn="ctr"/>
                      <a:r>
                        <a:rPr lang="en-US" sz="1400" u="none" strike="noStrike">
                          <a:effectLst/>
                        </a:rPr>
                        <a:t>C</a:t>
                      </a:r>
                      <a:endParaRPr lang="en-US"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2941788852"/>
                  </a:ext>
                </a:extLst>
              </a:tr>
              <a:tr h="209550">
                <a:tc>
                  <a:txBody>
                    <a:bodyPr/>
                    <a:lstStyle/>
                    <a:p>
                      <a:pPr algn="ctr" fontAlgn="ctr"/>
                      <a:r>
                        <a:rPr lang="en-US" sz="1400" u="none" strike="noStrike">
                          <a:effectLst/>
                        </a:rPr>
                        <a:t>D</a:t>
                      </a:r>
                      <a:endParaRPr lang="en-US"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3787312714"/>
                  </a:ext>
                </a:extLst>
              </a:tr>
              <a:tr h="209550">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6291066"/>
                  </a:ext>
                </a:extLst>
              </a:tr>
              <a:tr h="209550">
                <a:tc>
                  <a:txBody>
                    <a:bodyPr/>
                    <a:lstStyle/>
                    <a:p>
                      <a:pPr algn="ctr" fontAlgn="ctr"/>
                      <a:r>
                        <a:rPr lang="en-US" sz="1400" u="none" strike="noStrike">
                          <a:effectLst/>
                        </a:rPr>
                        <a:t>W</a:t>
                      </a:r>
                      <a:endParaRPr lang="en-US"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3265814766"/>
                  </a:ext>
                </a:extLst>
              </a:tr>
              <a:tr h="209550">
                <a:tc>
                  <a:txBody>
                    <a:bodyPr/>
                    <a:lstStyle/>
                    <a:p>
                      <a:pPr algn="ctr" fontAlgn="ctr"/>
                      <a:r>
                        <a:rPr lang="en-US" sz="1400" u="none" strike="noStrike">
                          <a:effectLst/>
                        </a:rPr>
                        <a:t>X</a:t>
                      </a:r>
                      <a:endParaRPr lang="en-US"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1616393307"/>
                  </a:ext>
                </a:extLst>
              </a:tr>
              <a:tr h="209550">
                <a:tc>
                  <a:txBody>
                    <a:bodyPr/>
                    <a:lstStyle/>
                    <a:p>
                      <a:pPr algn="ctr" fontAlgn="ctr"/>
                      <a:r>
                        <a:rPr lang="en-US" sz="1400" u="none" strike="noStrike">
                          <a:effectLst/>
                        </a:rPr>
                        <a:t>Y</a:t>
                      </a:r>
                      <a:endParaRPr lang="en-US"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986528613"/>
                  </a:ext>
                </a:extLst>
              </a:tr>
              <a:tr h="209550">
                <a:tc>
                  <a:txBody>
                    <a:bodyPr/>
                    <a:lstStyle/>
                    <a:p>
                      <a:pPr algn="ctr" fontAlgn="ctr"/>
                      <a:r>
                        <a:rPr lang="en-US" sz="1400" u="none" strike="noStrike" dirty="0">
                          <a:effectLst/>
                        </a:rPr>
                        <a:t>Z</a:t>
                      </a:r>
                      <a:endParaRPr 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466592564"/>
                  </a:ext>
                </a:extLst>
              </a:tr>
            </a:tbl>
          </a:graphicData>
        </a:graphic>
      </p:graphicFrame>
      <p:sp>
        <p:nvSpPr>
          <p:cNvPr id="5" name="TextBox 4">
            <a:extLst>
              <a:ext uri="{FF2B5EF4-FFF2-40B4-BE49-F238E27FC236}">
                <a16:creationId xmlns:a16="http://schemas.microsoft.com/office/drawing/2014/main" id="{34A95148-39E1-33CC-AC2E-2A262B6E31BA}"/>
              </a:ext>
            </a:extLst>
          </p:cNvPr>
          <p:cNvSpPr txBox="1"/>
          <p:nvPr/>
        </p:nvSpPr>
        <p:spPr>
          <a:xfrm>
            <a:off x="1161263" y="5029027"/>
            <a:ext cx="548522"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1D</a:t>
            </a:r>
            <a:endParaRPr lang="ko-KR" altLang="en-US" dirty="0"/>
          </a:p>
        </p:txBody>
      </p:sp>
      <p:graphicFrame>
        <p:nvGraphicFramePr>
          <p:cNvPr id="8" name="표 7">
            <a:extLst>
              <a:ext uri="{FF2B5EF4-FFF2-40B4-BE49-F238E27FC236}">
                <a16:creationId xmlns:a16="http://schemas.microsoft.com/office/drawing/2014/main" id="{78F75838-9FC3-C2DA-E8AE-47D6388CF6E6}"/>
              </a:ext>
            </a:extLst>
          </p:cNvPr>
          <p:cNvGraphicFramePr>
            <a:graphicFrameLocks noGrp="1"/>
          </p:cNvGraphicFramePr>
          <p:nvPr>
            <p:extLst>
              <p:ext uri="{D42A27DB-BD31-4B8C-83A1-F6EECF244321}">
                <p14:modId xmlns:p14="http://schemas.microsoft.com/office/powerpoint/2010/main" val="1902054030"/>
              </p:ext>
            </p:extLst>
          </p:nvPr>
        </p:nvGraphicFramePr>
        <p:xfrm>
          <a:off x="2386261" y="2910231"/>
          <a:ext cx="6172200" cy="2005965"/>
        </p:xfrm>
        <a:graphic>
          <a:graphicData uri="http://schemas.openxmlformats.org/drawingml/2006/table">
            <a:tbl>
              <a:tblPr>
                <a:tableStyleId>{5940675A-B579-460E-94D1-54222C63F5DA}</a:tableStyleId>
              </a:tblPr>
              <a:tblGrid>
                <a:gridCol w="685800">
                  <a:extLst>
                    <a:ext uri="{9D8B030D-6E8A-4147-A177-3AD203B41FA5}">
                      <a16:colId xmlns:a16="http://schemas.microsoft.com/office/drawing/2014/main" val="1064090831"/>
                    </a:ext>
                  </a:extLst>
                </a:gridCol>
                <a:gridCol w="685800">
                  <a:extLst>
                    <a:ext uri="{9D8B030D-6E8A-4147-A177-3AD203B41FA5}">
                      <a16:colId xmlns:a16="http://schemas.microsoft.com/office/drawing/2014/main" val="3909596300"/>
                    </a:ext>
                  </a:extLst>
                </a:gridCol>
                <a:gridCol w="685800">
                  <a:extLst>
                    <a:ext uri="{9D8B030D-6E8A-4147-A177-3AD203B41FA5}">
                      <a16:colId xmlns:a16="http://schemas.microsoft.com/office/drawing/2014/main" val="3206189916"/>
                    </a:ext>
                  </a:extLst>
                </a:gridCol>
                <a:gridCol w="685800">
                  <a:extLst>
                    <a:ext uri="{9D8B030D-6E8A-4147-A177-3AD203B41FA5}">
                      <a16:colId xmlns:a16="http://schemas.microsoft.com/office/drawing/2014/main" val="3676330020"/>
                    </a:ext>
                  </a:extLst>
                </a:gridCol>
                <a:gridCol w="685800">
                  <a:extLst>
                    <a:ext uri="{9D8B030D-6E8A-4147-A177-3AD203B41FA5}">
                      <a16:colId xmlns:a16="http://schemas.microsoft.com/office/drawing/2014/main" val="2374183000"/>
                    </a:ext>
                  </a:extLst>
                </a:gridCol>
                <a:gridCol w="685800">
                  <a:extLst>
                    <a:ext uri="{9D8B030D-6E8A-4147-A177-3AD203B41FA5}">
                      <a16:colId xmlns:a16="http://schemas.microsoft.com/office/drawing/2014/main" val="2596404451"/>
                    </a:ext>
                  </a:extLst>
                </a:gridCol>
                <a:gridCol w="685800">
                  <a:extLst>
                    <a:ext uri="{9D8B030D-6E8A-4147-A177-3AD203B41FA5}">
                      <a16:colId xmlns:a16="http://schemas.microsoft.com/office/drawing/2014/main" val="3454540681"/>
                    </a:ext>
                  </a:extLst>
                </a:gridCol>
                <a:gridCol w="685800">
                  <a:extLst>
                    <a:ext uri="{9D8B030D-6E8A-4147-A177-3AD203B41FA5}">
                      <a16:colId xmlns:a16="http://schemas.microsoft.com/office/drawing/2014/main" val="3086564382"/>
                    </a:ext>
                  </a:extLst>
                </a:gridCol>
                <a:gridCol w="685800">
                  <a:extLst>
                    <a:ext uri="{9D8B030D-6E8A-4147-A177-3AD203B41FA5}">
                      <a16:colId xmlns:a16="http://schemas.microsoft.com/office/drawing/2014/main" val="2062054051"/>
                    </a:ext>
                  </a:extLst>
                </a:gridCol>
              </a:tblGrid>
              <a:tr h="209550">
                <a:tc>
                  <a:txBody>
                    <a:bodyPr/>
                    <a:lstStyle/>
                    <a:p>
                      <a:pPr algn="ctr" fontAlgn="ctr"/>
                      <a:r>
                        <a:rPr lang="en-US" altLang="ko-KR" sz="1400" u="none" strike="noStrike" dirty="0">
                          <a:effectLst/>
                        </a:rPr>
                        <a:t>1</a:t>
                      </a:r>
                      <a:endParaRPr lang="en-US" altLang="ko-KR"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3575580598"/>
                  </a:ext>
                </a:extLst>
              </a:tr>
              <a:tr h="209550">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1</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1671777821"/>
                  </a:ext>
                </a:extLst>
              </a:tr>
              <a:tr h="209550">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1</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2000124242"/>
                  </a:ext>
                </a:extLst>
              </a:tr>
              <a:tr h="209550">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1</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2795794297"/>
                  </a:ext>
                </a:extLst>
              </a:tr>
              <a:tr h="209550">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1986253476"/>
                  </a:ext>
                </a:extLst>
              </a:tr>
              <a:tr h="209550">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1</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2805133717"/>
                  </a:ext>
                </a:extLst>
              </a:tr>
              <a:tr h="209550">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1</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563001580"/>
                  </a:ext>
                </a:extLst>
              </a:tr>
              <a:tr h="209550">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1</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2576549648"/>
                  </a:ext>
                </a:extLst>
              </a:tr>
              <a:tr h="209550">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a:effectLst/>
                        </a:rPr>
                        <a:t>0</a:t>
                      </a:r>
                      <a:endParaRPr lang="en-US" altLang="ko-KR" sz="14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ctr" fontAlgn="ctr"/>
                      <a:r>
                        <a:rPr lang="en-US" altLang="ko-KR" sz="1400" u="none" strike="noStrike" dirty="0">
                          <a:effectLst/>
                        </a:rPr>
                        <a:t>1</a:t>
                      </a:r>
                      <a:endParaRPr lang="en-US" altLang="ko-KR"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3297889918"/>
                  </a:ext>
                </a:extLst>
              </a:tr>
            </a:tbl>
          </a:graphicData>
        </a:graphic>
      </p:graphicFrame>
      <p:sp>
        <p:nvSpPr>
          <p:cNvPr id="9" name="TextBox 8">
            <a:extLst>
              <a:ext uri="{FF2B5EF4-FFF2-40B4-BE49-F238E27FC236}">
                <a16:creationId xmlns:a16="http://schemas.microsoft.com/office/drawing/2014/main" id="{B03123F3-4E57-F41B-381C-B4BBEA056BCE}"/>
              </a:ext>
            </a:extLst>
          </p:cNvPr>
          <p:cNvSpPr txBox="1"/>
          <p:nvPr/>
        </p:nvSpPr>
        <p:spPr>
          <a:xfrm>
            <a:off x="4286548" y="5029027"/>
            <a:ext cx="2371625"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2D by one-hot encoding</a:t>
            </a:r>
            <a:endParaRPr lang="ko-KR" altLang="en-US" dirty="0"/>
          </a:p>
        </p:txBody>
      </p:sp>
      <p:sp>
        <p:nvSpPr>
          <p:cNvPr id="12" name="TextBox 11">
            <a:extLst>
              <a:ext uri="{FF2B5EF4-FFF2-40B4-BE49-F238E27FC236}">
                <a16:creationId xmlns:a16="http://schemas.microsoft.com/office/drawing/2014/main" id="{1BEF79A9-6087-95EF-6577-E3A82E7A85D2}"/>
              </a:ext>
            </a:extLst>
          </p:cNvPr>
          <p:cNvSpPr txBox="1"/>
          <p:nvPr/>
        </p:nvSpPr>
        <p:spPr>
          <a:xfrm>
            <a:off x="971550" y="2428068"/>
            <a:ext cx="4572000" cy="369332"/>
          </a:xfrm>
          <a:prstGeom prst="rect">
            <a:avLst/>
          </a:prstGeom>
          <a:noFill/>
        </p:spPr>
        <p:txBody>
          <a:bodyPr wrap="square">
            <a:spAutoFit/>
          </a:bodyPr>
          <a:lstStyle/>
          <a:p>
            <a:r>
              <a:rPr lang="en-US" altLang="ko-KR" dirty="0">
                <a:latin typeface="Arial Narrow" panose="020B0606020202030204" pitchFamily="34" charset="0"/>
              </a:rPr>
              <a:t>Alphabet data</a:t>
            </a:r>
            <a:endParaRPr lang="ko-KR" altLang="en-US" dirty="0">
              <a:latin typeface="Arial Narrow" panose="020B0606020202030204" pitchFamily="34" charset="0"/>
            </a:endParaRPr>
          </a:p>
        </p:txBody>
      </p:sp>
    </p:spTree>
    <p:extLst>
      <p:ext uri="{BB962C8B-B14F-4D97-AF65-F5344CB8AC3E}">
        <p14:creationId xmlns:p14="http://schemas.microsoft.com/office/powerpoint/2010/main" val="39251534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sp>
        <p:nvSpPr>
          <p:cNvPr id="2" name="직사각형 1">
            <a:extLst>
              <a:ext uri="{FF2B5EF4-FFF2-40B4-BE49-F238E27FC236}">
                <a16:creationId xmlns:a16="http://schemas.microsoft.com/office/drawing/2014/main" id="{24539B91-7724-8C2D-4000-9B98731F9B3C}"/>
              </a:ext>
            </a:extLst>
          </p:cNvPr>
          <p:cNvSpPr/>
          <p:nvPr/>
        </p:nvSpPr>
        <p:spPr>
          <a:xfrm>
            <a:off x="328771" y="1139130"/>
            <a:ext cx="8742077"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One-hot encoding</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How to conduct one-hot encoding?</a:t>
            </a:r>
          </a:p>
        </p:txBody>
      </p:sp>
      <p:sp>
        <p:nvSpPr>
          <p:cNvPr id="4" name="TextBox 3">
            <a:extLst>
              <a:ext uri="{FF2B5EF4-FFF2-40B4-BE49-F238E27FC236}">
                <a16:creationId xmlns:a16="http://schemas.microsoft.com/office/drawing/2014/main" id="{6C9D1B7A-5426-CD07-B7DF-D66456D7C253}"/>
              </a:ext>
            </a:extLst>
          </p:cNvPr>
          <p:cNvSpPr txBox="1"/>
          <p:nvPr/>
        </p:nvSpPr>
        <p:spPr>
          <a:xfrm>
            <a:off x="1979469" y="3909675"/>
            <a:ext cx="4572000" cy="923330"/>
          </a:xfrm>
          <a:prstGeom prst="rect">
            <a:avLst/>
          </a:prstGeom>
          <a:noFill/>
        </p:spPr>
        <p:txBody>
          <a:bodyPr wrap="square">
            <a:spAutoFit/>
          </a:bodyPr>
          <a:lstStyle/>
          <a:p>
            <a:r>
              <a:rPr lang="en-US" altLang="ko-KR" dirty="0">
                <a:hlinkClick r:id="rId3"/>
              </a:rPr>
              <a:t>https://colab.research.google.com/github/JunetaeKim/DeepLearningClass/blob/main/Week10/IrisOneHot.ipynb</a:t>
            </a:r>
            <a:endParaRPr lang="ko-KR" altLang="en-US" dirty="0"/>
          </a:p>
        </p:txBody>
      </p:sp>
    </p:spTree>
    <p:extLst>
      <p:ext uri="{BB962C8B-B14F-4D97-AF65-F5344CB8AC3E}">
        <p14:creationId xmlns:p14="http://schemas.microsoft.com/office/powerpoint/2010/main" val="4380180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Types of time series/sequence data prediction settings</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sequential and timeseries data</a:t>
            </a:r>
            <a:endParaRPr lang="en-US" altLang="ko-KR" sz="2800" dirty="0">
              <a:latin typeface="Arial Narrow" panose="020B0606020202030204" pitchFamily="34" charset="0"/>
              <a:cs typeface="Times New Roman" panose="02020603050405020304" pitchFamily="18" charset="0"/>
            </a:endParaRPr>
          </a:p>
        </p:txBody>
      </p:sp>
      <p:pic>
        <p:nvPicPr>
          <p:cNvPr id="4098" name="Picture 2" descr="machine learning - Many to one and many to many LSTM examples in Keras -  Stack Overflow">
            <a:extLst>
              <a:ext uri="{FF2B5EF4-FFF2-40B4-BE49-F238E27FC236}">
                <a16:creationId xmlns:a16="http://schemas.microsoft.com/office/drawing/2014/main" id="{449CBBF7-36AD-21AC-BDC7-4073A347E6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27760" y="2176546"/>
            <a:ext cx="6888480" cy="215623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E386CE31-8424-5E96-E6C2-9586BD9217BD}"/>
              </a:ext>
            </a:extLst>
          </p:cNvPr>
          <p:cNvSpPr txBox="1"/>
          <p:nvPr/>
        </p:nvSpPr>
        <p:spPr>
          <a:xfrm>
            <a:off x="5334000" y="6510398"/>
            <a:ext cx="3703320" cy="276999"/>
          </a:xfrm>
          <a:prstGeom prst="rect">
            <a:avLst/>
          </a:prstGeom>
          <a:noFill/>
        </p:spPr>
        <p:txBody>
          <a:bodyPr wrap="square">
            <a:spAutoFit/>
          </a:bodyPr>
          <a:lstStyle/>
          <a:p>
            <a:pPr algn="ctr"/>
            <a:r>
              <a:rPr lang="en-US" altLang="ko-KR" sz="1200" dirty="0"/>
              <a:t>http://karpathy.github.io/2015/05/21/rnn-effectiveness/</a:t>
            </a:r>
            <a:endParaRPr lang="ko-KR" altLang="en-US" sz="1200" dirty="0"/>
          </a:p>
        </p:txBody>
      </p:sp>
      <p:sp>
        <p:nvSpPr>
          <p:cNvPr id="18" name="TextBox 17">
            <a:extLst>
              <a:ext uri="{FF2B5EF4-FFF2-40B4-BE49-F238E27FC236}">
                <a16:creationId xmlns:a16="http://schemas.microsoft.com/office/drawing/2014/main" id="{AC7BB649-74A0-10DF-03D4-4BC81428D9C3}"/>
              </a:ext>
            </a:extLst>
          </p:cNvPr>
          <p:cNvSpPr txBox="1"/>
          <p:nvPr/>
        </p:nvSpPr>
        <p:spPr>
          <a:xfrm>
            <a:off x="1247774" y="4682927"/>
            <a:ext cx="7539237" cy="1477328"/>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1 to 1 : forecast the next data point given the previous data point</a:t>
            </a:r>
          </a:p>
          <a:p>
            <a:r>
              <a:rPr lang="en-US" altLang="ko-KR" dirty="0">
                <a:solidFill>
                  <a:srgbClr val="222222"/>
                </a:solidFill>
                <a:latin typeface="Arial Narrow" panose="020B0606020202030204" pitchFamily="34" charset="0"/>
              </a:rPr>
              <a:t>1 to m: barcode predictions</a:t>
            </a:r>
          </a:p>
          <a:p>
            <a:r>
              <a:rPr lang="en-US" altLang="ko-KR" dirty="0">
                <a:solidFill>
                  <a:srgbClr val="222222"/>
                </a:solidFill>
                <a:latin typeface="Arial Narrow" panose="020B0606020202030204" pitchFamily="34" charset="0"/>
              </a:rPr>
              <a:t>m to 1: s</a:t>
            </a:r>
            <a:r>
              <a:rPr lang="en-US" altLang="ko-KR" sz="1800" dirty="0">
                <a:solidFill>
                  <a:srgbClr val="222222"/>
                </a:solidFill>
                <a:latin typeface="Arial Narrow" panose="020B0606020202030204" pitchFamily="34" charset="0"/>
              </a:rPr>
              <a:t>entiment analysis; positive or negative sentences</a:t>
            </a:r>
            <a:r>
              <a:rPr lang="en-US" altLang="ko-KR" dirty="0">
                <a:solidFill>
                  <a:srgbClr val="222222"/>
                </a:solidFill>
                <a:latin typeface="Arial Narrow" panose="020B0606020202030204" pitchFamily="34" charset="0"/>
              </a:rPr>
              <a:t> </a:t>
            </a:r>
          </a:p>
          <a:p>
            <a:r>
              <a:rPr lang="en-US" altLang="ko-KR" dirty="0">
                <a:solidFill>
                  <a:srgbClr val="222222"/>
                </a:solidFill>
                <a:latin typeface="Arial Narrow" panose="020B0606020202030204" pitchFamily="34" charset="0"/>
              </a:rPr>
              <a:t>m to m: </a:t>
            </a:r>
            <a:r>
              <a:rPr lang="en-US" altLang="ko-KR" sz="1800" dirty="0">
                <a:solidFill>
                  <a:srgbClr val="222222"/>
                </a:solidFill>
                <a:latin typeface="Arial Narrow" panose="020B0606020202030204" pitchFamily="34" charset="0"/>
              </a:rPr>
              <a:t>forecast the next m-series data points given the previous m-series data points</a:t>
            </a:r>
          </a:p>
          <a:p>
            <a:r>
              <a:rPr lang="en-US" altLang="ko-KR" dirty="0">
                <a:solidFill>
                  <a:srgbClr val="222222"/>
                </a:solidFill>
                <a:latin typeface="Arial Narrow" panose="020B0606020202030204" pitchFamily="34" charset="0"/>
              </a:rPr>
              <a:t>m to m: translational model; Korean to English</a:t>
            </a:r>
            <a:endParaRPr lang="ko-KR" altLang="en-US" dirty="0"/>
          </a:p>
        </p:txBody>
      </p:sp>
      <p:sp>
        <p:nvSpPr>
          <p:cNvPr id="3" name="TextBox 2">
            <a:extLst>
              <a:ext uri="{FF2B5EF4-FFF2-40B4-BE49-F238E27FC236}">
                <a16:creationId xmlns:a16="http://schemas.microsoft.com/office/drawing/2014/main" id="{1A23D28A-9EDF-D2C2-91F3-89EBAAE1DD39}"/>
              </a:ext>
            </a:extLst>
          </p:cNvPr>
          <p:cNvSpPr txBox="1"/>
          <p:nvPr/>
        </p:nvSpPr>
        <p:spPr>
          <a:xfrm>
            <a:off x="1498083" y="6181525"/>
            <a:ext cx="7539237" cy="307777"/>
          </a:xfrm>
          <a:prstGeom prst="rect">
            <a:avLst/>
          </a:prstGeom>
          <a:noFill/>
        </p:spPr>
        <p:txBody>
          <a:bodyPr wrap="square">
            <a:spAutoFit/>
          </a:bodyPr>
          <a:lstStyle/>
          <a:p>
            <a:pPr algn="r"/>
            <a:r>
              <a:rPr lang="en-US" altLang="ko-KR" sz="1400" dirty="0">
                <a:latin typeface="Arial Narrow" panose="020B0606020202030204" pitchFamily="34" charset="0"/>
              </a:rPr>
              <a:t>The aforementioned example is merely an intuitive illustration and should not be considered definitive.</a:t>
            </a:r>
            <a:endParaRPr lang="ko-KR" altLang="en-US" sz="1400" dirty="0">
              <a:latin typeface="Arial Narrow" panose="020B0606020202030204" pitchFamily="34" charset="0"/>
            </a:endParaRPr>
          </a:p>
        </p:txBody>
      </p:sp>
    </p:spTree>
    <p:extLst>
      <p:ext uri="{BB962C8B-B14F-4D97-AF65-F5344CB8AC3E}">
        <p14:creationId xmlns:p14="http://schemas.microsoft.com/office/powerpoint/2010/main" val="42448536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96143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How can we employ sequential/timeseries data in neural network models?</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Basically, recurrent neural networks are often used for time series data.</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DNN/1dCNN can be used for sequential/timeseries data too. </a:t>
            </a:r>
          </a:p>
          <a:p>
            <a:pPr marL="741600" lvl="1" indent="-284400">
              <a:lnSpc>
                <a:spcPct val="150000"/>
              </a:lnSpc>
              <a:buFont typeface="Arial" panose="020B0604020202020204" pitchFamily="34" charset="0"/>
              <a:buChar char="•"/>
            </a:pPr>
            <a:endParaRPr lang="en-US" altLang="ko-KR" sz="2400" dirty="0">
              <a:solidFill>
                <a:srgbClr val="222222"/>
              </a:solidFill>
              <a:latin typeface="Arial Narrow" panose="020B0606020202030204" pitchFamily="34" charset="0"/>
            </a:endParaRP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recurrent neural networks (RNN) </a:t>
            </a:r>
            <a:endParaRPr lang="en-US" altLang="ko-KR" sz="2800" dirty="0">
              <a:latin typeface="Arial Narrow" panose="020B0606020202030204" pitchFamily="34" charset="0"/>
              <a:cs typeface="Times New Roman" panose="02020603050405020304" pitchFamily="18" charset="0"/>
            </a:endParaRPr>
          </a:p>
        </p:txBody>
      </p:sp>
      <p:pic>
        <p:nvPicPr>
          <p:cNvPr id="4" name="그림 3">
            <a:extLst>
              <a:ext uri="{FF2B5EF4-FFF2-40B4-BE49-F238E27FC236}">
                <a16:creationId xmlns:a16="http://schemas.microsoft.com/office/drawing/2014/main" id="{BE871F00-B0F2-88AE-0F31-E74B1522B150}"/>
              </a:ext>
            </a:extLst>
          </p:cNvPr>
          <p:cNvPicPr>
            <a:picLocks noChangeAspect="1"/>
          </p:cNvPicPr>
          <p:nvPr/>
        </p:nvPicPr>
        <p:blipFill>
          <a:blip r:embed="rId3"/>
          <a:stretch>
            <a:fillRect/>
          </a:stretch>
        </p:blipFill>
        <p:spPr>
          <a:xfrm>
            <a:off x="1272540" y="3616497"/>
            <a:ext cx="6240780" cy="1639761"/>
          </a:xfrm>
          <a:prstGeom prst="rect">
            <a:avLst/>
          </a:prstGeom>
        </p:spPr>
      </p:pic>
      <p:sp>
        <p:nvSpPr>
          <p:cNvPr id="11" name="TextBox 10">
            <a:extLst>
              <a:ext uri="{FF2B5EF4-FFF2-40B4-BE49-F238E27FC236}">
                <a16:creationId xmlns:a16="http://schemas.microsoft.com/office/drawing/2014/main" id="{593C1320-2271-7201-C1DB-8BE1D6B90710}"/>
              </a:ext>
            </a:extLst>
          </p:cNvPr>
          <p:cNvSpPr txBox="1"/>
          <p:nvPr/>
        </p:nvSpPr>
        <p:spPr>
          <a:xfrm>
            <a:off x="3402884" y="3059668"/>
            <a:ext cx="1725375" cy="400110"/>
          </a:xfrm>
          <a:prstGeom prst="rect">
            <a:avLst/>
          </a:prstGeom>
          <a:noFill/>
        </p:spPr>
        <p:txBody>
          <a:bodyPr wrap="square">
            <a:spAutoFit/>
          </a:bodyPr>
          <a:lstStyle/>
          <a:p>
            <a:r>
              <a:rPr lang="en-US" altLang="ko-KR" sz="2000" dirty="0">
                <a:solidFill>
                  <a:srgbClr val="222222"/>
                </a:solidFill>
                <a:latin typeface="Arial Narrow" panose="020B0606020202030204" pitchFamily="34" charset="0"/>
              </a:rPr>
              <a:t>RNN structure</a:t>
            </a:r>
            <a:endParaRPr lang="ko-KR" altLang="en-US" sz="2000" dirty="0"/>
          </a:p>
        </p:txBody>
      </p:sp>
      <p:sp>
        <p:nvSpPr>
          <p:cNvPr id="32" name="TextBox 31">
            <a:extLst>
              <a:ext uri="{FF2B5EF4-FFF2-40B4-BE49-F238E27FC236}">
                <a16:creationId xmlns:a16="http://schemas.microsoft.com/office/drawing/2014/main" id="{E475C880-894B-6F24-8928-F7B769079E29}"/>
              </a:ext>
            </a:extLst>
          </p:cNvPr>
          <p:cNvSpPr txBox="1"/>
          <p:nvPr/>
        </p:nvSpPr>
        <p:spPr>
          <a:xfrm>
            <a:off x="3217821" y="5631418"/>
            <a:ext cx="2095500" cy="646331"/>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x = a set of variables </a:t>
            </a:r>
          </a:p>
          <a:p>
            <a:r>
              <a:rPr lang="en-US" altLang="ko-KR" dirty="0">
                <a:solidFill>
                  <a:srgbClr val="222222"/>
                </a:solidFill>
                <a:latin typeface="Arial Narrow" panose="020B0606020202030204" pitchFamily="34" charset="0"/>
              </a:rPr>
              <a:t>h = output values </a:t>
            </a:r>
            <a:endParaRPr lang="ko-KR" altLang="en-US" dirty="0"/>
          </a:p>
        </p:txBody>
      </p:sp>
      <p:sp>
        <p:nvSpPr>
          <p:cNvPr id="38" name="TextBox 37">
            <a:extLst>
              <a:ext uri="{FF2B5EF4-FFF2-40B4-BE49-F238E27FC236}">
                <a16:creationId xmlns:a16="http://schemas.microsoft.com/office/drawing/2014/main" id="{EA4C90E4-E236-A045-3F05-14297943692E}"/>
              </a:ext>
            </a:extLst>
          </p:cNvPr>
          <p:cNvSpPr txBox="1"/>
          <p:nvPr/>
        </p:nvSpPr>
        <p:spPr>
          <a:xfrm>
            <a:off x="4876800" y="6510398"/>
            <a:ext cx="4130040" cy="276999"/>
          </a:xfrm>
          <a:prstGeom prst="rect">
            <a:avLst/>
          </a:prstGeom>
          <a:noFill/>
        </p:spPr>
        <p:txBody>
          <a:bodyPr wrap="square">
            <a:spAutoFit/>
          </a:bodyPr>
          <a:lstStyle/>
          <a:p>
            <a:r>
              <a:rPr lang="en-US" altLang="ko-KR" sz="1200" dirty="0"/>
              <a:t>https://colah.github.io/posts/2015-08-Understanding-LSTMs/</a:t>
            </a:r>
            <a:endParaRPr lang="ko-KR" altLang="en-US" sz="1200" dirty="0"/>
          </a:p>
        </p:txBody>
      </p:sp>
    </p:spTree>
    <p:extLst>
      <p:ext uri="{BB962C8B-B14F-4D97-AF65-F5344CB8AC3E}">
        <p14:creationId xmlns:p14="http://schemas.microsoft.com/office/powerpoint/2010/main" val="41004393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424942"/>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Details in RNN</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RNN has the form of a chain of repeating modules of neural network.</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RNN can be thought of as multiple </a:t>
            </a:r>
            <a:r>
              <a:rPr lang="en-US" altLang="ko-KR" dirty="0">
                <a:solidFill>
                  <a:srgbClr val="C00000"/>
                </a:solidFill>
                <a:latin typeface="Arial Narrow" panose="020B0606020202030204" pitchFamily="34" charset="0"/>
              </a:rPr>
              <a:t>copies</a:t>
            </a:r>
            <a:r>
              <a:rPr lang="en-US" altLang="ko-KR" dirty="0">
                <a:solidFill>
                  <a:srgbClr val="222222"/>
                </a:solidFill>
                <a:latin typeface="Arial Narrow" panose="020B0606020202030204" pitchFamily="34" charset="0"/>
              </a:rPr>
              <a:t> of the </a:t>
            </a:r>
            <a:r>
              <a:rPr lang="en-US" altLang="ko-KR" dirty="0">
                <a:solidFill>
                  <a:srgbClr val="C00000"/>
                </a:solidFill>
                <a:latin typeface="Arial Narrow" panose="020B0606020202030204" pitchFamily="34" charset="0"/>
              </a:rPr>
              <a:t>same</a:t>
            </a:r>
            <a:r>
              <a:rPr lang="en-US" altLang="ko-KR" dirty="0">
                <a:solidFill>
                  <a:srgbClr val="222222"/>
                </a:solidFill>
                <a:latin typeface="Arial Narrow" panose="020B0606020202030204" pitchFamily="34" charset="0"/>
              </a:rPr>
              <a:t> weights. </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recurrent neural networks (RNN) </a:t>
            </a:r>
            <a:endParaRPr lang="en-US" altLang="ko-KR" sz="2800" dirty="0">
              <a:latin typeface="Arial Narrow" panose="020B0606020202030204" pitchFamily="34" charset="0"/>
              <a:cs typeface="Times New Roman" panose="02020603050405020304" pitchFamily="18" charset="0"/>
            </a:endParaRPr>
          </a:p>
        </p:txBody>
      </p:sp>
      <p:pic>
        <p:nvPicPr>
          <p:cNvPr id="2" name="그림 1">
            <a:extLst>
              <a:ext uri="{FF2B5EF4-FFF2-40B4-BE49-F238E27FC236}">
                <a16:creationId xmlns:a16="http://schemas.microsoft.com/office/drawing/2014/main" id="{DC992186-7962-373B-B529-7ED28C3DF79F}"/>
              </a:ext>
            </a:extLst>
          </p:cNvPr>
          <p:cNvPicPr>
            <a:picLocks noChangeAspect="1"/>
          </p:cNvPicPr>
          <p:nvPr/>
        </p:nvPicPr>
        <p:blipFill>
          <a:blip r:embed="rId3"/>
          <a:stretch>
            <a:fillRect/>
          </a:stretch>
        </p:blipFill>
        <p:spPr>
          <a:xfrm>
            <a:off x="4876800" y="5194797"/>
            <a:ext cx="3058363" cy="569821"/>
          </a:xfrm>
          <a:prstGeom prst="rect">
            <a:avLst/>
          </a:prstGeom>
        </p:spPr>
      </p:pic>
      <p:sp>
        <p:nvSpPr>
          <p:cNvPr id="5" name="TextBox 4">
            <a:extLst>
              <a:ext uri="{FF2B5EF4-FFF2-40B4-BE49-F238E27FC236}">
                <a16:creationId xmlns:a16="http://schemas.microsoft.com/office/drawing/2014/main" id="{CA72C57D-CF58-2B95-D6E4-5BBFF95AF098}"/>
              </a:ext>
            </a:extLst>
          </p:cNvPr>
          <p:cNvSpPr txBox="1"/>
          <p:nvPr/>
        </p:nvSpPr>
        <p:spPr>
          <a:xfrm>
            <a:off x="4876800" y="6510398"/>
            <a:ext cx="4130040" cy="276999"/>
          </a:xfrm>
          <a:prstGeom prst="rect">
            <a:avLst/>
          </a:prstGeom>
          <a:noFill/>
        </p:spPr>
        <p:txBody>
          <a:bodyPr wrap="square">
            <a:spAutoFit/>
          </a:bodyPr>
          <a:lstStyle/>
          <a:p>
            <a:r>
              <a:rPr lang="en-US" altLang="ko-KR" sz="1200" dirty="0"/>
              <a:t>https://colah.github.io/posts/2015-08-Understanding-LSTMs/</a:t>
            </a:r>
            <a:endParaRPr lang="ko-KR" altLang="en-US" sz="1200" dirty="0"/>
          </a:p>
        </p:txBody>
      </p:sp>
      <p:grpSp>
        <p:nvGrpSpPr>
          <p:cNvPr id="20" name="그룹 19">
            <a:extLst>
              <a:ext uri="{FF2B5EF4-FFF2-40B4-BE49-F238E27FC236}">
                <a16:creationId xmlns:a16="http://schemas.microsoft.com/office/drawing/2014/main" id="{12FF8771-F03A-C685-ACE7-AECB2F81B682}"/>
              </a:ext>
            </a:extLst>
          </p:cNvPr>
          <p:cNvGrpSpPr/>
          <p:nvPr/>
        </p:nvGrpSpPr>
        <p:grpSpPr>
          <a:xfrm>
            <a:off x="1889760" y="3082129"/>
            <a:ext cx="5113020" cy="1913392"/>
            <a:chOff x="1805940" y="2559933"/>
            <a:chExt cx="5113020" cy="1913392"/>
          </a:xfrm>
        </p:grpSpPr>
        <p:pic>
          <p:nvPicPr>
            <p:cNvPr id="3" name="그림 2">
              <a:extLst>
                <a:ext uri="{FF2B5EF4-FFF2-40B4-BE49-F238E27FC236}">
                  <a16:creationId xmlns:a16="http://schemas.microsoft.com/office/drawing/2014/main" id="{391CC92D-F8A7-08E0-6218-9FA8A744ED1B}"/>
                </a:ext>
              </a:extLst>
            </p:cNvPr>
            <p:cNvPicPr>
              <a:picLocks noChangeAspect="1"/>
            </p:cNvPicPr>
            <p:nvPr/>
          </p:nvPicPr>
          <p:blipFill>
            <a:blip r:embed="rId4"/>
            <a:stretch>
              <a:fillRect/>
            </a:stretch>
          </p:blipFill>
          <p:spPr>
            <a:xfrm>
              <a:off x="1805940" y="2559933"/>
              <a:ext cx="5113020" cy="1913392"/>
            </a:xfrm>
            <a:prstGeom prst="rect">
              <a:avLst/>
            </a:prstGeom>
          </p:spPr>
        </p:pic>
        <p:sp>
          <p:nvSpPr>
            <p:cNvPr id="16" name="TextBox 15">
              <a:extLst>
                <a:ext uri="{FF2B5EF4-FFF2-40B4-BE49-F238E27FC236}">
                  <a16:creationId xmlns:a16="http://schemas.microsoft.com/office/drawing/2014/main" id="{53B67E9F-C438-8540-8651-7F781682AAA2}"/>
                </a:ext>
              </a:extLst>
            </p:cNvPr>
            <p:cNvSpPr txBox="1"/>
            <p:nvPr/>
          </p:nvSpPr>
          <p:spPr>
            <a:xfrm>
              <a:off x="3508058" y="3064802"/>
              <a:ext cx="569595" cy="307777"/>
            </a:xfrm>
            <a:prstGeom prst="rect">
              <a:avLst/>
            </a:prstGeom>
            <a:noFill/>
          </p:spPr>
          <p:txBody>
            <a:bodyPr wrap="square">
              <a:spAutoFit/>
            </a:bodyPr>
            <a:lstStyle/>
            <a:p>
              <a:r>
                <a:rPr lang="en-US" altLang="ko-KR" sz="1400" dirty="0">
                  <a:solidFill>
                    <a:srgbClr val="C00000"/>
                  </a:solidFill>
                  <a:latin typeface="Arial Narrow" panose="020B0606020202030204" pitchFamily="34" charset="0"/>
                </a:rPr>
                <a:t>W</a:t>
              </a:r>
              <a:r>
                <a:rPr lang="en-US" altLang="ko-KR" sz="1400" baseline="-25000" dirty="0">
                  <a:solidFill>
                    <a:srgbClr val="C00000"/>
                  </a:solidFill>
                  <a:latin typeface="Arial Narrow" panose="020B0606020202030204" pitchFamily="34" charset="0"/>
                </a:rPr>
                <a:t>aa</a:t>
              </a:r>
              <a:endParaRPr lang="ko-KR" altLang="en-US" sz="1400" baseline="-25000" dirty="0">
                <a:solidFill>
                  <a:srgbClr val="C00000"/>
                </a:solidFill>
              </a:endParaRPr>
            </a:p>
          </p:txBody>
        </p:sp>
        <p:sp>
          <p:nvSpPr>
            <p:cNvPr id="17" name="TextBox 16">
              <a:extLst>
                <a:ext uri="{FF2B5EF4-FFF2-40B4-BE49-F238E27FC236}">
                  <a16:creationId xmlns:a16="http://schemas.microsoft.com/office/drawing/2014/main" id="{F614C3B4-6C24-9C69-A2DC-4BBE8E154F52}"/>
                </a:ext>
              </a:extLst>
            </p:cNvPr>
            <p:cNvSpPr txBox="1"/>
            <p:nvPr/>
          </p:nvSpPr>
          <p:spPr>
            <a:xfrm>
              <a:off x="3652838" y="3723559"/>
              <a:ext cx="569595" cy="307777"/>
            </a:xfrm>
            <a:prstGeom prst="rect">
              <a:avLst/>
            </a:prstGeom>
            <a:noFill/>
          </p:spPr>
          <p:txBody>
            <a:bodyPr wrap="square">
              <a:spAutoFit/>
            </a:bodyPr>
            <a:lstStyle/>
            <a:p>
              <a:r>
                <a:rPr lang="en-US" altLang="ko-KR" sz="1400" dirty="0">
                  <a:solidFill>
                    <a:srgbClr val="C00000"/>
                  </a:solidFill>
                  <a:latin typeface="Arial Narrow" panose="020B0606020202030204" pitchFamily="34" charset="0"/>
                </a:rPr>
                <a:t>W</a:t>
              </a:r>
              <a:r>
                <a:rPr lang="en-US" altLang="ko-KR" sz="1400" baseline="-25000" dirty="0">
                  <a:solidFill>
                    <a:srgbClr val="C00000"/>
                  </a:solidFill>
                  <a:latin typeface="Arial Narrow" panose="020B0606020202030204" pitchFamily="34" charset="0"/>
                </a:rPr>
                <a:t>ax</a:t>
              </a:r>
              <a:endParaRPr lang="ko-KR" altLang="en-US" sz="1400" baseline="-25000" dirty="0">
                <a:solidFill>
                  <a:srgbClr val="C00000"/>
                </a:solidFill>
              </a:endParaRPr>
            </a:p>
          </p:txBody>
        </p:sp>
        <p:sp>
          <p:nvSpPr>
            <p:cNvPr id="18" name="TextBox 17">
              <a:extLst>
                <a:ext uri="{FF2B5EF4-FFF2-40B4-BE49-F238E27FC236}">
                  <a16:creationId xmlns:a16="http://schemas.microsoft.com/office/drawing/2014/main" id="{1756E149-9EDF-47A7-B39C-614BC1DB8CC4}"/>
                </a:ext>
              </a:extLst>
            </p:cNvPr>
            <p:cNvSpPr txBox="1"/>
            <p:nvPr/>
          </p:nvSpPr>
          <p:spPr>
            <a:xfrm>
              <a:off x="4105276" y="3713318"/>
              <a:ext cx="569595" cy="307777"/>
            </a:xfrm>
            <a:prstGeom prst="rect">
              <a:avLst/>
            </a:prstGeom>
            <a:noFill/>
          </p:spPr>
          <p:txBody>
            <a:bodyPr wrap="square">
              <a:spAutoFit/>
            </a:bodyPr>
            <a:lstStyle/>
            <a:p>
              <a:r>
                <a:rPr lang="en-US" altLang="ko-KR" sz="1400" dirty="0">
                  <a:solidFill>
                    <a:srgbClr val="C00000"/>
                  </a:solidFill>
                  <a:latin typeface="Arial Narrow" panose="020B0606020202030204" pitchFamily="34" charset="0"/>
                </a:rPr>
                <a:t>+</a:t>
              </a:r>
              <a:r>
                <a:rPr lang="en-US" altLang="ko-KR" sz="1400" dirty="0" err="1">
                  <a:solidFill>
                    <a:srgbClr val="C00000"/>
                  </a:solidFill>
                  <a:latin typeface="Arial Narrow" panose="020B0606020202030204" pitchFamily="34" charset="0"/>
                </a:rPr>
                <a:t>b</a:t>
              </a:r>
              <a:r>
                <a:rPr lang="en-US" altLang="ko-KR" sz="1400" baseline="-25000" dirty="0" err="1">
                  <a:solidFill>
                    <a:srgbClr val="C00000"/>
                  </a:solidFill>
                  <a:latin typeface="Arial Narrow" panose="020B0606020202030204" pitchFamily="34" charset="0"/>
                </a:rPr>
                <a:t>a</a:t>
              </a:r>
              <a:endParaRPr lang="ko-KR" altLang="en-US" sz="1400" baseline="-25000" dirty="0">
                <a:solidFill>
                  <a:srgbClr val="C00000"/>
                </a:solidFill>
              </a:endParaRPr>
            </a:p>
          </p:txBody>
        </p:sp>
      </p:grpSp>
      <p:sp>
        <p:nvSpPr>
          <p:cNvPr id="22" name="TextBox 21">
            <a:extLst>
              <a:ext uri="{FF2B5EF4-FFF2-40B4-BE49-F238E27FC236}">
                <a16:creationId xmlns:a16="http://schemas.microsoft.com/office/drawing/2014/main" id="{C2FA555E-E751-E348-C364-FFD8C55B410E}"/>
              </a:ext>
            </a:extLst>
          </p:cNvPr>
          <p:cNvSpPr txBox="1"/>
          <p:nvPr/>
        </p:nvSpPr>
        <p:spPr>
          <a:xfrm>
            <a:off x="626745" y="5285855"/>
            <a:ext cx="4646295" cy="455446"/>
          </a:xfrm>
          <a:prstGeom prst="rect">
            <a:avLst/>
          </a:prstGeom>
          <a:noFill/>
        </p:spPr>
        <p:txBody>
          <a:bodyPr wrap="square">
            <a:spAutoFit/>
          </a:bodyPr>
          <a:lstStyle/>
          <a:p>
            <a:pPr marL="741600" lvl="1" indent="-284400">
              <a:lnSpc>
                <a:spcPct val="150000"/>
              </a:lnSpc>
              <a:buFont typeface="Arial" panose="020B0604020202020204" pitchFamily="34" charset="0"/>
              <a:buChar char="•"/>
            </a:pPr>
            <a:r>
              <a:rPr lang="en-US" altLang="ko-KR" sz="1800" dirty="0">
                <a:solidFill>
                  <a:srgbClr val="C00000"/>
                </a:solidFill>
                <a:latin typeface="Arial Narrow" panose="020B0606020202030204" pitchFamily="34" charset="0"/>
              </a:rPr>
              <a:t>W</a:t>
            </a:r>
            <a:r>
              <a:rPr lang="en-US" altLang="ko-KR" sz="1800" baseline="-25000" dirty="0">
                <a:solidFill>
                  <a:srgbClr val="C00000"/>
                </a:solidFill>
                <a:latin typeface="Arial Narrow" panose="020B0606020202030204" pitchFamily="34" charset="0"/>
              </a:rPr>
              <a:t>aa</a:t>
            </a:r>
            <a:r>
              <a:rPr lang="en-US" altLang="ko-KR" dirty="0">
                <a:solidFill>
                  <a:srgbClr val="222222"/>
                </a:solidFill>
                <a:latin typeface="Arial Narrow" panose="020B0606020202030204" pitchFamily="34" charset="0"/>
              </a:rPr>
              <a:t> , </a:t>
            </a:r>
            <a:r>
              <a:rPr lang="en-US" altLang="ko-KR" sz="1800" dirty="0">
                <a:solidFill>
                  <a:srgbClr val="C00000"/>
                </a:solidFill>
                <a:latin typeface="Arial Narrow" panose="020B0606020202030204" pitchFamily="34" charset="0"/>
              </a:rPr>
              <a:t>W</a:t>
            </a:r>
            <a:r>
              <a:rPr lang="en-US" altLang="ko-KR" sz="1800" baseline="-25000" dirty="0">
                <a:solidFill>
                  <a:srgbClr val="C00000"/>
                </a:solidFill>
                <a:latin typeface="Arial Narrow" panose="020B0606020202030204" pitchFamily="34" charset="0"/>
              </a:rPr>
              <a:t>ax</a:t>
            </a:r>
            <a:r>
              <a:rPr lang="en-US" altLang="ko-KR" dirty="0">
                <a:solidFill>
                  <a:srgbClr val="222222"/>
                </a:solidFill>
                <a:latin typeface="Arial Narrow" panose="020B0606020202030204" pitchFamily="34" charset="0"/>
              </a:rPr>
              <a:t> and </a:t>
            </a:r>
            <a:r>
              <a:rPr lang="en-US" altLang="ko-KR" sz="1800" dirty="0" err="1">
                <a:solidFill>
                  <a:srgbClr val="C00000"/>
                </a:solidFill>
                <a:latin typeface="Arial Narrow" panose="020B0606020202030204" pitchFamily="34" charset="0"/>
              </a:rPr>
              <a:t>b</a:t>
            </a:r>
            <a:r>
              <a:rPr lang="en-US" altLang="ko-KR" sz="1800" baseline="-25000" dirty="0" err="1">
                <a:solidFill>
                  <a:srgbClr val="C00000"/>
                </a:solidFill>
                <a:latin typeface="Arial Narrow" panose="020B0606020202030204" pitchFamily="34" charset="0"/>
              </a:rPr>
              <a:t>a</a:t>
            </a:r>
            <a:r>
              <a:rPr lang="en-US" altLang="ko-KR" dirty="0">
                <a:solidFill>
                  <a:srgbClr val="222222"/>
                </a:solidFill>
                <a:latin typeface="Arial Narrow" panose="020B0606020202030204" pitchFamily="34" charset="0"/>
              </a:rPr>
              <a:t> in As are same.</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01E9B40F-8533-35C1-AE8B-98E9FA530D81}"/>
                  </a:ext>
                </a:extLst>
              </p:cNvPr>
              <p:cNvSpPr txBox="1"/>
              <p:nvPr/>
            </p:nvSpPr>
            <p:spPr>
              <a:xfrm>
                <a:off x="4218337" y="3291840"/>
                <a:ext cx="862774" cy="27432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ko-KR" i="1" smtClean="0">
                          <a:latin typeface="Cambria Math" panose="02040503050406030204" pitchFamily="18" charset="0"/>
                        </a:rPr>
                        <m:t>𝐴</m:t>
                      </m:r>
                      <m:r>
                        <a:rPr lang="en-US" altLang="ko-KR" i="1" smtClean="0">
                          <a:latin typeface="Cambria Math" panose="02040503050406030204" pitchFamily="18" charset="0"/>
                        </a:rPr>
                        <m:t>=</m:t>
                      </m:r>
                      <m:r>
                        <a:rPr lang="el-GR" altLang="ko-KR" i="1" smtClean="0">
                          <a:latin typeface="Cambria Math" panose="02040503050406030204" pitchFamily="18" charset="0"/>
                        </a:rPr>
                        <m:t>𝜋</m:t>
                      </m:r>
                      <m:sSup>
                        <m:sSupPr>
                          <m:ctrlPr>
                            <a:rPr lang="en-US" altLang="ko-KR" i="1" smtClean="0">
                              <a:latin typeface="Cambria Math" panose="02040503050406030204" pitchFamily="18" charset="0"/>
                            </a:rPr>
                          </m:ctrlPr>
                        </m:sSupPr>
                        <m:e>
                          <m:r>
                            <a:rPr lang="en-US" altLang="ko-KR" i="1" smtClean="0">
                              <a:latin typeface="Cambria Math" panose="02040503050406030204" pitchFamily="18" charset="0"/>
                            </a:rPr>
                            <m:t>𝑟</m:t>
                          </m:r>
                        </m:e>
                        <m:sup>
                          <m:r>
                            <a:rPr lang="en-US" altLang="ko-KR" i="1" smtClean="0">
                              <a:latin typeface="Cambria Math" panose="02040503050406030204" pitchFamily="18" charset="0"/>
                            </a:rPr>
                            <m:t>2</m:t>
                          </m:r>
                        </m:sup>
                      </m:sSup>
                    </m:oMath>
                  </m:oMathPara>
                </a14:m>
                <a:endParaRPr lang="ko-KR" altLang="en-US" dirty="0"/>
              </a:p>
            </p:txBody>
          </p:sp>
        </mc:Choice>
        <mc:Fallback>
          <p:sp>
            <p:nvSpPr>
              <p:cNvPr id="7" name="TextBox 6">
                <a:extLst>
                  <a:ext uri="{FF2B5EF4-FFF2-40B4-BE49-F238E27FC236}">
                    <a16:creationId xmlns:a16="http://schemas.microsoft.com/office/drawing/2014/main" id="{01E9B40F-8533-35C1-AE8B-98E9FA530D81}"/>
                  </a:ext>
                </a:extLst>
              </p:cNvPr>
              <p:cNvSpPr txBox="1">
                <a:spLocks noRot="1" noChangeAspect="1" noMove="1" noResize="1" noEditPoints="1" noAdjustHandles="1" noChangeArrowheads="1" noChangeShapeType="1" noTextEdit="1"/>
              </p:cNvSpPr>
              <p:nvPr/>
            </p:nvSpPr>
            <p:spPr>
              <a:xfrm>
                <a:off x="4218337" y="3291840"/>
                <a:ext cx="862774" cy="274320"/>
              </a:xfrm>
              <a:prstGeom prst="rect">
                <a:avLst/>
              </a:prstGeom>
              <a:blipFill>
                <a:blip r:embed="rId5"/>
                <a:stretch>
                  <a:fillRect l="-7042" t="-2222" r="-2113" b="-6667"/>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CD866C69-8674-532E-3AAE-59238FECA713}"/>
                  </a:ext>
                </a:extLst>
              </p:cNvPr>
              <p:cNvSpPr txBox="1"/>
              <p:nvPr/>
            </p:nvSpPr>
            <p:spPr>
              <a:xfrm>
                <a:off x="1494231" y="5987350"/>
                <a:ext cx="3306290"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altLang="ko-KR" sz="2000" i="1" smtClean="0">
                              <a:latin typeface="Cambria Math" panose="02040503050406030204" pitchFamily="18" charset="0"/>
                            </a:rPr>
                          </m:ctrlPr>
                        </m:sSubPr>
                        <m:e>
                          <m:r>
                            <a:rPr lang="en-US" altLang="ko-KR" sz="2000" b="0" i="1" smtClean="0">
                              <a:latin typeface="Cambria Math" panose="02040503050406030204" pitchFamily="18" charset="0"/>
                            </a:rPr>
                            <m:t>h</m:t>
                          </m:r>
                        </m:e>
                        <m:sub>
                          <m:r>
                            <a:rPr lang="en-US" altLang="ko-KR" sz="2000" b="0" i="1" smtClean="0">
                              <a:latin typeface="Cambria Math" panose="02040503050406030204" pitchFamily="18" charset="0"/>
                            </a:rPr>
                            <m:t>𝑡</m:t>
                          </m:r>
                        </m:sub>
                      </m:sSub>
                      <m:r>
                        <a:rPr lang="en-US" altLang="ko-KR" sz="2000" b="0" i="1" smtClean="0">
                          <a:latin typeface="Cambria Math" panose="02040503050406030204" pitchFamily="18" charset="0"/>
                        </a:rPr>
                        <m:t>=</m:t>
                      </m:r>
                      <m:d>
                        <m:dPr>
                          <m:ctrlPr>
                            <a:rPr lang="en-US" altLang="ko-KR" sz="2000" b="0" i="1" smtClean="0">
                              <a:latin typeface="Cambria Math" panose="02040503050406030204" pitchFamily="18" charset="0"/>
                            </a:rPr>
                          </m:ctrlPr>
                        </m:dPr>
                        <m:e>
                          <m:sSub>
                            <m:sSubPr>
                              <m:ctrlPr>
                                <a:rPr lang="en-US" altLang="ko-KR" sz="2000" b="0" i="1" smtClean="0">
                                  <a:latin typeface="Cambria Math" panose="02040503050406030204" pitchFamily="18" charset="0"/>
                                </a:rPr>
                              </m:ctrlPr>
                            </m:sSubPr>
                            <m:e>
                              <m:r>
                                <a:rPr lang="en-US" altLang="ko-KR" sz="2000" b="0" i="1" smtClean="0">
                                  <a:latin typeface="Cambria Math" panose="02040503050406030204" pitchFamily="18" charset="0"/>
                                </a:rPr>
                                <m:t>𝑊</m:t>
                              </m:r>
                            </m:e>
                            <m:sub>
                              <m:r>
                                <a:rPr lang="en-US" altLang="ko-KR" sz="2000" b="0" i="1" smtClean="0">
                                  <a:latin typeface="Cambria Math" panose="02040503050406030204" pitchFamily="18" charset="0"/>
                                </a:rPr>
                                <m:t>𝑎𝑎</m:t>
                              </m:r>
                            </m:sub>
                          </m:sSub>
                          <m:sSub>
                            <m:sSubPr>
                              <m:ctrlPr>
                                <a:rPr lang="en-US" altLang="ko-KR" sz="2000" i="1">
                                  <a:latin typeface="Cambria Math" panose="02040503050406030204" pitchFamily="18" charset="0"/>
                                </a:rPr>
                              </m:ctrlPr>
                            </m:sSubPr>
                            <m:e>
                              <m:r>
                                <a:rPr lang="en-US" altLang="ko-KR" sz="2000" b="0" i="1" smtClean="0">
                                  <a:latin typeface="Cambria Math" panose="02040503050406030204" pitchFamily="18" charset="0"/>
                                </a:rPr>
                                <m:t>h</m:t>
                              </m:r>
                            </m:e>
                            <m:sub>
                              <m:r>
                                <a:rPr lang="en-US" altLang="ko-KR" sz="2000" b="0" i="1" smtClean="0">
                                  <a:latin typeface="Cambria Math" panose="02040503050406030204" pitchFamily="18" charset="0"/>
                                </a:rPr>
                                <m:t>𝑡</m:t>
                              </m:r>
                              <m:r>
                                <a:rPr lang="en-US" altLang="ko-KR" sz="2000" b="0" i="1" smtClean="0">
                                  <a:latin typeface="Cambria Math" panose="02040503050406030204" pitchFamily="18" charset="0"/>
                                </a:rPr>
                                <m:t>−1</m:t>
                              </m:r>
                            </m:sub>
                          </m:sSub>
                          <m:r>
                            <a:rPr lang="en-US" altLang="ko-KR" sz="2000" b="0" i="1" smtClean="0">
                              <a:latin typeface="Cambria Math" panose="02040503050406030204" pitchFamily="18" charset="0"/>
                            </a:rPr>
                            <m:t>+</m:t>
                          </m:r>
                          <m:sSub>
                            <m:sSubPr>
                              <m:ctrlPr>
                                <a:rPr lang="en-US" altLang="ko-KR" sz="2000" i="1">
                                  <a:latin typeface="Cambria Math" panose="02040503050406030204" pitchFamily="18" charset="0"/>
                                </a:rPr>
                              </m:ctrlPr>
                            </m:sSubPr>
                            <m:e>
                              <m:r>
                                <a:rPr lang="en-US" altLang="ko-KR" sz="2000" b="0" i="1" smtClean="0">
                                  <a:latin typeface="Cambria Math" panose="02040503050406030204" pitchFamily="18" charset="0"/>
                                </a:rPr>
                                <m:t>𝑊</m:t>
                              </m:r>
                            </m:e>
                            <m:sub>
                              <m:r>
                                <a:rPr lang="en-US" altLang="ko-KR" sz="2000" b="0" i="1" smtClean="0">
                                  <a:latin typeface="Cambria Math" panose="02040503050406030204" pitchFamily="18" charset="0"/>
                                </a:rPr>
                                <m:t>𝑎𝑥</m:t>
                              </m:r>
                            </m:sub>
                          </m:sSub>
                          <m:sSub>
                            <m:sSubPr>
                              <m:ctrlPr>
                                <a:rPr lang="en-US" altLang="ko-KR" sz="2000" i="1">
                                  <a:latin typeface="Cambria Math" panose="02040503050406030204" pitchFamily="18" charset="0"/>
                                </a:rPr>
                              </m:ctrlPr>
                            </m:sSubPr>
                            <m:e>
                              <m:r>
                                <a:rPr lang="en-US" altLang="ko-KR" sz="2000" b="0" i="1" smtClean="0">
                                  <a:latin typeface="Cambria Math" panose="02040503050406030204" pitchFamily="18" charset="0"/>
                                </a:rPr>
                                <m:t>𝑥</m:t>
                              </m:r>
                            </m:e>
                            <m:sub>
                              <m:r>
                                <a:rPr lang="en-US" altLang="ko-KR" sz="2000" b="0" i="1" smtClean="0">
                                  <a:latin typeface="Cambria Math" panose="02040503050406030204" pitchFamily="18" charset="0"/>
                                </a:rPr>
                                <m:t>𝑡</m:t>
                              </m:r>
                            </m:sub>
                          </m:sSub>
                          <m:r>
                            <a:rPr lang="en-US" altLang="ko-KR" sz="2000" b="0" i="1" smtClean="0">
                              <a:latin typeface="Cambria Math" panose="02040503050406030204" pitchFamily="18" charset="0"/>
                            </a:rPr>
                            <m:t>+</m:t>
                          </m:r>
                          <m:sSub>
                            <m:sSubPr>
                              <m:ctrlPr>
                                <a:rPr lang="en-US" altLang="ko-KR" sz="2000" i="1">
                                  <a:latin typeface="Cambria Math" panose="02040503050406030204" pitchFamily="18" charset="0"/>
                                </a:rPr>
                              </m:ctrlPr>
                            </m:sSubPr>
                            <m:e>
                              <m:r>
                                <a:rPr lang="en-US" altLang="ko-KR" sz="2000" b="0" i="1" smtClean="0">
                                  <a:latin typeface="Cambria Math" panose="02040503050406030204" pitchFamily="18" charset="0"/>
                                </a:rPr>
                                <m:t>𝑏</m:t>
                              </m:r>
                            </m:e>
                            <m:sub>
                              <m:r>
                                <a:rPr lang="en-US" altLang="ko-KR" sz="2000" b="0" i="1" smtClean="0">
                                  <a:latin typeface="Cambria Math" panose="02040503050406030204" pitchFamily="18" charset="0"/>
                                </a:rPr>
                                <m:t>𝑎</m:t>
                              </m:r>
                            </m:sub>
                          </m:sSub>
                        </m:e>
                      </m:d>
                    </m:oMath>
                  </m:oMathPara>
                </a14:m>
                <a:endParaRPr lang="ko-KR" altLang="en-US" sz="2000" dirty="0"/>
              </a:p>
            </p:txBody>
          </p:sp>
        </mc:Choice>
        <mc:Fallback>
          <p:sp>
            <p:nvSpPr>
              <p:cNvPr id="8" name="TextBox 7">
                <a:extLst>
                  <a:ext uri="{FF2B5EF4-FFF2-40B4-BE49-F238E27FC236}">
                    <a16:creationId xmlns:a16="http://schemas.microsoft.com/office/drawing/2014/main" id="{CD866C69-8674-532E-3AAE-59238FECA713}"/>
                  </a:ext>
                </a:extLst>
              </p:cNvPr>
              <p:cNvSpPr txBox="1">
                <a:spLocks noRot="1" noChangeAspect="1" noMove="1" noResize="1" noEditPoints="1" noAdjustHandles="1" noChangeArrowheads="1" noChangeShapeType="1" noTextEdit="1"/>
              </p:cNvSpPr>
              <p:nvPr/>
            </p:nvSpPr>
            <p:spPr>
              <a:xfrm>
                <a:off x="1494231" y="5987350"/>
                <a:ext cx="3306290" cy="307777"/>
              </a:xfrm>
              <a:prstGeom prst="rect">
                <a:avLst/>
              </a:prstGeom>
              <a:blipFill>
                <a:blip r:embed="rId6"/>
                <a:stretch>
                  <a:fillRect l="-1476" b="-13725"/>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26353782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424942"/>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Limitation of RNN: ‘long term dependency’</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A long-term dependency problem is one in which the association becomes smaller as the distance between an input and an output increases. </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recurrent neural networks (RNN) </a:t>
            </a:r>
            <a:endParaRPr lang="en-US" altLang="ko-KR" sz="2800" dirty="0">
              <a:latin typeface="Arial Narrow" panose="020B0606020202030204" pitchFamily="34" charset="0"/>
              <a:cs typeface="Times New Roman" panose="02020603050405020304" pitchFamily="18" charset="0"/>
            </a:endParaRPr>
          </a:p>
        </p:txBody>
      </p:sp>
      <p:pic>
        <p:nvPicPr>
          <p:cNvPr id="12292" name="Picture 4" descr="RNN vs LSTM. Source: Cheung 2018.">
            <a:extLst>
              <a:ext uri="{FF2B5EF4-FFF2-40B4-BE49-F238E27FC236}">
                <a16:creationId xmlns:a16="http://schemas.microsoft.com/office/drawing/2014/main" id="{A2E44C45-5635-3D5B-4DAE-B9978A2DC55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444" r="54333" b="30003"/>
          <a:stretch/>
        </p:blipFill>
        <p:spPr bwMode="auto">
          <a:xfrm>
            <a:off x="2057400" y="2794208"/>
            <a:ext cx="4686300" cy="292466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4134AF2-B077-32CD-135B-CB48324A23CB}"/>
              </a:ext>
            </a:extLst>
          </p:cNvPr>
          <p:cNvSpPr txBox="1"/>
          <p:nvPr/>
        </p:nvSpPr>
        <p:spPr>
          <a:xfrm>
            <a:off x="5753100" y="6453486"/>
            <a:ext cx="3241755" cy="276999"/>
          </a:xfrm>
          <a:prstGeom prst="rect">
            <a:avLst/>
          </a:prstGeom>
          <a:noFill/>
        </p:spPr>
        <p:txBody>
          <a:bodyPr wrap="square">
            <a:spAutoFit/>
          </a:bodyPr>
          <a:lstStyle/>
          <a:p>
            <a:r>
              <a:rPr lang="ko-KR" altLang="en-US" sz="1200" dirty="0"/>
              <a:t>https://devopedia.org/long-short-term-memory</a:t>
            </a:r>
          </a:p>
        </p:txBody>
      </p:sp>
      <p:sp>
        <p:nvSpPr>
          <p:cNvPr id="11" name="TextBox 10">
            <a:extLst>
              <a:ext uri="{FF2B5EF4-FFF2-40B4-BE49-F238E27FC236}">
                <a16:creationId xmlns:a16="http://schemas.microsoft.com/office/drawing/2014/main" id="{9DFB0531-4DD2-F2CF-93D5-C74C5920B95B}"/>
              </a:ext>
            </a:extLst>
          </p:cNvPr>
          <p:cNvSpPr txBox="1"/>
          <p:nvPr/>
        </p:nvSpPr>
        <p:spPr>
          <a:xfrm>
            <a:off x="2606040" y="5718870"/>
            <a:ext cx="4648200" cy="369332"/>
          </a:xfrm>
          <a:prstGeom prst="rect">
            <a:avLst/>
          </a:prstGeom>
          <a:noFill/>
        </p:spPr>
        <p:txBody>
          <a:bodyPr wrap="square">
            <a:spAutoFit/>
          </a:bodyPr>
          <a:lstStyle/>
          <a:p>
            <a:r>
              <a:rPr lang="en-US" altLang="ko-KR" dirty="0">
                <a:solidFill>
                  <a:srgbClr val="222222"/>
                </a:solidFill>
                <a:latin typeface="Arial Narrow" panose="020B0606020202030204" pitchFamily="34" charset="0"/>
              </a:rPr>
              <a:t>The daker the shade, the greater the sensitivity</a:t>
            </a:r>
            <a:endParaRPr lang="ko-KR" altLang="en-US" dirty="0"/>
          </a:p>
        </p:txBody>
      </p:sp>
    </p:spTree>
    <p:extLst>
      <p:ext uri="{BB962C8B-B14F-4D97-AF65-F5344CB8AC3E}">
        <p14:creationId xmlns:p14="http://schemas.microsoft.com/office/powerpoint/2010/main" val="4062529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424942"/>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Limitation of RNN: ‘long term dependency’</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In RNN, the same weights are used repeatedly, so thus during the backpropagation, multiplying the derivatives by the weights multiple times causes exploding or vanishing gradients.</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recurrent neural networks (RNN) </a:t>
            </a:r>
            <a:endParaRPr lang="en-US" altLang="ko-KR" sz="2800" dirty="0">
              <a:latin typeface="Arial Narrow" panose="020B060602020203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5920740" y="6510398"/>
            <a:ext cx="3002280" cy="276999"/>
          </a:xfrm>
          <a:prstGeom prst="rect">
            <a:avLst/>
          </a:prstGeom>
          <a:noFill/>
        </p:spPr>
        <p:txBody>
          <a:bodyPr wrap="square">
            <a:spAutoFit/>
          </a:bodyPr>
          <a:lstStyle/>
          <a:p>
            <a:r>
              <a:rPr lang="en-US" altLang="ko-KR" sz="1200" dirty="0"/>
              <a:t>https://childult-programmer.tistory.com/55</a:t>
            </a:r>
            <a:endParaRPr lang="ko-KR" altLang="en-US" sz="1200" dirty="0"/>
          </a:p>
        </p:txBody>
      </p:sp>
      <p:pic>
        <p:nvPicPr>
          <p:cNvPr id="2" name="그림 1">
            <a:extLst>
              <a:ext uri="{FF2B5EF4-FFF2-40B4-BE49-F238E27FC236}">
                <a16:creationId xmlns:a16="http://schemas.microsoft.com/office/drawing/2014/main" id="{866F721F-7A6B-EA04-D44C-B3B4725FDA59}"/>
              </a:ext>
            </a:extLst>
          </p:cNvPr>
          <p:cNvPicPr>
            <a:picLocks noChangeAspect="1"/>
          </p:cNvPicPr>
          <p:nvPr/>
        </p:nvPicPr>
        <p:blipFill>
          <a:blip r:embed="rId3"/>
          <a:stretch>
            <a:fillRect/>
          </a:stretch>
        </p:blipFill>
        <p:spPr>
          <a:xfrm>
            <a:off x="1418273" y="2975431"/>
            <a:ext cx="6125528" cy="3066297"/>
          </a:xfrm>
          <a:prstGeom prst="rect">
            <a:avLst/>
          </a:prstGeom>
        </p:spPr>
      </p:pic>
    </p:spTree>
    <p:extLst>
      <p:ext uri="{BB962C8B-B14F-4D97-AF65-F5344CB8AC3E}">
        <p14:creationId xmlns:p14="http://schemas.microsoft.com/office/powerpoint/2010/main" val="36220254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Limitation of RNN: ‘long term dependency’</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recurrent neural networks (RNN) </a:t>
            </a:r>
            <a:endParaRPr lang="en-US" altLang="ko-KR" sz="2800" dirty="0">
              <a:latin typeface="Arial Narrow" panose="020B060602020203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5920740" y="6510398"/>
            <a:ext cx="3002280" cy="276999"/>
          </a:xfrm>
          <a:prstGeom prst="rect">
            <a:avLst/>
          </a:prstGeom>
          <a:noFill/>
        </p:spPr>
        <p:txBody>
          <a:bodyPr wrap="square">
            <a:spAutoFit/>
          </a:bodyPr>
          <a:lstStyle/>
          <a:p>
            <a:r>
              <a:rPr lang="en-US" altLang="ko-KR" sz="1200" dirty="0"/>
              <a:t>https://childult-programmer.tistory.com/55</a:t>
            </a:r>
            <a:endParaRPr lang="ko-KR" altLang="en-US" sz="1200" dirty="0"/>
          </a:p>
        </p:txBody>
      </p:sp>
      <p:pic>
        <p:nvPicPr>
          <p:cNvPr id="14338" name="Picture 2">
            <a:extLst>
              <a:ext uri="{FF2B5EF4-FFF2-40B4-BE49-F238E27FC236}">
                <a16:creationId xmlns:a16="http://schemas.microsoft.com/office/drawing/2014/main" id="{BCA306EC-25AC-6D55-B6C8-EBF502BE3E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7918" y="2053622"/>
            <a:ext cx="4505325" cy="2143125"/>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85F0ED5-C9AD-990B-6F9E-4A3F83389857}"/>
                  </a:ext>
                </a:extLst>
              </p:cNvPr>
              <p:cNvSpPr txBox="1"/>
              <p:nvPr/>
            </p:nvSpPr>
            <p:spPr>
              <a:xfrm>
                <a:off x="733424" y="4534799"/>
                <a:ext cx="7526656" cy="2100127"/>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Exploding gradients: when the derivatives (i.e., </a:t>
                </a:r>
                <a14:m>
                  <m:oMath xmlns:m="http://schemas.openxmlformats.org/officeDocument/2006/math">
                    <m:f>
                      <m:fPr>
                        <m:ctrlPr>
                          <a:rPr lang="en-US" altLang="ko-KR" i="1" smtClean="0">
                            <a:solidFill>
                              <a:srgbClr val="222222"/>
                            </a:solidFill>
                            <a:latin typeface="Cambria Math" panose="02040503050406030204" pitchFamily="18" charset="0"/>
                          </a:rPr>
                        </m:ctrlPr>
                      </m:fPr>
                      <m:num>
                        <m:r>
                          <a:rPr lang="ko-KR" altLang="en-US" i="1" smtClean="0">
                            <a:solidFill>
                              <a:srgbClr val="222222"/>
                            </a:solidFill>
                            <a:latin typeface="Cambria Math" panose="02040503050406030204" pitchFamily="18" charset="0"/>
                          </a:rPr>
                          <m:t>𝜕</m:t>
                        </m:r>
                        <m:r>
                          <a:rPr lang="en-US" altLang="ko-KR" b="0" i="1" smtClean="0">
                            <a:solidFill>
                              <a:srgbClr val="222222"/>
                            </a:solidFill>
                            <a:latin typeface="Cambria Math" panose="02040503050406030204" pitchFamily="18" charset="0"/>
                          </a:rPr>
                          <m:t>h</m:t>
                        </m:r>
                        <m:r>
                          <a:rPr lang="en-US" altLang="ko-KR" b="0" i="1" smtClean="0">
                            <a:solidFill>
                              <a:srgbClr val="222222"/>
                            </a:solidFill>
                            <a:latin typeface="Cambria Math" panose="02040503050406030204" pitchFamily="18" charset="0"/>
                          </a:rPr>
                          <m:t>100</m:t>
                        </m:r>
                      </m:num>
                      <m:den>
                        <m:r>
                          <a:rPr lang="ko-KR" altLang="en-US" i="1">
                            <a:solidFill>
                              <a:srgbClr val="222222"/>
                            </a:solidFill>
                            <a:latin typeface="Cambria Math" panose="02040503050406030204" pitchFamily="18" charset="0"/>
                          </a:rPr>
                          <m:t>𝜕</m:t>
                        </m:r>
                        <m:r>
                          <a:rPr lang="en-US" altLang="ko-KR" i="1">
                            <a:solidFill>
                              <a:srgbClr val="222222"/>
                            </a:solidFill>
                            <a:latin typeface="Cambria Math" panose="02040503050406030204" pitchFamily="18" charset="0"/>
                          </a:rPr>
                          <m:t>h</m:t>
                        </m:r>
                        <m:r>
                          <a:rPr lang="en-US" altLang="ko-KR" b="0" i="1" smtClean="0">
                            <a:solidFill>
                              <a:srgbClr val="222222"/>
                            </a:solidFill>
                            <a:latin typeface="Cambria Math" panose="02040503050406030204" pitchFamily="18" charset="0"/>
                          </a:rPr>
                          <m:t>99</m:t>
                        </m:r>
                      </m:den>
                    </m:f>
                  </m:oMath>
                </a14:m>
                <a:r>
                  <a:rPr lang="en-US" altLang="ko-KR" dirty="0">
                    <a:solidFill>
                      <a:srgbClr val="222222"/>
                    </a:solidFill>
                    <a:latin typeface="Arial Narrow" panose="020B0606020202030204" pitchFamily="34" charset="0"/>
                  </a:rPr>
                  <a:t>) have somewhat large values  </a:t>
                </a:r>
              </a:p>
              <a:p>
                <a:pPr marL="742950" lvl="1" indent="-28575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Ex 1.1 ^ 100 = 13780.6123</a:t>
                </a:r>
              </a:p>
              <a:p>
                <a:pPr marL="285750" indent="-28575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Vanishing gradients : when the derivatives (i.e., </a:t>
                </a:r>
                <a14:m>
                  <m:oMath xmlns:m="http://schemas.openxmlformats.org/officeDocument/2006/math">
                    <m:f>
                      <m:fPr>
                        <m:ctrlPr>
                          <a:rPr lang="en-US" altLang="ko-KR" i="1" smtClean="0">
                            <a:solidFill>
                              <a:srgbClr val="222222"/>
                            </a:solidFill>
                            <a:latin typeface="Cambria Math" panose="02040503050406030204" pitchFamily="18" charset="0"/>
                          </a:rPr>
                        </m:ctrlPr>
                      </m:fPr>
                      <m:num>
                        <m:r>
                          <a:rPr lang="ko-KR" altLang="en-US" i="1" smtClean="0">
                            <a:solidFill>
                              <a:srgbClr val="222222"/>
                            </a:solidFill>
                            <a:latin typeface="Cambria Math" panose="02040503050406030204" pitchFamily="18" charset="0"/>
                          </a:rPr>
                          <m:t>𝜕</m:t>
                        </m:r>
                        <m:r>
                          <a:rPr lang="en-US" altLang="ko-KR" b="0" i="1" smtClean="0">
                            <a:solidFill>
                              <a:srgbClr val="222222"/>
                            </a:solidFill>
                            <a:latin typeface="Cambria Math" panose="02040503050406030204" pitchFamily="18" charset="0"/>
                          </a:rPr>
                          <m:t>h</m:t>
                        </m:r>
                        <m:r>
                          <a:rPr lang="en-US" altLang="ko-KR" b="0" i="1" smtClean="0">
                            <a:solidFill>
                              <a:srgbClr val="222222"/>
                            </a:solidFill>
                            <a:latin typeface="Cambria Math" panose="02040503050406030204" pitchFamily="18" charset="0"/>
                          </a:rPr>
                          <m:t>100</m:t>
                        </m:r>
                      </m:num>
                      <m:den>
                        <m:r>
                          <a:rPr lang="ko-KR" altLang="en-US" i="1">
                            <a:solidFill>
                              <a:srgbClr val="222222"/>
                            </a:solidFill>
                            <a:latin typeface="Cambria Math" panose="02040503050406030204" pitchFamily="18" charset="0"/>
                          </a:rPr>
                          <m:t>𝜕</m:t>
                        </m:r>
                        <m:r>
                          <a:rPr lang="en-US" altLang="ko-KR" i="1">
                            <a:solidFill>
                              <a:srgbClr val="222222"/>
                            </a:solidFill>
                            <a:latin typeface="Cambria Math" panose="02040503050406030204" pitchFamily="18" charset="0"/>
                          </a:rPr>
                          <m:t>h</m:t>
                        </m:r>
                        <m:r>
                          <a:rPr lang="en-US" altLang="ko-KR" b="0" i="1" smtClean="0">
                            <a:solidFill>
                              <a:srgbClr val="222222"/>
                            </a:solidFill>
                            <a:latin typeface="Cambria Math" panose="02040503050406030204" pitchFamily="18" charset="0"/>
                          </a:rPr>
                          <m:t>99</m:t>
                        </m:r>
                      </m:den>
                    </m:f>
                  </m:oMath>
                </a14:m>
                <a:r>
                  <a:rPr lang="en-US" altLang="ko-KR" dirty="0">
                    <a:solidFill>
                      <a:srgbClr val="222222"/>
                    </a:solidFill>
                    <a:latin typeface="Arial Narrow" panose="020B0606020202030204" pitchFamily="34" charset="0"/>
                  </a:rPr>
                  <a:t>) have somewhat small values </a:t>
                </a:r>
              </a:p>
              <a:p>
                <a:pPr marL="742950" lvl="1" indent="-28575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Ex 0.9 ^ 60 = 0.0018</a:t>
                </a:r>
                <a:endParaRPr lang="ko-KR" altLang="en-US" dirty="0"/>
              </a:p>
            </p:txBody>
          </p:sp>
        </mc:Choice>
        <mc:Fallback xmlns="">
          <p:sp>
            <p:nvSpPr>
              <p:cNvPr id="4" name="TextBox 3">
                <a:extLst>
                  <a:ext uri="{FF2B5EF4-FFF2-40B4-BE49-F238E27FC236}">
                    <a16:creationId xmlns:a16="http://schemas.microsoft.com/office/drawing/2014/main" id="{C85F0ED5-C9AD-990B-6F9E-4A3F83389857}"/>
                  </a:ext>
                </a:extLst>
              </p:cNvPr>
              <p:cNvSpPr txBox="1">
                <a:spLocks noRot="1" noChangeAspect="1" noMove="1" noResize="1" noEditPoints="1" noAdjustHandles="1" noChangeArrowheads="1" noChangeShapeType="1" noTextEdit="1"/>
              </p:cNvSpPr>
              <p:nvPr/>
            </p:nvSpPr>
            <p:spPr>
              <a:xfrm>
                <a:off x="733424" y="4534799"/>
                <a:ext cx="7526656" cy="2100127"/>
              </a:xfrm>
              <a:prstGeom prst="rect">
                <a:avLst/>
              </a:prstGeom>
              <a:blipFill>
                <a:blip r:embed="rId4"/>
                <a:stretch>
                  <a:fillRect l="-486" r="-567" b="-3779"/>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21279809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7367429"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Exploding gradients and Vanishing gradients </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recurrent neural networks (RNN) </a:t>
            </a:r>
            <a:endParaRPr lang="en-US" altLang="ko-KR" sz="2800" dirty="0">
              <a:latin typeface="Arial Narrow" panose="020B060602020203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5547360" y="6510398"/>
            <a:ext cx="3375660" cy="276999"/>
          </a:xfrm>
          <a:prstGeom prst="rect">
            <a:avLst/>
          </a:prstGeom>
          <a:noFill/>
        </p:spPr>
        <p:txBody>
          <a:bodyPr wrap="square">
            <a:spAutoFit/>
          </a:bodyPr>
          <a:lstStyle/>
          <a:p>
            <a:r>
              <a:rPr lang="en-US" altLang="ko-KR" sz="1200" dirty="0"/>
              <a:t>https://www.jeremyjordan.me/nn-learning-rate/</a:t>
            </a:r>
            <a:endParaRPr lang="ko-KR" altLang="en-US" sz="1200" dirty="0"/>
          </a:p>
        </p:txBody>
      </p:sp>
      <p:pic>
        <p:nvPicPr>
          <p:cNvPr id="15362" name="Picture 2" descr="Goldilocks of learning rates">
            <a:extLst>
              <a:ext uri="{FF2B5EF4-FFF2-40B4-BE49-F238E27FC236}">
                <a16:creationId xmlns:a16="http://schemas.microsoft.com/office/drawing/2014/main" id="{5B8E2AD2-FBDF-8D1D-D74D-A7AE8FA4CF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2349" y="2225989"/>
            <a:ext cx="8086351" cy="31362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91320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599329" cy="1840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Introduction to LSTM</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LSTM for overcoming exploding gradients and vanishing gradient problems.</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It has the chain structure like RNNs, but the repeating module has a different structure; there are four mechanisms.</a:t>
            </a:r>
          </a:p>
        </p:txBody>
      </p:sp>
      <p:sp>
        <p:nvSpPr>
          <p:cNvPr id="6" name="직사각형 5">
            <a:extLst>
              <a:ext uri="{FF2B5EF4-FFF2-40B4-BE49-F238E27FC236}">
                <a16:creationId xmlns:a16="http://schemas.microsoft.com/office/drawing/2014/main" id="{6AE458C1-6B85-ECDF-7351-770B57E8612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pic>
        <p:nvPicPr>
          <p:cNvPr id="16386" name="Picture 2" descr="A LSTM neural network.">
            <a:extLst>
              <a:ext uri="{FF2B5EF4-FFF2-40B4-BE49-F238E27FC236}">
                <a16:creationId xmlns:a16="http://schemas.microsoft.com/office/drawing/2014/main" id="{F69C4E01-8913-02BA-969F-DEBD1D96C0A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82801" y="3185249"/>
            <a:ext cx="5175250" cy="1944312"/>
          </a:xfrm>
          <a:prstGeom prst="rect">
            <a:avLst/>
          </a:prstGeom>
          <a:noFill/>
          <a:extLst>
            <a:ext uri="{909E8E84-426E-40DD-AFC4-6F175D3DCCD1}">
              <a14:hiddenFill xmlns:a14="http://schemas.microsoft.com/office/drawing/2010/main">
                <a:solidFill>
                  <a:srgbClr val="FFFFFF"/>
                </a:solidFill>
              </a14:hiddenFill>
            </a:ext>
          </a:extLst>
        </p:spPr>
      </p:pic>
      <p:pic>
        <p:nvPicPr>
          <p:cNvPr id="2" name="그림 1">
            <a:extLst>
              <a:ext uri="{FF2B5EF4-FFF2-40B4-BE49-F238E27FC236}">
                <a16:creationId xmlns:a16="http://schemas.microsoft.com/office/drawing/2014/main" id="{7527FA0A-DD44-D88A-FBB0-FC6E09B7AECE}"/>
              </a:ext>
            </a:extLst>
          </p:cNvPr>
          <p:cNvPicPr>
            <a:picLocks noChangeAspect="1"/>
          </p:cNvPicPr>
          <p:nvPr/>
        </p:nvPicPr>
        <p:blipFill>
          <a:blip r:embed="rId4"/>
          <a:stretch>
            <a:fillRect/>
          </a:stretch>
        </p:blipFill>
        <p:spPr>
          <a:xfrm>
            <a:off x="4876800" y="5194797"/>
            <a:ext cx="3058363" cy="569821"/>
          </a:xfrm>
          <a:prstGeom prst="rect">
            <a:avLst/>
          </a:prstGeom>
        </p:spPr>
      </p:pic>
      <p:sp>
        <p:nvSpPr>
          <p:cNvPr id="3" name="TextBox 2">
            <a:extLst>
              <a:ext uri="{FF2B5EF4-FFF2-40B4-BE49-F238E27FC236}">
                <a16:creationId xmlns:a16="http://schemas.microsoft.com/office/drawing/2014/main" id="{4778AC71-EF0B-C85E-9F19-17B288081FCF}"/>
              </a:ext>
            </a:extLst>
          </p:cNvPr>
          <p:cNvSpPr txBox="1"/>
          <p:nvPr/>
        </p:nvSpPr>
        <p:spPr>
          <a:xfrm>
            <a:off x="4876800" y="6510398"/>
            <a:ext cx="4130040" cy="276999"/>
          </a:xfrm>
          <a:prstGeom prst="rect">
            <a:avLst/>
          </a:prstGeom>
          <a:noFill/>
        </p:spPr>
        <p:txBody>
          <a:bodyPr wrap="square">
            <a:spAutoFit/>
          </a:bodyPr>
          <a:lstStyle/>
          <a:p>
            <a:r>
              <a:rPr lang="en-US" altLang="ko-KR" sz="1200" dirty="0"/>
              <a:t>https://colah.github.io/posts/2015-08-Understanding-LSTMs/</a:t>
            </a:r>
            <a:endParaRPr lang="ko-KR" altLang="en-US" sz="1200" dirty="0"/>
          </a:p>
        </p:txBody>
      </p:sp>
    </p:spTree>
    <p:extLst>
      <p:ext uri="{BB962C8B-B14F-4D97-AF65-F5344CB8AC3E}">
        <p14:creationId xmlns:p14="http://schemas.microsoft.com/office/powerpoint/2010/main" val="22602147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592103"/>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Details in LSTM</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Forget Gate</a:t>
            </a:r>
          </a:p>
          <a:p>
            <a:pPr marL="741600" lvl="1" indent="-284400">
              <a:lnSpc>
                <a:spcPct val="150000"/>
              </a:lnSpc>
              <a:buFont typeface="Arial" panose="020B0604020202020204" pitchFamily="34" charset="0"/>
              <a:buChar char="•"/>
            </a:pPr>
            <a:endParaRPr lang="en-US" altLang="ko-KR" sz="2400" dirty="0">
              <a:solidFill>
                <a:srgbClr val="222222"/>
              </a:solidFill>
              <a:latin typeface="Arial Narrow" panose="020B0606020202030204" pitchFamily="34"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4457700" y="6510398"/>
            <a:ext cx="4549140" cy="276999"/>
          </a:xfrm>
          <a:prstGeom prst="rect">
            <a:avLst/>
          </a:prstGeom>
          <a:noFill/>
        </p:spPr>
        <p:txBody>
          <a:bodyPr wrap="square">
            <a:spAutoFit/>
          </a:bodyPr>
          <a:lstStyle/>
          <a:p>
            <a:r>
              <a:rPr lang="en-US" altLang="ko-KR" sz="1200" dirty="0"/>
              <a:t>https://www.pluralsight.com/guides/introduction-to-lstm-units-in-rnn</a:t>
            </a:r>
            <a:endParaRPr lang="ko-KR" altLang="en-US" sz="1200" dirty="0"/>
          </a:p>
        </p:txBody>
      </p:sp>
      <p:pic>
        <p:nvPicPr>
          <p:cNvPr id="4" name="Picture 2" descr="forget gate">
            <a:extLst>
              <a:ext uri="{FF2B5EF4-FFF2-40B4-BE49-F238E27FC236}">
                <a16:creationId xmlns:a16="http://schemas.microsoft.com/office/drawing/2014/main" id="{14CD5630-A155-3627-4DDB-022B09E6C2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3616" y="2354823"/>
            <a:ext cx="4937665" cy="27648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AD16BDD-2EEB-7FFF-6A05-2D846B38D8CD}"/>
              </a:ext>
            </a:extLst>
          </p:cNvPr>
          <p:cNvSpPr txBox="1"/>
          <p:nvPr/>
        </p:nvSpPr>
        <p:spPr>
          <a:xfrm>
            <a:off x="361950" y="2365982"/>
            <a:ext cx="3398680" cy="3785652"/>
          </a:xfrm>
          <a:prstGeom prst="rect">
            <a:avLst/>
          </a:prstGeom>
          <a:noFill/>
        </p:spPr>
        <p:txBody>
          <a:bodyPr wrap="square">
            <a:spAutoFit/>
          </a:bodyPr>
          <a:lstStyle/>
          <a:p>
            <a:pPr algn="just"/>
            <a:r>
              <a:rPr lang="en-US" altLang="ko-KR" sz="1600" dirty="0">
                <a:latin typeface="Arial Narrow" panose="020B0606020202030204" pitchFamily="34" charset="0"/>
              </a:rPr>
              <a:t>The forget gate decides which information needs attention and which can be ignored.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The information from the current input X(t) and hidden state h(t-1) are passed through the sigmoid function.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Sigmoid generates values between 0 and 1.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It concludes whether the part of the old output is necessary (by giving the output closer to 1).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This value of f(t) will later be used by the cell for point-by-point multiplication.</a:t>
            </a:r>
            <a:endParaRPr lang="ko-KR" altLang="en-US" sz="1600" dirty="0">
              <a:latin typeface="Arial Narrow" panose="020B0606020202030204" pitchFamily="34" charset="0"/>
            </a:endParaRPr>
          </a:p>
        </p:txBody>
      </p:sp>
      <p:pic>
        <p:nvPicPr>
          <p:cNvPr id="14" name="그림 13">
            <a:extLst>
              <a:ext uri="{FF2B5EF4-FFF2-40B4-BE49-F238E27FC236}">
                <a16:creationId xmlns:a16="http://schemas.microsoft.com/office/drawing/2014/main" id="{CC5677E9-D6DD-3CB4-F8D4-7F2F1DE5506C}"/>
              </a:ext>
            </a:extLst>
          </p:cNvPr>
          <p:cNvPicPr>
            <a:picLocks noChangeAspect="1"/>
          </p:cNvPicPr>
          <p:nvPr/>
        </p:nvPicPr>
        <p:blipFill>
          <a:blip r:embed="rId4"/>
          <a:stretch>
            <a:fillRect/>
          </a:stretch>
        </p:blipFill>
        <p:spPr>
          <a:xfrm>
            <a:off x="4990385" y="5077684"/>
            <a:ext cx="3352800" cy="846866"/>
          </a:xfrm>
          <a:prstGeom prst="rect">
            <a:avLst/>
          </a:prstGeom>
        </p:spPr>
      </p:pic>
      <p:sp>
        <p:nvSpPr>
          <p:cNvPr id="2" name="직사각형 1">
            <a:extLst>
              <a:ext uri="{FF2B5EF4-FFF2-40B4-BE49-F238E27FC236}">
                <a16:creationId xmlns:a16="http://schemas.microsoft.com/office/drawing/2014/main" id="{8921BC9A-8F1A-F3DC-1957-E090787F7BC1}"/>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3336457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592103"/>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Details in LSTM</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Input Gate</a:t>
            </a:r>
          </a:p>
          <a:p>
            <a:pPr marL="741600" lvl="1" indent="-284400">
              <a:lnSpc>
                <a:spcPct val="150000"/>
              </a:lnSpc>
              <a:buFont typeface="Arial" panose="020B0604020202020204" pitchFamily="34" charset="0"/>
              <a:buChar char="•"/>
            </a:pPr>
            <a:endParaRPr lang="en-US" altLang="ko-KR" sz="2400" dirty="0">
              <a:solidFill>
                <a:srgbClr val="222222"/>
              </a:solidFill>
              <a:latin typeface="Arial Narrow" panose="020B0606020202030204" pitchFamily="34"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4457700" y="6510398"/>
            <a:ext cx="4549140" cy="276999"/>
          </a:xfrm>
          <a:prstGeom prst="rect">
            <a:avLst/>
          </a:prstGeom>
          <a:noFill/>
        </p:spPr>
        <p:txBody>
          <a:bodyPr wrap="square">
            <a:spAutoFit/>
          </a:bodyPr>
          <a:lstStyle/>
          <a:p>
            <a:r>
              <a:rPr lang="en-US" altLang="ko-KR" sz="1200" dirty="0"/>
              <a:t>https://www.pluralsight.com/guides/introduction-to-lstm-units-in-rnn</a:t>
            </a:r>
            <a:endParaRPr lang="ko-KR" altLang="en-US" sz="1200" dirty="0"/>
          </a:p>
        </p:txBody>
      </p:sp>
      <p:sp>
        <p:nvSpPr>
          <p:cNvPr id="8" name="TextBox 7">
            <a:extLst>
              <a:ext uri="{FF2B5EF4-FFF2-40B4-BE49-F238E27FC236}">
                <a16:creationId xmlns:a16="http://schemas.microsoft.com/office/drawing/2014/main" id="{5AD16BDD-2EEB-7FFF-6A05-2D846B38D8CD}"/>
              </a:ext>
            </a:extLst>
          </p:cNvPr>
          <p:cNvSpPr txBox="1"/>
          <p:nvPr/>
        </p:nvSpPr>
        <p:spPr>
          <a:xfrm>
            <a:off x="361950" y="2365982"/>
            <a:ext cx="3398680" cy="2554545"/>
          </a:xfrm>
          <a:prstGeom prst="rect">
            <a:avLst/>
          </a:prstGeom>
          <a:noFill/>
        </p:spPr>
        <p:txBody>
          <a:bodyPr wrap="square">
            <a:spAutoFit/>
          </a:bodyPr>
          <a:lstStyle/>
          <a:p>
            <a:pPr algn="just"/>
            <a:r>
              <a:rPr lang="en-US" altLang="ko-KR" sz="1600" dirty="0">
                <a:latin typeface="Arial Narrow" panose="020B0606020202030204" pitchFamily="34" charset="0"/>
              </a:rPr>
              <a:t>The input gate performs the following operations to update the cell status.</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First, the current state X(t) and previously hidden state h(t-1) are passed into the second sigmoid function.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The values are transformed between 0 (important) and 1 (not-important).</a:t>
            </a:r>
          </a:p>
          <a:p>
            <a:pPr algn="just"/>
            <a:endParaRPr lang="en-US" altLang="ko-KR" sz="1600" dirty="0">
              <a:latin typeface="Arial Narrow" panose="020B0606020202030204" pitchFamily="34" charset="0"/>
            </a:endParaRPr>
          </a:p>
        </p:txBody>
      </p:sp>
      <p:pic>
        <p:nvPicPr>
          <p:cNvPr id="14" name="그림 13">
            <a:extLst>
              <a:ext uri="{FF2B5EF4-FFF2-40B4-BE49-F238E27FC236}">
                <a16:creationId xmlns:a16="http://schemas.microsoft.com/office/drawing/2014/main" id="{CC5677E9-D6DD-3CB4-F8D4-7F2F1DE5506C}"/>
              </a:ext>
            </a:extLst>
          </p:cNvPr>
          <p:cNvPicPr>
            <a:picLocks noChangeAspect="1"/>
          </p:cNvPicPr>
          <p:nvPr/>
        </p:nvPicPr>
        <p:blipFill>
          <a:blip r:embed="rId3"/>
          <a:stretch>
            <a:fillRect/>
          </a:stretch>
        </p:blipFill>
        <p:spPr>
          <a:xfrm>
            <a:off x="4990385" y="5077684"/>
            <a:ext cx="3352800" cy="846866"/>
          </a:xfrm>
          <a:prstGeom prst="rect">
            <a:avLst/>
          </a:prstGeom>
        </p:spPr>
      </p:pic>
      <p:pic>
        <p:nvPicPr>
          <p:cNvPr id="3" name="Picture 4" descr="input gate">
            <a:extLst>
              <a:ext uri="{FF2B5EF4-FFF2-40B4-BE49-F238E27FC236}">
                <a16:creationId xmlns:a16="http://schemas.microsoft.com/office/drawing/2014/main" id="{AC62180F-9C31-ADA3-ED6A-5A024FEFAA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63821" y="2429483"/>
            <a:ext cx="4923029" cy="2555267"/>
          </a:xfrm>
          <a:prstGeom prst="rect">
            <a:avLst/>
          </a:prstGeom>
          <a:noFill/>
          <a:extLst>
            <a:ext uri="{909E8E84-426E-40DD-AFC4-6F175D3DCCD1}">
              <a14:hiddenFill xmlns:a14="http://schemas.microsoft.com/office/drawing/2010/main">
                <a:solidFill>
                  <a:srgbClr val="FFFFFF"/>
                </a:solidFill>
              </a14:hiddenFill>
            </a:ext>
          </a:extLst>
        </p:spPr>
      </p:pic>
      <p:sp>
        <p:nvSpPr>
          <p:cNvPr id="2" name="직사각형 1">
            <a:extLst>
              <a:ext uri="{FF2B5EF4-FFF2-40B4-BE49-F238E27FC236}">
                <a16:creationId xmlns:a16="http://schemas.microsoft.com/office/drawing/2014/main" id="{25E8D6EF-E6CA-971B-02BE-D4D35F147F7C}"/>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35330361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592103"/>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Details in LSTM</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Input Gate</a:t>
            </a:r>
          </a:p>
          <a:p>
            <a:pPr marL="741600" lvl="1" indent="-284400">
              <a:lnSpc>
                <a:spcPct val="150000"/>
              </a:lnSpc>
              <a:buFont typeface="Arial" panose="020B0604020202020204" pitchFamily="34" charset="0"/>
              <a:buChar char="•"/>
            </a:pPr>
            <a:endParaRPr lang="en-US" altLang="ko-KR" sz="2400" dirty="0">
              <a:solidFill>
                <a:srgbClr val="222222"/>
              </a:solidFill>
              <a:latin typeface="Arial Narrow" panose="020B0606020202030204" pitchFamily="34"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4457700" y="6510398"/>
            <a:ext cx="4549140" cy="276999"/>
          </a:xfrm>
          <a:prstGeom prst="rect">
            <a:avLst/>
          </a:prstGeom>
          <a:noFill/>
        </p:spPr>
        <p:txBody>
          <a:bodyPr wrap="square">
            <a:spAutoFit/>
          </a:bodyPr>
          <a:lstStyle/>
          <a:p>
            <a:r>
              <a:rPr lang="en-US" altLang="ko-KR" sz="1200" dirty="0"/>
              <a:t>https://www.pluralsight.com/guides/introduction-to-lstm-units-in-rnn</a:t>
            </a:r>
            <a:endParaRPr lang="ko-KR" altLang="en-US" sz="1200" dirty="0"/>
          </a:p>
        </p:txBody>
      </p:sp>
      <p:sp>
        <p:nvSpPr>
          <p:cNvPr id="8" name="TextBox 7">
            <a:extLst>
              <a:ext uri="{FF2B5EF4-FFF2-40B4-BE49-F238E27FC236}">
                <a16:creationId xmlns:a16="http://schemas.microsoft.com/office/drawing/2014/main" id="{5AD16BDD-2EEB-7FFF-6A05-2D846B38D8CD}"/>
              </a:ext>
            </a:extLst>
          </p:cNvPr>
          <p:cNvSpPr txBox="1"/>
          <p:nvPr/>
        </p:nvSpPr>
        <p:spPr>
          <a:xfrm>
            <a:off x="361950" y="2365982"/>
            <a:ext cx="3398680" cy="3539430"/>
          </a:xfrm>
          <a:prstGeom prst="rect">
            <a:avLst/>
          </a:prstGeom>
          <a:noFill/>
        </p:spPr>
        <p:txBody>
          <a:bodyPr wrap="square">
            <a:spAutoFit/>
          </a:bodyPr>
          <a:lstStyle/>
          <a:p>
            <a:pPr algn="just"/>
            <a:r>
              <a:rPr lang="en-US" altLang="ko-KR" sz="1600" dirty="0">
                <a:latin typeface="Arial Narrow" panose="020B0606020202030204" pitchFamily="34" charset="0"/>
              </a:rPr>
              <a:t>The input gate performs the following operations to update the cell status.</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Next, the same information of the hidden state and current state will be passed through the tanh function.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To regulate the network, the tanh operator will create a vector (C~(t) ) with all the possible values between -1 and 1.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The output values generated from the activation functions are ready for point-by-point multiplication.</a:t>
            </a:r>
            <a:endParaRPr lang="ko-KR" altLang="en-US" sz="1600" dirty="0">
              <a:latin typeface="Arial Narrow" panose="020B0606020202030204" pitchFamily="34" charset="0"/>
            </a:endParaRPr>
          </a:p>
        </p:txBody>
      </p:sp>
      <p:pic>
        <p:nvPicPr>
          <p:cNvPr id="14" name="그림 13">
            <a:extLst>
              <a:ext uri="{FF2B5EF4-FFF2-40B4-BE49-F238E27FC236}">
                <a16:creationId xmlns:a16="http://schemas.microsoft.com/office/drawing/2014/main" id="{CC5677E9-D6DD-3CB4-F8D4-7F2F1DE5506C}"/>
              </a:ext>
            </a:extLst>
          </p:cNvPr>
          <p:cNvPicPr>
            <a:picLocks noChangeAspect="1"/>
          </p:cNvPicPr>
          <p:nvPr/>
        </p:nvPicPr>
        <p:blipFill>
          <a:blip r:embed="rId3"/>
          <a:stretch>
            <a:fillRect/>
          </a:stretch>
        </p:blipFill>
        <p:spPr>
          <a:xfrm>
            <a:off x="4990385" y="5077684"/>
            <a:ext cx="3352800" cy="846866"/>
          </a:xfrm>
          <a:prstGeom prst="rect">
            <a:avLst/>
          </a:prstGeom>
        </p:spPr>
      </p:pic>
      <p:pic>
        <p:nvPicPr>
          <p:cNvPr id="3" name="Picture 4" descr="input gate">
            <a:extLst>
              <a:ext uri="{FF2B5EF4-FFF2-40B4-BE49-F238E27FC236}">
                <a16:creationId xmlns:a16="http://schemas.microsoft.com/office/drawing/2014/main" id="{AC62180F-9C31-ADA3-ED6A-5A024FEFAA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63821" y="2429483"/>
            <a:ext cx="4923029" cy="2555267"/>
          </a:xfrm>
          <a:prstGeom prst="rect">
            <a:avLst/>
          </a:prstGeom>
          <a:noFill/>
          <a:extLst>
            <a:ext uri="{909E8E84-426E-40DD-AFC4-6F175D3DCCD1}">
              <a14:hiddenFill xmlns:a14="http://schemas.microsoft.com/office/drawing/2010/main">
                <a:solidFill>
                  <a:srgbClr val="FFFFFF"/>
                </a:solidFill>
              </a14:hiddenFill>
            </a:ext>
          </a:extLst>
        </p:spPr>
      </p:pic>
      <p:sp>
        <p:nvSpPr>
          <p:cNvPr id="2" name="직사각형 1">
            <a:extLst>
              <a:ext uri="{FF2B5EF4-FFF2-40B4-BE49-F238E27FC236}">
                <a16:creationId xmlns:a16="http://schemas.microsoft.com/office/drawing/2014/main" id="{D66594E1-944C-1EB7-4DED-ED7C546A751F}"/>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16405953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Details in LSTM</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Cell State</a:t>
            </a:r>
            <a:endParaRPr lang="en-US" altLang="ko-KR" sz="2400" dirty="0">
              <a:solidFill>
                <a:srgbClr val="222222"/>
              </a:solidFill>
              <a:latin typeface="Arial Narrow" panose="020B0606020202030204" pitchFamily="34"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4457700" y="6510398"/>
            <a:ext cx="4549140" cy="276999"/>
          </a:xfrm>
          <a:prstGeom prst="rect">
            <a:avLst/>
          </a:prstGeom>
          <a:noFill/>
        </p:spPr>
        <p:txBody>
          <a:bodyPr wrap="square">
            <a:spAutoFit/>
          </a:bodyPr>
          <a:lstStyle/>
          <a:p>
            <a:r>
              <a:rPr lang="en-US" altLang="ko-KR" sz="1200" dirty="0"/>
              <a:t>https://www.pluralsight.com/guides/introduction-to-lstm-units-in-rnn</a:t>
            </a:r>
            <a:endParaRPr lang="ko-KR" altLang="en-US" sz="1200" dirty="0"/>
          </a:p>
        </p:txBody>
      </p:sp>
      <p:sp>
        <p:nvSpPr>
          <p:cNvPr id="8" name="TextBox 7">
            <a:extLst>
              <a:ext uri="{FF2B5EF4-FFF2-40B4-BE49-F238E27FC236}">
                <a16:creationId xmlns:a16="http://schemas.microsoft.com/office/drawing/2014/main" id="{5AD16BDD-2EEB-7FFF-6A05-2D846B38D8CD}"/>
              </a:ext>
            </a:extLst>
          </p:cNvPr>
          <p:cNvSpPr txBox="1"/>
          <p:nvPr/>
        </p:nvSpPr>
        <p:spPr>
          <a:xfrm>
            <a:off x="361950" y="2365982"/>
            <a:ext cx="3398680" cy="3046988"/>
          </a:xfrm>
          <a:prstGeom prst="rect">
            <a:avLst/>
          </a:prstGeom>
          <a:noFill/>
        </p:spPr>
        <p:txBody>
          <a:bodyPr wrap="square">
            <a:spAutoFit/>
          </a:bodyPr>
          <a:lstStyle/>
          <a:p>
            <a:pPr algn="just"/>
            <a:r>
              <a:rPr lang="en-US" altLang="ko-KR" sz="1600" dirty="0">
                <a:solidFill>
                  <a:srgbClr val="222222"/>
                </a:solidFill>
                <a:latin typeface="Arial Narrow" panose="020B0606020202030204" pitchFamily="34" charset="0"/>
              </a:rPr>
              <a:t>Cell state </a:t>
            </a:r>
            <a:r>
              <a:rPr lang="en-US" altLang="ko-KR" sz="1600" dirty="0">
                <a:latin typeface="Arial Narrow" panose="020B0606020202030204" pitchFamily="34" charset="0"/>
              </a:rPr>
              <a:t>decides and store the information from the new state in the cell state.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The network has enough information from the forget gate and input gate.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The previous cell state C(t-1) gets multiplied with forget vector f(t).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If the outcome is 0, then values(the previous information) will get dropped in the cell state. </a:t>
            </a:r>
          </a:p>
        </p:txBody>
      </p:sp>
      <p:pic>
        <p:nvPicPr>
          <p:cNvPr id="14" name="그림 13">
            <a:extLst>
              <a:ext uri="{FF2B5EF4-FFF2-40B4-BE49-F238E27FC236}">
                <a16:creationId xmlns:a16="http://schemas.microsoft.com/office/drawing/2014/main" id="{CC5677E9-D6DD-3CB4-F8D4-7F2F1DE5506C}"/>
              </a:ext>
            </a:extLst>
          </p:cNvPr>
          <p:cNvPicPr>
            <a:picLocks noChangeAspect="1"/>
          </p:cNvPicPr>
          <p:nvPr/>
        </p:nvPicPr>
        <p:blipFill>
          <a:blip r:embed="rId3"/>
          <a:stretch>
            <a:fillRect/>
          </a:stretch>
        </p:blipFill>
        <p:spPr>
          <a:xfrm>
            <a:off x="4990385" y="5077684"/>
            <a:ext cx="3352800" cy="846866"/>
          </a:xfrm>
          <a:prstGeom prst="rect">
            <a:avLst/>
          </a:prstGeom>
        </p:spPr>
      </p:pic>
      <p:pic>
        <p:nvPicPr>
          <p:cNvPr id="9" name="Picture 6" descr="cell state">
            <a:extLst>
              <a:ext uri="{FF2B5EF4-FFF2-40B4-BE49-F238E27FC236}">
                <a16:creationId xmlns:a16="http://schemas.microsoft.com/office/drawing/2014/main" id="{537FD4CA-FE18-228B-8961-95C89832C59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45995" y="2423133"/>
            <a:ext cx="4860846" cy="2555267"/>
          </a:xfrm>
          <a:prstGeom prst="rect">
            <a:avLst/>
          </a:prstGeom>
          <a:noFill/>
          <a:extLst>
            <a:ext uri="{909E8E84-426E-40DD-AFC4-6F175D3DCCD1}">
              <a14:hiddenFill xmlns:a14="http://schemas.microsoft.com/office/drawing/2010/main">
                <a:solidFill>
                  <a:srgbClr val="FFFFFF"/>
                </a:solidFill>
              </a14:hiddenFill>
            </a:ext>
          </a:extLst>
        </p:spPr>
      </p:pic>
      <p:sp>
        <p:nvSpPr>
          <p:cNvPr id="2" name="직사각형 1">
            <a:extLst>
              <a:ext uri="{FF2B5EF4-FFF2-40B4-BE49-F238E27FC236}">
                <a16:creationId xmlns:a16="http://schemas.microsoft.com/office/drawing/2014/main" id="{DC093C75-3D76-0DB4-BB57-9F95135BDA20}"/>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9249168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Details in LSTM</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Cell State</a:t>
            </a:r>
            <a:endParaRPr lang="en-US" altLang="ko-KR" sz="2400" dirty="0">
              <a:solidFill>
                <a:srgbClr val="222222"/>
              </a:solidFill>
              <a:latin typeface="Arial Narrow" panose="020B0606020202030204" pitchFamily="34" charset="0"/>
            </a:endParaRPr>
          </a:p>
        </p:txBody>
      </p:sp>
      <p:sp>
        <p:nvSpPr>
          <p:cNvPr id="5" name="TextBox 4">
            <a:extLst>
              <a:ext uri="{FF2B5EF4-FFF2-40B4-BE49-F238E27FC236}">
                <a16:creationId xmlns:a16="http://schemas.microsoft.com/office/drawing/2014/main" id="{CA72C57D-CF58-2B95-D6E4-5BBFF95AF098}"/>
              </a:ext>
            </a:extLst>
          </p:cNvPr>
          <p:cNvSpPr txBox="1"/>
          <p:nvPr/>
        </p:nvSpPr>
        <p:spPr>
          <a:xfrm>
            <a:off x="4457700" y="6510398"/>
            <a:ext cx="4549140" cy="276999"/>
          </a:xfrm>
          <a:prstGeom prst="rect">
            <a:avLst/>
          </a:prstGeom>
          <a:noFill/>
        </p:spPr>
        <p:txBody>
          <a:bodyPr wrap="square">
            <a:spAutoFit/>
          </a:bodyPr>
          <a:lstStyle/>
          <a:p>
            <a:r>
              <a:rPr lang="en-US" altLang="ko-KR" sz="1200" dirty="0"/>
              <a:t>https://www.pluralsight.com/guides/introduction-to-lstm-units-in-rnn</a:t>
            </a:r>
            <a:endParaRPr lang="ko-KR" altLang="en-US" sz="1200" dirty="0"/>
          </a:p>
        </p:txBody>
      </p:sp>
      <p:sp>
        <p:nvSpPr>
          <p:cNvPr id="8" name="TextBox 7">
            <a:extLst>
              <a:ext uri="{FF2B5EF4-FFF2-40B4-BE49-F238E27FC236}">
                <a16:creationId xmlns:a16="http://schemas.microsoft.com/office/drawing/2014/main" id="{5AD16BDD-2EEB-7FFF-6A05-2D846B38D8CD}"/>
              </a:ext>
            </a:extLst>
          </p:cNvPr>
          <p:cNvSpPr txBox="1"/>
          <p:nvPr/>
        </p:nvSpPr>
        <p:spPr>
          <a:xfrm>
            <a:off x="361950" y="2365982"/>
            <a:ext cx="3398680" cy="2062103"/>
          </a:xfrm>
          <a:prstGeom prst="rect">
            <a:avLst/>
          </a:prstGeom>
          <a:noFill/>
        </p:spPr>
        <p:txBody>
          <a:bodyPr wrap="square">
            <a:spAutoFit/>
          </a:bodyPr>
          <a:lstStyle/>
          <a:p>
            <a:pPr algn="just"/>
            <a:r>
              <a:rPr lang="en-US" altLang="ko-KR" sz="1600" dirty="0">
                <a:solidFill>
                  <a:srgbClr val="222222"/>
                </a:solidFill>
                <a:latin typeface="Arial Narrow" panose="020B0606020202030204" pitchFamily="34" charset="0"/>
              </a:rPr>
              <a:t>Cell state </a:t>
            </a:r>
            <a:r>
              <a:rPr lang="en-US" altLang="ko-KR" sz="1600" dirty="0">
                <a:latin typeface="Arial Narrow" panose="020B0606020202030204" pitchFamily="34" charset="0"/>
              </a:rPr>
              <a:t>decides and store the information from the new state in the cell state.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Next, the network takes the output value of the input vector </a:t>
            </a:r>
            <a:r>
              <a:rPr lang="en-US" altLang="ko-KR" sz="1600" dirty="0" err="1">
                <a:latin typeface="Arial Narrow" panose="020B0606020202030204" pitchFamily="34" charset="0"/>
              </a:rPr>
              <a:t>i</a:t>
            </a:r>
            <a:r>
              <a:rPr lang="en-US" altLang="ko-KR" sz="1600" dirty="0">
                <a:latin typeface="Arial Narrow" panose="020B0606020202030204" pitchFamily="34" charset="0"/>
              </a:rPr>
              <a:t>(t) and performs point-by-point addition, which updates the cell state giving the network a new cell state C(t).</a:t>
            </a:r>
          </a:p>
          <a:p>
            <a:pPr algn="just"/>
            <a:endParaRPr lang="en-US" altLang="ko-KR" sz="1600" dirty="0">
              <a:latin typeface="Arial Narrow" panose="020B0606020202030204" pitchFamily="34" charset="0"/>
            </a:endParaRPr>
          </a:p>
        </p:txBody>
      </p:sp>
      <p:pic>
        <p:nvPicPr>
          <p:cNvPr id="14" name="그림 13">
            <a:extLst>
              <a:ext uri="{FF2B5EF4-FFF2-40B4-BE49-F238E27FC236}">
                <a16:creationId xmlns:a16="http://schemas.microsoft.com/office/drawing/2014/main" id="{CC5677E9-D6DD-3CB4-F8D4-7F2F1DE5506C}"/>
              </a:ext>
            </a:extLst>
          </p:cNvPr>
          <p:cNvPicPr>
            <a:picLocks noChangeAspect="1"/>
          </p:cNvPicPr>
          <p:nvPr/>
        </p:nvPicPr>
        <p:blipFill>
          <a:blip r:embed="rId3"/>
          <a:stretch>
            <a:fillRect/>
          </a:stretch>
        </p:blipFill>
        <p:spPr>
          <a:xfrm>
            <a:off x="4990385" y="5077684"/>
            <a:ext cx="3352800" cy="846866"/>
          </a:xfrm>
          <a:prstGeom prst="rect">
            <a:avLst/>
          </a:prstGeom>
        </p:spPr>
      </p:pic>
      <p:pic>
        <p:nvPicPr>
          <p:cNvPr id="9" name="Picture 6" descr="cell state">
            <a:extLst>
              <a:ext uri="{FF2B5EF4-FFF2-40B4-BE49-F238E27FC236}">
                <a16:creationId xmlns:a16="http://schemas.microsoft.com/office/drawing/2014/main" id="{537FD4CA-FE18-228B-8961-95C89832C59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45995" y="2423133"/>
            <a:ext cx="4860846" cy="2555267"/>
          </a:xfrm>
          <a:prstGeom prst="rect">
            <a:avLst/>
          </a:prstGeom>
          <a:noFill/>
          <a:extLst>
            <a:ext uri="{909E8E84-426E-40DD-AFC4-6F175D3DCCD1}">
              <a14:hiddenFill xmlns:a14="http://schemas.microsoft.com/office/drawing/2010/main">
                <a:solidFill>
                  <a:srgbClr val="FFFFFF"/>
                </a:solidFill>
              </a14:hiddenFill>
            </a:ext>
          </a:extLst>
        </p:spPr>
      </p:pic>
      <p:sp>
        <p:nvSpPr>
          <p:cNvPr id="2" name="직사각형 1">
            <a:extLst>
              <a:ext uri="{FF2B5EF4-FFF2-40B4-BE49-F238E27FC236}">
                <a16:creationId xmlns:a16="http://schemas.microsoft.com/office/drawing/2014/main" id="{B8913D26-9704-8879-D8BC-FA214A0E3915}"/>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18070022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Details in LSTM</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Output Gate</a:t>
            </a:r>
          </a:p>
        </p:txBody>
      </p:sp>
      <p:sp>
        <p:nvSpPr>
          <p:cNvPr id="5" name="TextBox 4">
            <a:extLst>
              <a:ext uri="{FF2B5EF4-FFF2-40B4-BE49-F238E27FC236}">
                <a16:creationId xmlns:a16="http://schemas.microsoft.com/office/drawing/2014/main" id="{CA72C57D-CF58-2B95-D6E4-5BBFF95AF098}"/>
              </a:ext>
            </a:extLst>
          </p:cNvPr>
          <p:cNvSpPr txBox="1"/>
          <p:nvPr/>
        </p:nvSpPr>
        <p:spPr>
          <a:xfrm>
            <a:off x="4457700" y="6510398"/>
            <a:ext cx="4549140" cy="276999"/>
          </a:xfrm>
          <a:prstGeom prst="rect">
            <a:avLst/>
          </a:prstGeom>
          <a:noFill/>
        </p:spPr>
        <p:txBody>
          <a:bodyPr wrap="square">
            <a:spAutoFit/>
          </a:bodyPr>
          <a:lstStyle/>
          <a:p>
            <a:r>
              <a:rPr lang="en-US" altLang="ko-KR" sz="1200" dirty="0"/>
              <a:t>https://www.pluralsight.com/guides/introduction-to-lstm-units-in-rnn</a:t>
            </a:r>
            <a:endParaRPr lang="ko-KR" altLang="en-US" sz="1200" dirty="0"/>
          </a:p>
        </p:txBody>
      </p:sp>
      <p:sp>
        <p:nvSpPr>
          <p:cNvPr id="8" name="TextBox 7">
            <a:extLst>
              <a:ext uri="{FF2B5EF4-FFF2-40B4-BE49-F238E27FC236}">
                <a16:creationId xmlns:a16="http://schemas.microsoft.com/office/drawing/2014/main" id="{5AD16BDD-2EEB-7FFF-6A05-2D846B38D8CD}"/>
              </a:ext>
            </a:extLst>
          </p:cNvPr>
          <p:cNvSpPr txBox="1"/>
          <p:nvPr/>
        </p:nvSpPr>
        <p:spPr>
          <a:xfrm>
            <a:off x="361950" y="2365982"/>
            <a:ext cx="3398680" cy="3539430"/>
          </a:xfrm>
          <a:prstGeom prst="rect">
            <a:avLst/>
          </a:prstGeom>
          <a:noFill/>
        </p:spPr>
        <p:txBody>
          <a:bodyPr wrap="square">
            <a:spAutoFit/>
          </a:bodyPr>
          <a:lstStyle/>
          <a:p>
            <a:pPr algn="just"/>
            <a:r>
              <a:rPr lang="en-US" altLang="ko-KR" sz="1600" dirty="0">
                <a:solidFill>
                  <a:srgbClr val="222222"/>
                </a:solidFill>
                <a:latin typeface="Arial Narrow" panose="020B0606020202030204" pitchFamily="34" charset="0"/>
              </a:rPr>
              <a:t>The output gate determines the value of the next hidden state. This state contains information on previous inputs.</a:t>
            </a:r>
            <a:r>
              <a:rPr lang="en-US" altLang="ko-KR" sz="1600" dirty="0">
                <a:latin typeface="Arial Narrow" panose="020B0606020202030204" pitchFamily="34" charset="0"/>
              </a:rPr>
              <a:t>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First, the values of the current state and previous hidden state are passed into the third sigmoid function.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Then the new cell state generated from the cell state is passed through the tanh function.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Both these outputs are multiplied point-by-point. </a:t>
            </a:r>
          </a:p>
        </p:txBody>
      </p:sp>
      <p:pic>
        <p:nvPicPr>
          <p:cNvPr id="14" name="그림 13">
            <a:extLst>
              <a:ext uri="{FF2B5EF4-FFF2-40B4-BE49-F238E27FC236}">
                <a16:creationId xmlns:a16="http://schemas.microsoft.com/office/drawing/2014/main" id="{CC5677E9-D6DD-3CB4-F8D4-7F2F1DE5506C}"/>
              </a:ext>
            </a:extLst>
          </p:cNvPr>
          <p:cNvPicPr>
            <a:picLocks noChangeAspect="1"/>
          </p:cNvPicPr>
          <p:nvPr/>
        </p:nvPicPr>
        <p:blipFill>
          <a:blip r:embed="rId3"/>
          <a:stretch>
            <a:fillRect/>
          </a:stretch>
        </p:blipFill>
        <p:spPr>
          <a:xfrm>
            <a:off x="4990385" y="5077684"/>
            <a:ext cx="3352800" cy="846866"/>
          </a:xfrm>
          <a:prstGeom prst="rect">
            <a:avLst/>
          </a:prstGeom>
        </p:spPr>
      </p:pic>
      <p:pic>
        <p:nvPicPr>
          <p:cNvPr id="3" name="Picture 8" descr="output gate">
            <a:extLst>
              <a:ext uri="{FF2B5EF4-FFF2-40B4-BE49-F238E27FC236}">
                <a16:creationId xmlns:a16="http://schemas.microsoft.com/office/drawing/2014/main" id="{1A37CA53-A82F-1A75-949B-7C8F4C071C7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45995" y="2446058"/>
            <a:ext cx="4799884" cy="2536990"/>
          </a:xfrm>
          <a:prstGeom prst="rect">
            <a:avLst/>
          </a:prstGeom>
          <a:noFill/>
          <a:extLst>
            <a:ext uri="{909E8E84-426E-40DD-AFC4-6F175D3DCCD1}">
              <a14:hiddenFill xmlns:a14="http://schemas.microsoft.com/office/drawing/2010/main">
                <a:solidFill>
                  <a:srgbClr val="FFFFFF"/>
                </a:solidFill>
              </a14:hiddenFill>
            </a:ext>
          </a:extLst>
        </p:spPr>
      </p:pic>
      <p:sp>
        <p:nvSpPr>
          <p:cNvPr id="2" name="직사각형 1">
            <a:extLst>
              <a:ext uri="{FF2B5EF4-FFF2-40B4-BE49-F238E27FC236}">
                <a16:creationId xmlns:a16="http://schemas.microsoft.com/office/drawing/2014/main" id="{9507988B-12B5-7DA2-6672-505237146E76}"/>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42001100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1" y="1139130"/>
            <a:ext cx="8967629"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Details in LSTM</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Output Gate</a:t>
            </a:r>
          </a:p>
        </p:txBody>
      </p:sp>
      <p:sp>
        <p:nvSpPr>
          <p:cNvPr id="5" name="TextBox 4">
            <a:extLst>
              <a:ext uri="{FF2B5EF4-FFF2-40B4-BE49-F238E27FC236}">
                <a16:creationId xmlns:a16="http://schemas.microsoft.com/office/drawing/2014/main" id="{CA72C57D-CF58-2B95-D6E4-5BBFF95AF098}"/>
              </a:ext>
            </a:extLst>
          </p:cNvPr>
          <p:cNvSpPr txBox="1"/>
          <p:nvPr/>
        </p:nvSpPr>
        <p:spPr>
          <a:xfrm>
            <a:off x="4457700" y="6510398"/>
            <a:ext cx="4549140" cy="276999"/>
          </a:xfrm>
          <a:prstGeom prst="rect">
            <a:avLst/>
          </a:prstGeom>
          <a:noFill/>
        </p:spPr>
        <p:txBody>
          <a:bodyPr wrap="square">
            <a:spAutoFit/>
          </a:bodyPr>
          <a:lstStyle/>
          <a:p>
            <a:r>
              <a:rPr lang="en-US" altLang="ko-KR" sz="1200" dirty="0"/>
              <a:t>https://www.pluralsight.com/guides/introduction-to-lstm-units-in-rnn</a:t>
            </a:r>
            <a:endParaRPr lang="ko-KR" altLang="en-US" sz="1200" dirty="0"/>
          </a:p>
        </p:txBody>
      </p:sp>
      <p:sp>
        <p:nvSpPr>
          <p:cNvPr id="8" name="TextBox 7">
            <a:extLst>
              <a:ext uri="{FF2B5EF4-FFF2-40B4-BE49-F238E27FC236}">
                <a16:creationId xmlns:a16="http://schemas.microsoft.com/office/drawing/2014/main" id="{5AD16BDD-2EEB-7FFF-6A05-2D846B38D8CD}"/>
              </a:ext>
            </a:extLst>
          </p:cNvPr>
          <p:cNvSpPr txBox="1"/>
          <p:nvPr/>
        </p:nvSpPr>
        <p:spPr>
          <a:xfrm>
            <a:off x="361950" y="2365982"/>
            <a:ext cx="3398680" cy="2554545"/>
          </a:xfrm>
          <a:prstGeom prst="rect">
            <a:avLst/>
          </a:prstGeom>
          <a:noFill/>
        </p:spPr>
        <p:txBody>
          <a:bodyPr wrap="square">
            <a:spAutoFit/>
          </a:bodyPr>
          <a:lstStyle/>
          <a:p>
            <a:pPr algn="just"/>
            <a:r>
              <a:rPr lang="en-US" altLang="ko-KR" sz="1600" dirty="0">
                <a:solidFill>
                  <a:srgbClr val="222222"/>
                </a:solidFill>
                <a:latin typeface="Arial Narrow" panose="020B0606020202030204" pitchFamily="34" charset="0"/>
              </a:rPr>
              <a:t>The output gate determines the value of the next hidden state. This state contains information on previous inputs.</a:t>
            </a:r>
            <a:r>
              <a:rPr lang="en-US" altLang="ko-KR" sz="1600" dirty="0">
                <a:latin typeface="Arial Narrow" panose="020B0606020202030204" pitchFamily="34" charset="0"/>
              </a:rPr>
              <a:t>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Based upon the final value, the network decides which information the hidden state should carry. </a:t>
            </a:r>
          </a:p>
          <a:p>
            <a:pPr algn="just"/>
            <a:endParaRPr lang="en-US" altLang="ko-KR" sz="1600" dirty="0">
              <a:latin typeface="Arial Narrow" panose="020B0606020202030204" pitchFamily="34" charset="0"/>
            </a:endParaRPr>
          </a:p>
          <a:p>
            <a:pPr algn="just"/>
            <a:r>
              <a:rPr lang="en-US" altLang="ko-KR" sz="1600" dirty="0">
                <a:latin typeface="Arial Narrow" panose="020B0606020202030204" pitchFamily="34" charset="0"/>
              </a:rPr>
              <a:t>This hidden state is used for prediction.</a:t>
            </a:r>
          </a:p>
          <a:p>
            <a:pPr algn="just"/>
            <a:endParaRPr lang="en-US" altLang="ko-KR" sz="1600" dirty="0">
              <a:latin typeface="Arial Narrow" panose="020B0606020202030204" pitchFamily="34" charset="0"/>
            </a:endParaRPr>
          </a:p>
        </p:txBody>
      </p:sp>
      <p:pic>
        <p:nvPicPr>
          <p:cNvPr id="14" name="그림 13">
            <a:extLst>
              <a:ext uri="{FF2B5EF4-FFF2-40B4-BE49-F238E27FC236}">
                <a16:creationId xmlns:a16="http://schemas.microsoft.com/office/drawing/2014/main" id="{CC5677E9-D6DD-3CB4-F8D4-7F2F1DE5506C}"/>
              </a:ext>
            </a:extLst>
          </p:cNvPr>
          <p:cNvPicPr>
            <a:picLocks noChangeAspect="1"/>
          </p:cNvPicPr>
          <p:nvPr/>
        </p:nvPicPr>
        <p:blipFill>
          <a:blip r:embed="rId3"/>
          <a:stretch>
            <a:fillRect/>
          </a:stretch>
        </p:blipFill>
        <p:spPr>
          <a:xfrm>
            <a:off x="4990385" y="5077684"/>
            <a:ext cx="3352800" cy="846866"/>
          </a:xfrm>
          <a:prstGeom prst="rect">
            <a:avLst/>
          </a:prstGeom>
        </p:spPr>
      </p:pic>
      <p:pic>
        <p:nvPicPr>
          <p:cNvPr id="3" name="Picture 8" descr="output gate">
            <a:extLst>
              <a:ext uri="{FF2B5EF4-FFF2-40B4-BE49-F238E27FC236}">
                <a16:creationId xmlns:a16="http://schemas.microsoft.com/office/drawing/2014/main" id="{1A37CA53-A82F-1A75-949B-7C8F4C071C7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45995" y="2446058"/>
            <a:ext cx="4799884" cy="2536990"/>
          </a:xfrm>
          <a:prstGeom prst="rect">
            <a:avLst/>
          </a:prstGeom>
          <a:noFill/>
          <a:extLst>
            <a:ext uri="{909E8E84-426E-40DD-AFC4-6F175D3DCCD1}">
              <a14:hiddenFill xmlns:a14="http://schemas.microsoft.com/office/drawing/2010/main">
                <a:solidFill>
                  <a:srgbClr val="FFFFFF"/>
                </a:solidFill>
              </a14:hiddenFill>
            </a:ext>
          </a:extLst>
        </p:spPr>
      </p:pic>
      <p:sp>
        <p:nvSpPr>
          <p:cNvPr id="2" name="직사각형 1">
            <a:extLst>
              <a:ext uri="{FF2B5EF4-FFF2-40B4-BE49-F238E27FC236}">
                <a16:creationId xmlns:a16="http://schemas.microsoft.com/office/drawing/2014/main" id="{81736CCD-9DF2-39BA-B2BA-22FAA67694C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22695351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289643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For LSTM or RNN implementation</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You may use tf.keras.layers.LSTM() or </a:t>
            </a:r>
            <a:r>
              <a:rPr lang="en-US" altLang="ko-KR" sz="2000" dirty="0" err="1">
                <a:solidFill>
                  <a:srgbClr val="222222"/>
                </a:solidFill>
                <a:latin typeface="Arial Narrow" panose="020B0606020202030204" pitchFamily="34" charset="0"/>
              </a:rPr>
              <a:t>tf.keras.layers.SimpleRNN</a:t>
            </a:r>
            <a:r>
              <a:rPr lang="en-US" altLang="ko-KR" sz="2000" dirty="0">
                <a:solidFill>
                  <a:srgbClr val="222222"/>
                </a:solidFill>
                <a:latin typeface="Arial Narrow" panose="020B0606020202030204" pitchFamily="34" charset="0"/>
              </a:rPr>
              <a:t>() to implement LSTM or RNN models, respectively. </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Among the many arguments for LSTM implementation, the key arguments are:</a:t>
            </a:r>
          </a:p>
          <a:p>
            <a:pPr marL="1198800" lvl="2" indent="-284400">
              <a:lnSpc>
                <a:spcPct val="150000"/>
              </a:lnSpc>
              <a:buFont typeface="Arial" panose="020B0604020202020204" pitchFamily="34" charset="0"/>
              <a:buChar char="•"/>
            </a:pPr>
            <a:r>
              <a:rPr lang="fr-FR" altLang="ko-KR" sz="2000" dirty="0">
                <a:solidFill>
                  <a:srgbClr val="222222"/>
                </a:solidFill>
                <a:latin typeface="Arial Narrow" panose="020B0606020202030204" pitchFamily="34" charset="0"/>
              </a:rPr>
              <a:t>units, activation='tanh’,   recurrent_activation='sigmoid’, dropout=0.0, recurrent_dropout=0.0, </a:t>
            </a:r>
            <a:r>
              <a:rPr lang="en-US" altLang="ko-KR" sz="2000" dirty="0" err="1">
                <a:solidFill>
                  <a:srgbClr val="222222"/>
                </a:solidFill>
                <a:latin typeface="Arial Narrow" panose="020B0606020202030204" pitchFamily="34" charset="0"/>
              </a:rPr>
              <a:t>return_sequences</a:t>
            </a:r>
            <a:r>
              <a:rPr lang="en-US" altLang="ko-KR" sz="2000" dirty="0">
                <a:solidFill>
                  <a:srgbClr val="222222"/>
                </a:solidFill>
                <a:latin typeface="Arial Narrow" panose="020B0606020202030204" pitchFamily="34" charset="0"/>
              </a:rPr>
              <a:t>=False, </a:t>
            </a:r>
            <a:r>
              <a:rPr lang="en-US" altLang="ko-KR" sz="2000" dirty="0" err="1">
                <a:solidFill>
                  <a:srgbClr val="222222"/>
                </a:solidFill>
                <a:latin typeface="Arial Narrow" panose="020B0606020202030204" pitchFamily="34" charset="0"/>
              </a:rPr>
              <a:t>return_state</a:t>
            </a:r>
            <a:r>
              <a:rPr lang="en-US" altLang="ko-KR" sz="2000" dirty="0">
                <a:solidFill>
                  <a:srgbClr val="222222"/>
                </a:solidFill>
                <a:latin typeface="Arial Narrow" panose="020B0606020202030204" pitchFamily="34" charset="0"/>
              </a:rPr>
              <a:t>=False</a:t>
            </a:r>
          </a:p>
        </p:txBody>
      </p:sp>
      <p:sp>
        <p:nvSpPr>
          <p:cNvPr id="2" name="직사각형 1">
            <a:extLst>
              <a:ext uri="{FF2B5EF4-FFF2-40B4-BE49-F238E27FC236}">
                <a16:creationId xmlns:a16="http://schemas.microsoft.com/office/drawing/2014/main" id="{E5C4CB9F-AC66-BC5A-E922-1C937C4CA075}"/>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28544312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511439"/>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For LSTM or RNN implementation</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u</a:t>
            </a:r>
            <a:r>
              <a:rPr lang="fr-FR" altLang="ko-KR" sz="2000" dirty="0">
                <a:solidFill>
                  <a:srgbClr val="222222"/>
                </a:solidFill>
                <a:latin typeface="Arial Narrow" panose="020B0606020202030204" pitchFamily="34" charset="0"/>
              </a:rPr>
              <a:t>nits = </a:t>
            </a:r>
            <a:r>
              <a:rPr lang="en-US" altLang="ko-KR" sz="2000" dirty="0">
                <a:solidFill>
                  <a:srgbClr val="222222"/>
                </a:solidFill>
                <a:latin typeface="Arial Narrow" panose="020B0606020202030204" pitchFamily="34" charset="0"/>
              </a:rPr>
              <a:t>dimensionality of the output space; The number of LSTM </a:t>
            </a:r>
            <a:r>
              <a:rPr lang="en-US" altLang="ko-KR" sz="2000" dirty="0" err="1">
                <a:solidFill>
                  <a:srgbClr val="222222"/>
                </a:solidFill>
                <a:latin typeface="Arial Narrow" panose="020B0606020202030204" pitchFamily="34" charset="0"/>
              </a:rPr>
              <a:t>bloks</a:t>
            </a:r>
            <a:r>
              <a:rPr lang="fr-FR" altLang="ko-KR" sz="2000" dirty="0">
                <a:solidFill>
                  <a:srgbClr val="222222"/>
                </a:solidFill>
                <a:latin typeface="Arial Narrow" panose="020B0606020202030204" pitchFamily="34" charset="0"/>
              </a:rPr>
              <a:t> </a:t>
            </a:r>
          </a:p>
          <a:p>
            <a:pPr marL="741600" lvl="1" indent="-284400">
              <a:lnSpc>
                <a:spcPct val="150000"/>
              </a:lnSpc>
              <a:buFont typeface="Arial" panose="020B0604020202020204" pitchFamily="34" charset="0"/>
              <a:buChar char="•"/>
            </a:pPr>
            <a:endParaRPr lang="en-US" altLang="ko-KR" sz="2000" dirty="0">
              <a:solidFill>
                <a:srgbClr val="222222"/>
              </a:solidFill>
              <a:latin typeface="Arial Narrow" panose="020B0606020202030204" pitchFamily="34" charset="0"/>
            </a:endParaRPr>
          </a:p>
        </p:txBody>
      </p:sp>
      <p:grpSp>
        <p:nvGrpSpPr>
          <p:cNvPr id="16" name="그룹 15">
            <a:extLst>
              <a:ext uri="{FF2B5EF4-FFF2-40B4-BE49-F238E27FC236}">
                <a16:creationId xmlns:a16="http://schemas.microsoft.com/office/drawing/2014/main" id="{4DCD6F78-AF76-32F4-1CF8-05A9A31DF107}"/>
              </a:ext>
            </a:extLst>
          </p:cNvPr>
          <p:cNvGrpSpPr/>
          <p:nvPr/>
        </p:nvGrpSpPr>
        <p:grpSpPr>
          <a:xfrm>
            <a:off x="1457621" y="2856248"/>
            <a:ext cx="5319661" cy="1088200"/>
            <a:chOff x="1457621" y="2856248"/>
            <a:chExt cx="5319661" cy="1088200"/>
          </a:xfrm>
        </p:grpSpPr>
        <p:grpSp>
          <p:nvGrpSpPr>
            <p:cNvPr id="5" name="그룹 4">
              <a:extLst>
                <a:ext uri="{FF2B5EF4-FFF2-40B4-BE49-F238E27FC236}">
                  <a16:creationId xmlns:a16="http://schemas.microsoft.com/office/drawing/2014/main" id="{4EAA7A3C-670A-3C09-F8CE-C53A705E6D95}"/>
                </a:ext>
              </a:extLst>
            </p:cNvPr>
            <p:cNvGrpSpPr/>
            <p:nvPr/>
          </p:nvGrpSpPr>
          <p:grpSpPr>
            <a:xfrm>
              <a:off x="3380099" y="2856248"/>
              <a:ext cx="1474705" cy="1074728"/>
              <a:chOff x="2352577" y="2695993"/>
              <a:chExt cx="1946046" cy="1511439"/>
            </a:xfrm>
          </p:grpSpPr>
          <p:sp>
            <p:nvSpPr>
              <p:cNvPr id="2" name="사각형: 둥근 모서리 1">
                <a:extLst>
                  <a:ext uri="{FF2B5EF4-FFF2-40B4-BE49-F238E27FC236}">
                    <a16:creationId xmlns:a16="http://schemas.microsoft.com/office/drawing/2014/main" id="{E9D15C14-BC79-6554-3456-0FF533D81CA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TextBox 3">
                <a:extLst>
                  <a:ext uri="{FF2B5EF4-FFF2-40B4-BE49-F238E27FC236}">
                    <a16:creationId xmlns:a16="http://schemas.microsoft.com/office/drawing/2014/main" id="{169A23EC-B98F-FFC4-1141-71507D7C42A6}"/>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7" name="화살표: 오른쪽 6">
              <a:extLst>
                <a:ext uri="{FF2B5EF4-FFF2-40B4-BE49-F238E27FC236}">
                  <a16:creationId xmlns:a16="http://schemas.microsoft.com/office/drawing/2014/main" id="{38E463D9-DA43-2553-DE70-B7CEE8DAFAA5}"/>
                </a:ext>
              </a:extLst>
            </p:cNvPr>
            <p:cNvSpPr/>
            <p:nvPr/>
          </p:nvSpPr>
          <p:spPr>
            <a:xfrm>
              <a:off x="4854804" y="330700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화살표: 오른쪽 7">
              <a:extLst>
                <a:ext uri="{FF2B5EF4-FFF2-40B4-BE49-F238E27FC236}">
                  <a16:creationId xmlns:a16="http://schemas.microsoft.com/office/drawing/2014/main" id="{A83F0080-F1BF-3187-DF07-01DDA3FBB7E9}"/>
                </a:ext>
              </a:extLst>
            </p:cNvPr>
            <p:cNvSpPr/>
            <p:nvPr/>
          </p:nvSpPr>
          <p:spPr>
            <a:xfrm>
              <a:off x="2932326" y="331407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 name="그룹 8">
              <a:extLst>
                <a:ext uri="{FF2B5EF4-FFF2-40B4-BE49-F238E27FC236}">
                  <a16:creationId xmlns:a16="http://schemas.microsoft.com/office/drawing/2014/main" id="{994643FE-ACA1-8103-22B4-2EC1E3BCE5DB}"/>
                </a:ext>
              </a:extLst>
            </p:cNvPr>
            <p:cNvGrpSpPr/>
            <p:nvPr/>
          </p:nvGrpSpPr>
          <p:grpSpPr>
            <a:xfrm>
              <a:off x="5302577" y="2869720"/>
              <a:ext cx="1474705" cy="1074728"/>
              <a:chOff x="2352577" y="2695993"/>
              <a:chExt cx="1946046" cy="1511439"/>
            </a:xfrm>
          </p:grpSpPr>
          <p:sp>
            <p:nvSpPr>
              <p:cNvPr id="11" name="사각형: 둥근 모서리 10">
                <a:extLst>
                  <a:ext uri="{FF2B5EF4-FFF2-40B4-BE49-F238E27FC236}">
                    <a16:creationId xmlns:a16="http://schemas.microsoft.com/office/drawing/2014/main" id="{F92652B8-3E4B-64DB-0868-C96E560E6DA2}"/>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TextBox 11">
                <a:extLst>
                  <a:ext uri="{FF2B5EF4-FFF2-40B4-BE49-F238E27FC236}">
                    <a16:creationId xmlns:a16="http://schemas.microsoft.com/office/drawing/2014/main" id="{7B0A0397-F97A-7338-B263-AFEC3A603C5B}"/>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3" name="그룹 12">
              <a:extLst>
                <a:ext uri="{FF2B5EF4-FFF2-40B4-BE49-F238E27FC236}">
                  <a16:creationId xmlns:a16="http://schemas.microsoft.com/office/drawing/2014/main" id="{721E2E34-5C6B-24BD-C378-7AADDE4F2F41}"/>
                </a:ext>
              </a:extLst>
            </p:cNvPr>
            <p:cNvGrpSpPr/>
            <p:nvPr/>
          </p:nvGrpSpPr>
          <p:grpSpPr>
            <a:xfrm>
              <a:off x="1457621" y="2869720"/>
              <a:ext cx="1474705" cy="1074728"/>
              <a:chOff x="2352577" y="2695993"/>
              <a:chExt cx="1946046" cy="1511439"/>
            </a:xfrm>
          </p:grpSpPr>
          <p:sp>
            <p:nvSpPr>
              <p:cNvPr id="14" name="사각형: 둥근 모서리 13">
                <a:extLst>
                  <a:ext uri="{FF2B5EF4-FFF2-40B4-BE49-F238E27FC236}">
                    <a16:creationId xmlns:a16="http://schemas.microsoft.com/office/drawing/2014/main" id="{A9A3F0A1-9B0C-B14D-A678-8B65E93DA825}"/>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a16="http://schemas.microsoft.com/office/drawing/2014/main" id="{F0940BE3-D071-64EC-51F3-1A23E2606EB2}"/>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grpSp>
        <p:nvGrpSpPr>
          <p:cNvPr id="17" name="그룹 16">
            <a:extLst>
              <a:ext uri="{FF2B5EF4-FFF2-40B4-BE49-F238E27FC236}">
                <a16:creationId xmlns:a16="http://schemas.microsoft.com/office/drawing/2014/main" id="{13F67E5C-518C-5C13-F92E-E0F5A53B59A1}"/>
              </a:ext>
            </a:extLst>
          </p:cNvPr>
          <p:cNvGrpSpPr/>
          <p:nvPr/>
        </p:nvGrpSpPr>
        <p:grpSpPr>
          <a:xfrm>
            <a:off x="1610021" y="2968351"/>
            <a:ext cx="5319661" cy="1088200"/>
            <a:chOff x="1457621" y="2856248"/>
            <a:chExt cx="5319661" cy="1088200"/>
          </a:xfrm>
        </p:grpSpPr>
        <p:grpSp>
          <p:nvGrpSpPr>
            <p:cNvPr id="18" name="그룹 17">
              <a:extLst>
                <a:ext uri="{FF2B5EF4-FFF2-40B4-BE49-F238E27FC236}">
                  <a16:creationId xmlns:a16="http://schemas.microsoft.com/office/drawing/2014/main" id="{12A01187-D295-C9A2-EEB3-427D837ADB21}"/>
                </a:ext>
              </a:extLst>
            </p:cNvPr>
            <p:cNvGrpSpPr/>
            <p:nvPr/>
          </p:nvGrpSpPr>
          <p:grpSpPr>
            <a:xfrm>
              <a:off x="3380099" y="2856248"/>
              <a:ext cx="1474705" cy="1074728"/>
              <a:chOff x="2352577" y="2695993"/>
              <a:chExt cx="1946046" cy="1511439"/>
            </a:xfrm>
          </p:grpSpPr>
          <p:sp>
            <p:nvSpPr>
              <p:cNvPr id="27" name="사각형: 둥근 모서리 26">
                <a:extLst>
                  <a:ext uri="{FF2B5EF4-FFF2-40B4-BE49-F238E27FC236}">
                    <a16:creationId xmlns:a16="http://schemas.microsoft.com/office/drawing/2014/main" id="{5BFAD841-6388-6684-7254-6EFE8BECD75E}"/>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TextBox 27">
                <a:extLst>
                  <a:ext uri="{FF2B5EF4-FFF2-40B4-BE49-F238E27FC236}">
                    <a16:creationId xmlns:a16="http://schemas.microsoft.com/office/drawing/2014/main" id="{CA0F5C33-8B6D-33C6-ABA9-0C136A57122B}"/>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19" name="화살표: 오른쪽 18">
              <a:extLst>
                <a:ext uri="{FF2B5EF4-FFF2-40B4-BE49-F238E27FC236}">
                  <a16:creationId xmlns:a16="http://schemas.microsoft.com/office/drawing/2014/main" id="{81B2386B-0DBA-7A10-7B15-242CD1FF325D}"/>
                </a:ext>
              </a:extLst>
            </p:cNvPr>
            <p:cNvSpPr/>
            <p:nvPr/>
          </p:nvSpPr>
          <p:spPr>
            <a:xfrm>
              <a:off x="4854804" y="330700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화살표: 오른쪽 19">
              <a:extLst>
                <a:ext uri="{FF2B5EF4-FFF2-40B4-BE49-F238E27FC236}">
                  <a16:creationId xmlns:a16="http://schemas.microsoft.com/office/drawing/2014/main" id="{6840F7ED-AD96-E459-70A3-46F20225275F}"/>
                </a:ext>
              </a:extLst>
            </p:cNvPr>
            <p:cNvSpPr/>
            <p:nvPr/>
          </p:nvSpPr>
          <p:spPr>
            <a:xfrm>
              <a:off x="2932326" y="331407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1" name="그룹 20">
              <a:extLst>
                <a:ext uri="{FF2B5EF4-FFF2-40B4-BE49-F238E27FC236}">
                  <a16:creationId xmlns:a16="http://schemas.microsoft.com/office/drawing/2014/main" id="{5B5246E0-7E95-C11A-B54C-6A6B0CD6B96F}"/>
                </a:ext>
              </a:extLst>
            </p:cNvPr>
            <p:cNvGrpSpPr/>
            <p:nvPr/>
          </p:nvGrpSpPr>
          <p:grpSpPr>
            <a:xfrm>
              <a:off x="5302577" y="2869720"/>
              <a:ext cx="1474705" cy="1074728"/>
              <a:chOff x="2352577" y="2695993"/>
              <a:chExt cx="1946046" cy="1511439"/>
            </a:xfrm>
          </p:grpSpPr>
          <p:sp>
            <p:nvSpPr>
              <p:cNvPr id="25" name="사각형: 둥근 모서리 24">
                <a:extLst>
                  <a:ext uri="{FF2B5EF4-FFF2-40B4-BE49-F238E27FC236}">
                    <a16:creationId xmlns:a16="http://schemas.microsoft.com/office/drawing/2014/main" id="{8FB11021-8125-BD70-53B8-12E902B18310}"/>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TextBox 25">
                <a:extLst>
                  <a:ext uri="{FF2B5EF4-FFF2-40B4-BE49-F238E27FC236}">
                    <a16:creationId xmlns:a16="http://schemas.microsoft.com/office/drawing/2014/main" id="{7CEFDF47-2391-0A97-7B62-B327BBB11209}"/>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22" name="그룹 21">
              <a:extLst>
                <a:ext uri="{FF2B5EF4-FFF2-40B4-BE49-F238E27FC236}">
                  <a16:creationId xmlns:a16="http://schemas.microsoft.com/office/drawing/2014/main" id="{D076E17A-5C21-D785-8C9F-89E8A0E5D0F0}"/>
                </a:ext>
              </a:extLst>
            </p:cNvPr>
            <p:cNvGrpSpPr/>
            <p:nvPr/>
          </p:nvGrpSpPr>
          <p:grpSpPr>
            <a:xfrm>
              <a:off x="1457621" y="2869720"/>
              <a:ext cx="1474705" cy="1074728"/>
              <a:chOff x="2352577" y="2695993"/>
              <a:chExt cx="1946046" cy="1511439"/>
            </a:xfrm>
          </p:grpSpPr>
          <p:sp>
            <p:nvSpPr>
              <p:cNvPr id="23" name="사각형: 둥근 모서리 22">
                <a:extLst>
                  <a:ext uri="{FF2B5EF4-FFF2-40B4-BE49-F238E27FC236}">
                    <a16:creationId xmlns:a16="http://schemas.microsoft.com/office/drawing/2014/main" id="{D4BCF7C4-2CAB-9529-9629-9A1E3AD7421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C1A37B47-6064-1E05-457D-89BF4960D7AC}"/>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grpSp>
        <p:nvGrpSpPr>
          <p:cNvPr id="29" name="그룹 28">
            <a:extLst>
              <a:ext uri="{FF2B5EF4-FFF2-40B4-BE49-F238E27FC236}">
                <a16:creationId xmlns:a16="http://schemas.microsoft.com/office/drawing/2014/main" id="{F129D3D6-77A8-D434-2B0D-BD746ABB03BD}"/>
              </a:ext>
            </a:extLst>
          </p:cNvPr>
          <p:cNvGrpSpPr/>
          <p:nvPr/>
        </p:nvGrpSpPr>
        <p:grpSpPr>
          <a:xfrm>
            <a:off x="1831746" y="3118924"/>
            <a:ext cx="5319661" cy="1088200"/>
            <a:chOff x="1457621" y="2856248"/>
            <a:chExt cx="5319661" cy="1088200"/>
          </a:xfrm>
        </p:grpSpPr>
        <p:grpSp>
          <p:nvGrpSpPr>
            <p:cNvPr id="30" name="그룹 29">
              <a:extLst>
                <a:ext uri="{FF2B5EF4-FFF2-40B4-BE49-F238E27FC236}">
                  <a16:creationId xmlns:a16="http://schemas.microsoft.com/office/drawing/2014/main" id="{5377E32C-2AF2-8FD1-1522-AFEC0714CBEA}"/>
                </a:ext>
              </a:extLst>
            </p:cNvPr>
            <p:cNvGrpSpPr/>
            <p:nvPr/>
          </p:nvGrpSpPr>
          <p:grpSpPr>
            <a:xfrm>
              <a:off x="3380099" y="2856248"/>
              <a:ext cx="1474705" cy="1074728"/>
              <a:chOff x="2352577" y="2695993"/>
              <a:chExt cx="1946046" cy="1511439"/>
            </a:xfrm>
          </p:grpSpPr>
          <p:sp>
            <p:nvSpPr>
              <p:cNvPr id="41" name="사각형: 둥근 모서리 40">
                <a:extLst>
                  <a:ext uri="{FF2B5EF4-FFF2-40B4-BE49-F238E27FC236}">
                    <a16:creationId xmlns:a16="http://schemas.microsoft.com/office/drawing/2014/main" id="{2D696EE3-754B-8EE2-F84A-CD2E7CB624CF}"/>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TextBox 41">
                <a:extLst>
                  <a:ext uri="{FF2B5EF4-FFF2-40B4-BE49-F238E27FC236}">
                    <a16:creationId xmlns:a16="http://schemas.microsoft.com/office/drawing/2014/main" id="{3E84925C-81E2-3CF5-8CC6-D9B73A328953}"/>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31" name="화살표: 오른쪽 30">
              <a:extLst>
                <a:ext uri="{FF2B5EF4-FFF2-40B4-BE49-F238E27FC236}">
                  <a16:creationId xmlns:a16="http://schemas.microsoft.com/office/drawing/2014/main" id="{F9BDA40A-2438-9C57-3497-A86D4820611E}"/>
                </a:ext>
              </a:extLst>
            </p:cNvPr>
            <p:cNvSpPr/>
            <p:nvPr/>
          </p:nvSpPr>
          <p:spPr>
            <a:xfrm>
              <a:off x="4854804" y="330700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화살표: 오른쪽 31">
              <a:extLst>
                <a:ext uri="{FF2B5EF4-FFF2-40B4-BE49-F238E27FC236}">
                  <a16:creationId xmlns:a16="http://schemas.microsoft.com/office/drawing/2014/main" id="{F62B5EA0-C0B0-5704-D23D-0A12C61B03F9}"/>
                </a:ext>
              </a:extLst>
            </p:cNvPr>
            <p:cNvSpPr/>
            <p:nvPr/>
          </p:nvSpPr>
          <p:spPr>
            <a:xfrm>
              <a:off x="2932326" y="331407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 name="그룹 32">
              <a:extLst>
                <a:ext uri="{FF2B5EF4-FFF2-40B4-BE49-F238E27FC236}">
                  <a16:creationId xmlns:a16="http://schemas.microsoft.com/office/drawing/2014/main" id="{DBDFB136-8D49-5D75-654E-F3E46DD7ABE9}"/>
                </a:ext>
              </a:extLst>
            </p:cNvPr>
            <p:cNvGrpSpPr/>
            <p:nvPr/>
          </p:nvGrpSpPr>
          <p:grpSpPr>
            <a:xfrm>
              <a:off x="5302577" y="2869720"/>
              <a:ext cx="1474705" cy="1074728"/>
              <a:chOff x="2352577" y="2695993"/>
              <a:chExt cx="1946046" cy="1511439"/>
            </a:xfrm>
          </p:grpSpPr>
          <p:sp>
            <p:nvSpPr>
              <p:cNvPr id="39" name="사각형: 둥근 모서리 38">
                <a:extLst>
                  <a:ext uri="{FF2B5EF4-FFF2-40B4-BE49-F238E27FC236}">
                    <a16:creationId xmlns:a16="http://schemas.microsoft.com/office/drawing/2014/main" id="{FB0D5581-6B8E-EB6B-9C42-2919EA0AFDB5}"/>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TextBox 39">
                <a:extLst>
                  <a:ext uri="{FF2B5EF4-FFF2-40B4-BE49-F238E27FC236}">
                    <a16:creationId xmlns:a16="http://schemas.microsoft.com/office/drawing/2014/main" id="{671AC153-7ED2-94D8-1C77-3223435718E9}"/>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4" name="그룹 33">
              <a:extLst>
                <a:ext uri="{FF2B5EF4-FFF2-40B4-BE49-F238E27FC236}">
                  <a16:creationId xmlns:a16="http://schemas.microsoft.com/office/drawing/2014/main" id="{169583A3-95DD-B594-7E65-C8E42B2B40DB}"/>
                </a:ext>
              </a:extLst>
            </p:cNvPr>
            <p:cNvGrpSpPr/>
            <p:nvPr/>
          </p:nvGrpSpPr>
          <p:grpSpPr>
            <a:xfrm>
              <a:off x="1457621" y="2869720"/>
              <a:ext cx="1474705" cy="1074728"/>
              <a:chOff x="2352577" y="2695993"/>
              <a:chExt cx="1946046" cy="1511439"/>
            </a:xfrm>
          </p:grpSpPr>
          <p:sp>
            <p:nvSpPr>
              <p:cNvPr id="35" name="사각형: 둥근 모서리 34">
                <a:extLst>
                  <a:ext uri="{FF2B5EF4-FFF2-40B4-BE49-F238E27FC236}">
                    <a16:creationId xmlns:a16="http://schemas.microsoft.com/office/drawing/2014/main" id="{5CCD8B6B-DBD0-FA15-3F3C-065AF6DA5024}"/>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TextBox 37">
                <a:extLst>
                  <a:ext uri="{FF2B5EF4-FFF2-40B4-BE49-F238E27FC236}">
                    <a16:creationId xmlns:a16="http://schemas.microsoft.com/office/drawing/2014/main" id="{C7C843D5-255E-F1E3-1499-E4C9DA638386}"/>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grpSp>
        <p:nvGrpSpPr>
          <p:cNvPr id="43" name="그룹 42">
            <a:extLst>
              <a:ext uri="{FF2B5EF4-FFF2-40B4-BE49-F238E27FC236}">
                <a16:creationId xmlns:a16="http://schemas.microsoft.com/office/drawing/2014/main" id="{320B1091-455B-94CF-1FBB-401DF6163185}"/>
              </a:ext>
            </a:extLst>
          </p:cNvPr>
          <p:cNvGrpSpPr/>
          <p:nvPr/>
        </p:nvGrpSpPr>
        <p:grpSpPr>
          <a:xfrm>
            <a:off x="1999663" y="3299605"/>
            <a:ext cx="5319661" cy="1088200"/>
            <a:chOff x="1457621" y="2856248"/>
            <a:chExt cx="5319661" cy="1088200"/>
          </a:xfrm>
        </p:grpSpPr>
        <p:grpSp>
          <p:nvGrpSpPr>
            <p:cNvPr id="44" name="그룹 43">
              <a:extLst>
                <a:ext uri="{FF2B5EF4-FFF2-40B4-BE49-F238E27FC236}">
                  <a16:creationId xmlns:a16="http://schemas.microsoft.com/office/drawing/2014/main" id="{FF92E1EB-F489-2FEA-46A8-CBB3C694F4CF}"/>
                </a:ext>
              </a:extLst>
            </p:cNvPr>
            <p:cNvGrpSpPr/>
            <p:nvPr/>
          </p:nvGrpSpPr>
          <p:grpSpPr>
            <a:xfrm>
              <a:off x="3380099" y="2856248"/>
              <a:ext cx="1474705" cy="1074728"/>
              <a:chOff x="2352577" y="2695993"/>
              <a:chExt cx="1946046" cy="1511439"/>
            </a:xfrm>
          </p:grpSpPr>
          <p:sp>
            <p:nvSpPr>
              <p:cNvPr id="53" name="사각형: 둥근 모서리 52">
                <a:extLst>
                  <a:ext uri="{FF2B5EF4-FFF2-40B4-BE49-F238E27FC236}">
                    <a16:creationId xmlns:a16="http://schemas.microsoft.com/office/drawing/2014/main" id="{5B01CAE7-CE86-5D46-02FE-ABF83C9F498B}"/>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TextBox 53">
                <a:extLst>
                  <a:ext uri="{FF2B5EF4-FFF2-40B4-BE49-F238E27FC236}">
                    <a16:creationId xmlns:a16="http://schemas.microsoft.com/office/drawing/2014/main" id="{48D50113-FA35-D943-406C-A785147B20D4}"/>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45" name="화살표: 오른쪽 44">
              <a:extLst>
                <a:ext uri="{FF2B5EF4-FFF2-40B4-BE49-F238E27FC236}">
                  <a16:creationId xmlns:a16="http://schemas.microsoft.com/office/drawing/2014/main" id="{279C79E4-5B68-E1FC-F789-FD7C85744176}"/>
                </a:ext>
              </a:extLst>
            </p:cNvPr>
            <p:cNvSpPr/>
            <p:nvPr/>
          </p:nvSpPr>
          <p:spPr>
            <a:xfrm>
              <a:off x="4854804" y="330700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화살표: 오른쪽 45">
              <a:extLst>
                <a:ext uri="{FF2B5EF4-FFF2-40B4-BE49-F238E27FC236}">
                  <a16:creationId xmlns:a16="http://schemas.microsoft.com/office/drawing/2014/main" id="{2F7441DB-1EB5-2EC2-393F-A697170EF0F9}"/>
                </a:ext>
              </a:extLst>
            </p:cNvPr>
            <p:cNvSpPr/>
            <p:nvPr/>
          </p:nvSpPr>
          <p:spPr>
            <a:xfrm>
              <a:off x="2932326" y="331407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47" name="그룹 46">
              <a:extLst>
                <a:ext uri="{FF2B5EF4-FFF2-40B4-BE49-F238E27FC236}">
                  <a16:creationId xmlns:a16="http://schemas.microsoft.com/office/drawing/2014/main" id="{137BC897-C7FE-DA73-591B-ABF26AD526F1}"/>
                </a:ext>
              </a:extLst>
            </p:cNvPr>
            <p:cNvGrpSpPr/>
            <p:nvPr/>
          </p:nvGrpSpPr>
          <p:grpSpPr>
            <a:xfrm>
              <a:off x="5302577" y="2869720"/>
              <a:ext cx="1474705" cy="1074728"/>
              <a:chOff x="2352577" y="2695993"/>
              <a:chExt cx="1946046" cy="1511439"/>
            </a:xfrm>
          </p:grpSpPr>
          <p:sp>
            <p:nvSpPr>
              <p:cNvPr id="51" name="사각형: 둥근 모서리 50">
                <a:extLst>
                  <a:ext uri="{FF2B5EF4-FFF2-40B4-BE49-F238E27FC236}">
                    <a16:creationId xmlns:a16="http://schemas.microsoft.com/office/drawing/2014/main" id="{8C6892F5-BC2E-A896-C0F9-D3F9A05EEFB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TextBox 51">
                <a:extLst>
                  <a:ext uri="{FF2B5EF4-FFF2-40B4-BE49-F238E27FC236}">
                    <a16:creationId xmlns:a16="http://schemas.microsoft.com/office/drawing/2014/main" id="{03A8DD38-9543-CE81-892C-FB0852C41EC7}"/>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48" name="그룹 47">
              <a:extLst>
                <a:ext uri="{FF2B5EF4-FFF2-40B4-BE49-F238E27FC236}">
                  <a16:creationId xmlns:a16="http://schemas.microsoft.com/office/drawing/2014/main" id="{FD590AED-46CB-71DC-A9E2-EFEB68AEB56C}"/>
                </a:ext>
              </a:extLst>
            </p:cNvPr>
            <p:cNvGrpSpPr/>
            <p:nvPr/>
          </p:nvGrpSpPr>
          <p:grpSpPr>
            <a:xfrm>
              <a:off x="1457621" y="2869720"/>
              <a:ext cx="1474705" cy="1074728"/>
              <a:chOff x="2352577" y="2695993"/>
              <a:chExt cx="1946046" cy="1511439"/>
            </a:xfrm>
          </p:grpSpPr>
          <p:sp>
            <p:nvSpPr>
              <p:cNvPr id="49" name="사각형: 둥근 모서리 48">
                <a:extLst>
                  <a:ext uri="{FF2B5EF4-FFF2-40B4-BE49-F238E27FC236}">
                    <a16:creationId xmlns:a16="http://schemas.microsoft.com/office/drawing/2014/main" id="{E36CB9E1-1C49-83B3-41E1-7ABAAEB33DB7}"/>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TextBox 49">
                <a:extLst>
                  <a:ext uri="{FF2B5EF4-FFF2-40B4-BE49-F238E27FC236}">
                    <a16:creationId xmlns:a16="http://schemas.microsoft.com/office/drawing/2014/main" id="{59C30D9F-3214-5933-B61B-425E7055FA81}"/>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sp>
        <p:nvSpPr>
          <p:cNvPr id="56" name="TextBox 55">
            <a:extLst>
              <a:ext uri="{FF2B5EF4-FFF2-40B4-BE49-F238E27FC236}">
                <a16:creationId xmlns:a16="http://schemas.microsoft.com/office/drawing/2014/main" id="{927FF46D-4853-06C8-CA90-BD1E139D77F2}"/>
              </a:ext>
            </a:extLst>
          </p:cNvPr>
          <p:cNvSpPr txBox="1"/>
          <p:nvPr/>
        </p:nvSpPr>
        <p:spPr>
          <a:xfrm>
            <a:off x="694494" y="3919042"/>
            <a:ext cx="709171" cy="369332"/>
          </a:xfrm>
          <a:prstGeom prst="rect">
            <a:avLst/>
          </a:prstGeom>
          <a:noFill/>
        </p:spPr>
        <p:txBody>
          <a:bodyPr wrap="square">
            <a:spAutoFit/>
          </a:bodyPr>
          <a:lstStyle/>
          <a:p>
            <a:r>
              <a:rPr lang="fr-FR" altLang="ko-KR" sz="1800" dirty="0">
                <a:solidFill>
                  <a:srgbClr val="222222"/>
                </a:solidFill>
                <a:latin typeface="Arial Narrow" panose="020B0606020202030204" pitchFamily="34" charset="0"/>
              </a:rPr>
              <a:t>Units</a:t>
            </a:r>
            <a:endParaRPr lang="ko-KR" altLang="en-US" dirty="0"/>
          </a:p>
        </p:txBody>
      </p:sp>
      <p:sp>
        <p:nvSpPr>
          <p:cNvPr id="57" name="왼쪽 중괄호 56">
            <a:extLst>
              <a:ext uri="{FF2B5EF4-FFF2-40B4-BE49-F238E27FC236}">
                <a16:creationId xmlns:a16="http://schemas.microsoft.com/office/drawing/2014/main" id="{077AA6AF-C1AA-CEDD-779A-9A01209CBFB8}"/>
              </a:ext>
            </a:extLst>
          </p:cNvPr>
          <p:cNvSpPr/>
          <p:nvPr/>
        </p:nvSpPr>
        <p:spPr>
          <a:xfrm rot="19148014">
            <a:off x="1255941" y="3383682"/>
            <a:ext cx="569223" cy="956772"/>
          </a:xfrm>
          <a:prstGeom prst="leftBrace">
            <a:avLst>
              <a:gd name="adj1" fmla="val 49916"/>
              <a:gd name="adj2" fmla="val 40171"/>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3" name="직사각형 2">
            <a:extLst>
              <a:ext uri="{FF2B5EF4-FFF2-40B4-BE49-F238E27FC236}">
                <a16:creationId xmlns:a16="http://schemas.microsoft.com/office/drawing/2014/main" id="{374AACC2-F9DE-CB95-0FFD-3C89693622C9}"/>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10411065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3358099"/>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For LSTM or RNN implementation</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a</a:t>
            </a:r>
            <a:r>
              <a:rPr lang="fr-FR" altLang="ko-KR" sz="2000" dirty="0">
                <a:solidFill>
                  <a:srgbClr val="222222"/>
                </a:solidFill>
                <a:latin typeface="Arial Narrow" panose="020B0606020202030204" pitchFamily="34" charset="0"/>
              </a:rPr>
              <a:t>ctivation </a:t>
            </a:r>
            <a:r>
              <a:rPr lang="en-US" altLang="ko-KR" sz="2000" dirty="0">
                <a:solidFill>
                  <a:srgbClr val="222222"/>
                </a:solidFill>
                <a:latin typeface="Arial Narrow" panose="020B0606020202030204" pitchFamily="34" charset="0"/>
              </a:rPr>
              <a:t>vs </a:t>
            </a:r>
            <a:r>
              <a:rPr lang="fr-FR" altLang="ko-KR" sz="2000" dirty="0">
                <a:solidFill>
                  <a:srgbClr val="222222"/>
                </a:solidFill>
                <a:latin typeface="Arial Narrow" panose="020B0606020202030204" pitchFamily="34" charset="0"/>
              </a:rPr>
              <a:t>recurrent_activation</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a</a:t>
            </a:r>
            <a:r>
              <a:rPr lang="fr-FR" altLang="ko-KR" sz="2000" dirty="0">
                <a:solidFill>
                  <a:srgbClr val="222222"/>
                </a:solidFill>
                <a:latin typeface="Arial Narrow" panose="020B0606020202030204" pitchFamily="34" charset="0"/>
              </a:rPr>
              <a:t>ctivation </a:t>
            </a:r>
            <a:r>
              <a:rPr lang="en-US" altLang="ko-KR" sz="2000" dirty="0">
                <a:solidFill>
                  <a:srgbClr val="222222"/>
                </a:solidFill>
                <a:latin typeface="Arial Narrow" panose="020B0606020202030204" pitchFamily="34" charset="0"/>
              </a:rPr>
              <a:t>is for cell state (default = ‘</a:t>
            </a:r>
            <a:r>
              <a:rPr lang="fr-FR" altLang="ko-KR" sz="2000" dirty="0">
                <a:solidFill>
                  <a:srgbClr val="222222"/>
                </a:solidFill>
                <a:latin typeface="Arial Narrow" panose="020B0606020202030204" pitchFamily="34" charset="0"/>
              </a:rPr>
              <a:t>tanh</a:t>
            </a:r>
            <a:r>
              <a:rPr lang="en-US" altLang="ko-KR" sz="2000" dirty="0">
                <a:solidFill>
                  <a:srgbClr val="222222"/>
                </a:solidFill>
                <a:latin typeface="Arial Narrow" panose="020B0606020202030204" pitchFamily="34" charset="0"/>
              </a:rPr>
              <a:t>’)</a:t>
            </a:r>
          </a:p>
          <a:p>
            <a:pPr marL="741600" lvl="1" indent="-284400">
              <a:lnSpc>
                <a:spcPct val="150000"/>
              </a:lnSpc>
              <a:buFont typeface="Arial" panose="020B0604020202020204" pitchFamily="34" charset="0"/>
              <a:buChar char="•"/>
            </a:pPr>
            <a:r>
              <a:rPr lang="fr-FR" altLang="ko-KR" sz="2000" dirty="0">
                <a:solidFill>
                  <a:srgbClr val="222222"/>
                </a:solidFill>
                <a:latin typeface="Arial Narrow" panose="020B0606020202030204" pitchFamily="34" charset="0"/>
              </a:rPr>
              <a:t>recurrent_activation </a:t>
            </a:r>
            <a:r>
              <a:rPr lang="en-US" altLang="ko-KR" sz="2000" dirty="0">
                <a:solidFill>
                  <a:srgbClr val="222222"/>
                </a:solidFill>
                <a:latin typeface="Arial Narrow" panose="020B0606020202030204" pitchFamily="34" charset="0"/>
              </a:rPr>
              <a:t>is for input/forget/output gate (default = ‘</a:t>
            </a:r>
            <a:r>
              <a:rPr lang="fr-FR" altLang="ko-KR" sz="2000" dirty="0">
                <a:solidFill>
                  <a:srgbClr val="222222"/>
                </a:solidFill>
                <a:latin typeface="Arial Narrow" panose="020B0606020202030204" pitchFamily="34" charset="0"/>
              </a:rPr>
              <a:t>sigmoid</a:t>
            </a:r>
            <a:r>
              <a:rPr lang="en-US" altLang="ko-KR" sz="2000" dirty="0">
                <a:solidFill>
                  <a:srgbClr val="222222"/>
                </a:solidFill>
                <a:latin typeface="Arial Narrow" panose="020B0606020202030204" pitchFamily="34" charset="0"/>
              </a:rPr>
              <a:t>’)</a:t>
            </a:r>
          </a:p>
          <a:p>
            <a:pPr marL="741600" lvl="1" indent="-284400">
              <a:lnSpc>
                <a:spcPct val="150000"/>
              </a:lnSpc>
              <a:buFont typeface="Arial" panose="020B0604020202020204" pitchFamily="34" charset="0"/>
              <a:buChar char="•"/>
            </a:pPr>
            <a:endParaRPr lang="en-US" altLang="ko-KR" sz="2000" dirty="0">
              <a:solidFill>
                <a:srgbClr val="222222"/>
              </a:solidFill>
              <a:latin typeface="Arial Narrow" panose="020B0606020202030204" pitchFamily="34" charset="0"/>
            </a:endParaRPr>
          </a:p>
          <a:p>
            <a:pPr marL="741600" lvl="1" indent="-284400">
              <a:lnSpc>
                <a:spcPct val="150000"/>
              </a:lnSpc>
              <a:buFont typeface="Arial" panose="020B0604020202020204" pitchFamily="34" charset="0"/>
              <a:buChar char="•"/>
            </a:pPr>
            <a:endParaRPr lang="en-US" altLang="ko-KR" sz="2000" dirty="0">
              <a:solidFill>
                <a:srgbClr val="222222"/>
              </a:solidFill>
              <a:latin typeface="Arial Narrow" panose="020B0606020202030204" pitchFamily="34" charset="0"/>
            </a:endParaRPr>
          </a:p>
          <a:p>
            <a:pPr marL="741600" lvl="1" indent="-284400">
              <a:lnSpc>
                <a:spcPct val="150000"/>
              </a:lnSpc>
              <a:buFont typeface="Arial" panose="020B0604020202020204" pitchFamily="34" charset="0"/>
              <a:buChar char="•"/>
            </a:pPr>
            <a:endParaRPr lang="en-US" altLang="ko-KR" sz="2000" dirty="0">
              <a:solidFill>
                <a:srgbClr val="222222"/>
              </a:solidFill>
              <a:latin typeface="Arial Narrow" panose="020B0606020202030204" pitchFamily="34" charset="0"/>
            </a:endParaRPr>
          </a:p>
        </p:txBody>
      </p:sp>
      <p:sp>
        <p:nvSpPr>
          <p:cNvPr id="2" name="직사각형 1">
            <a:extLst>
              <a:ext uri="{FF2B5EF4-FFF2-40B4-BE49-F238E27FC236}">
                <a16:creationId xmlns:a16="http://schemas.microsoft.com/office/drawing/2014/main" id="{3651BCFD-158B-79A6-BFA3-0EDFBFEB71B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12315241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For LSTM or RNN implementation</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d</a:t>
            </a:r>
            <a:r>
              <a:rPr lang="fr-FR" altLang="ko-KR" sz="2000" dirty="0">
                <a:solidFill>
                  <a:srgbClr val="222222"/>
                </a:solidFill>
                <a:latin typeface="Arial Narrow" panose="020B0606020202030204" pitchFamily="34" charset="0"/>
              </a:rPr>
              <a:t>ropout</a:t>
            </a:r>
            <a:r>
              <a:rPr lang="en-US" altLang="ko-KR" sz="2000" dirty="0">
                <a:solidFill>
                  <a:srgbClr val="222222"/>
                </a:solidFill>
                <a:latin typeface="Arial Narrow" panose="020B0606020202030204" pitchFamily="34" charset="0"/>
              </a:rPr>
              <a:t> vs </a:t>
            </a:r>
            <a:r>
              <a:rPr lang="fr-FR" altLang="ko-KR" sz="2000" dirty="0">
                <a:solidFill>
                  <a:srgbClr val="222222"/>
                </a:solidFill>
                <a:latin typeface="Arial Narrow" panose="020B0606020202030204" pitchFamily="34" charset="0"/>
              </a:rPr>
              <a:t>recurrent_dropout</a:t>
            </a:r>
            <a:endParaRPr lang="en-US" altLang="ko-KR" sz="2000" dirty="0">
              <a:solidFill>
                <a:srgbClr val="222222"/>
              </a:solidFill>
              <a:latin typeface="Arial Narrow" panose="020B0606020202030204" pitchFamily="34" charset="0"/>
            </a:endParaRPr>
          </a:p>
        </p:txBody>
      </p:sp>
      <p:sp>
        <p:nvSpPr>
          <p:cNvPr id="4" name="TextBox 3">
            <a:extLst>
              <a:ext uri="{FF2B5EF4-FFF2-40B4-BE49-F238E27FC236}">
                <a16:creationId xmlns:a16="http://schemas.microsoft.com/office/drawing/2014/main" id="{C3B30318-9C72-0761-13BE-E906BFE1D000}"/>
              </a:ext>
            </a:extLst>
          </p:cNvPr>
          <p:cNvSpPr txBox="1"/>
          <p:nvPr/>
        </p:nvSpPr>
        <p:spPr>
          <a:xfrm>
            <a:off x="6462075" y="6416130"/>
            <a:ext cx="2587658" cy="276999"/>
          </a:xfrm>
          <a:prstGeom prst="rect">
            <a:avLst/>
          </a:prstGeom>
          <a:noFill/>
        </p:spPr>
        <p:txBody>
          <a:bodyPr wrap="square">
            <a:spAutoFit/>
          </a:bodyPr>
          <a:lstStyle/>
          <a:p>
            <a:r>
              <a:rPr lang="ko-KR" altLang="en-US" sz="1200" dirty="0"/>
              <a:t>https://arxiv.org/pdf/1512.05287.pdf</a:t>
            </a:r>
          </a:p>
        </p:txBody>
      </p:sp>
      <p:sp>
        <p:nvSpPr>
          <p:cNvPr id="7" name="TextBox 6">
            <a:extLst>
              <a:ext uri="{FF2B5EF4-FFF2-40B4-BE49-F238E27FC236}">
                <a16:creationId xmlns:a16="http://schemas.microsoft.com/office/drawing/2014/main" id="{04941E21-3970-D2C0-92FA-F2244EEED028}"/>
              </a:ext>
            </a:extLst>
          </p:cNvPr>
          <p:cNvSpPr txBox="1"/>
          <p:nvPr/>
        </p:nvSpPr>
        <p:spPr>
          <a:xfrm>
            <a:off x="2008336" y="5008026"/>
            <a:ext cx="909686"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Dropout </a:t>
            </a:r>
            <a:endParaRPr lang="ko-KR" altLang="en-US" dirty="0"/>
          </a:p>
        </p:txBody>
      </p:sp>
      <p:sp>
        <p:nvSpPr>
          <p:cNvPr id="8" name="TextBox 7">
            <a:extLst>
              <a:ext uri="{FF2B5EF4-FFF2-40B4-BE49-F238E27FC236}">
                <a16:creationId xmlns:a16="http://schemas.microsoft.com/office/drawing/2014/main" id="{99A00CF2-D2BA-A520-6FA5-A6BD5FDEDCBC}"/>
              </a:ext>
            </a:extLst>
          </p:cNvPr>
          <p:cNvSpPr txBox="1"/>
          <p:nvPr/>
        </p:nvSpPr>
        <p:spPr>
          <a:xfrm>
            <a:off x="5070158" y="5001296"/>
            <a:ext cx="2837467" cy="369332"/>
          </a:xfrm>
          <a:prstGeom prst="rect">
            <a:avLst/>
          </a:prstGeom>
          <a:noFill/>
        </p:spPr>
        <p:txBody>
          <a:bodyPr wrap="square">
            <a:spAutoFit/>
          </a:bodyPr>
          <a:lstStyle/>
          <a:p>
            <a:r>
              <a:rPr lang="en-US" altLang="ko-KR" sz="1800">
                <a:solidFill>
                  <a:srgbClr val="222222"/>
                </a:solidFill>
                <a:latin typeface="Arial Narrow" panose="020B0606020202030204" pitchFamily="34" charset="0"/>
              </a:rPr>
              <a:t>Dropout + recurrent dropout </a:t>
            </a:r>
            <a:endParaRPr lang="ko-KR" altLang="en-US" dirty="0"/>
          </a:p>
        </p:txBody>
      </p:sp>
      <p:grpSp>
        <p:nvGrpSpPr>
          <p:cNvPr id="102" name="그룹 101">
            <a:extLst>
              <a:ext uri="{FF2B5EF4-FFF2-40B4-BE49-F238E27FC236}">
                <a16:creationId xmlns:a16="http://schemas.microsoft.com/office/drawing/2014/main" id="{D48E23C1-6C42-A75B-F39B-0E3C8D015B58}"/>
              </a:ext>
            </a:extLst>
          </p:cNvPr>
          <p:cNvGrpSpPr/>
          <p:nvPr/>
        </p:nvGrpSpPr>
        <p:grpSpPr>
          <a:xfrm>
            <a:off x="1139390" y="2891801"/>
            <a:ext cx="2613785" cy="1777295"/>
            <a:chOff x="1009850" y="3149668"/>
            <a:chExt cx="2613785" cy="1777295"/>
          </a:xfrm>
        </p:grpSpPr>
        <p:sp>
          <p:nvSpPr>
            <p:cNvPr id="13" name="화살표: 오른쪽 12">
              <a:extLst>
                <a:ext uri="{FF2B5EF4-FFF2-40B4-BE49-F238E27FC236}">
                  <a16:creationId xmlns:a16="http://schemas.microsoft.com/office/drawing/2014/main" id="{2AD9B73A-A7AF-9C20-96F1-8B49BC0CB046}"/>
                </a:ext>
              </a:extLst>
            </p:cNvPr>
            <p:cNvSpPr/>
            <p:nvPr/>
          </p:nvSpPr>
          <p:spPr>
            <a:xfrm>
              <a:off x="1632168" y="3953113"/>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 name="그룹 14">
              <a:extLst>
                <a:ext uri="{FF2B5EF4-FFF2-40B4-BE49-F238E27FC236}">
                  <a16:creationId xmlns:a16="http://schemas.microsoft.com/office/drawing/2014/main" id="{E4F8568A-C28B-4D94-365F-90370C5FCE9A}"/>
                </a:ext>
              </a:extLst>
            </p:cNvPr>
            <p:cNvGrpSpPr/>
            <p:nvPr/>
          </p:nvGrpSpPr>
          <p:grpSpPr>
            <a:xfrm>
              <a:off x="1009850" y="3752850"/>
              <a:ext cx="607582" cy="582171"/>
              <a:chOff x="2352577" y="2695993"/>
              <a:chExt cx="1946046" cy="1511439"/>
            </a:xfrm>
          </p:grpSpPr>
          <p:sp>
            <p:nvSpPr>
              <p:cNvPr id="16" name="사각형: 둥근 모서리 15">
                <a:extLst>
                  <a:ext uri="{FF2B5EF4-FFF2-40B4-BE49-F238E27FC236}">
                    <a16:creationId xmlns:a16="http://schemas.microsoft.com/office/drawing/2014/main" id="{F8D9FD5E-135C-CDF3-99C5-9287FF510D26}"/>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TextBox 16">
                <a:extLst>
                  <a:ext uri="{FF2B5EF4-FFF2-40B4-BE49-F238E27FC236}">
                    <a16:creationId xmlns:a16="http://schemas.microsoft.com/office/drawing/2014/main" id="{D32A5544-9455-3A69-1ECF-099C5038CA02}"/>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25" name="그룹 24">
              <a:extLst>
                <a:ext uri="{FF2B5EF4-FFF2-40B4-BE49-F238E27FC236}">
                  <a16:creationId xmlns:a16="http://schemas.microsoft.com/office/drawing/2014/main" id="{F6B8D329-38FA-6B35-0B4D-F8ED963B5956}"/>
                </a:ext>
              </a:extLst>
            </p:cNvPr>
            <p:cNvGrpSpPr/>
            <p:nvPr/>
          </p:nvGrpSpPr>
          <p:grpSpPr>
            <a:xfrm>
              <a:off x="1120930" y="4566963"/>
              <a:ext cx="423468" cy="360000"/>
              <a:chOff x="1112362" y="4534057"/>
              <a:chExt cx="423468" cy="360000"/>
            </a:xfrm>
          </p:grpSpPr>
          <p:sp>
            <p:nvSpPr>
              <p:cNvPr id="22" name="타원 21">
                <a:extLst>
                  <a:ext uri="{FF2B5EF4-FFF2-40B4-BE49-F238E27FC236}">
                    <a16:creationId xmlns:a16="http://schemas.microsoft.com/office/drawing/2014/main" id="{9EABA629-AB48-1C4E-D926-5591DD265885}"/>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2ACA55D0-A2C0-70AE-7287-CD6FAF7A86F6}"/>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26" name="그룹 25">
              <a:extLst>
                <a:ext uri="{FF2B5EF4-FFF2-40B4-BE49-F238E27FC236}">
                  <a16:creationId xmlns:a16="http://schemas.microsoft.com/office/drawing/2014/main" id="{F021CADD-8205-4C76-3F62-57B66C78D8B3}"/>
                </a:ext>
              </a:extLst>
            </p:cNvPr>
            <p:cNvGrpSpPr/>
            <p:nvPr/>
          </p:nvGrpSpPr>
          <p:grpSpPr>
            <a:xfrm>
              <a:off x="1143813" y="3152605"/>
              <a:ext cx="423468" cy="360000"/>
              <a:chOff x="1112362" y="4534057"/>
              <a:chExt cx="423468" cy="360000"/>
            </a:xfrm>
          </p:grpSpPr>
          <p:sp>
            <p:nvSpPr>
              <p:cNvPr id="27" name="타원 26">
                <a:extLst>
                  <a:ext uri="{FF2B5EF4-FFF2-40B4-BE49-F238E27FC236}">
                    <a16:creationId xmlns:a16="http://schemas.microsoft.com/office/drawing/2014/main" id="{74F8EE71-8F70-336E-079E-7DDE541E788A}"/>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TextBox 27">
                <a:extLst>
                  <a:ext uri="{FF2B5EF4-FFF2-40B4-BE49-F238E27FC236}">
                    <a16:creationId xmlns:a16="http://schemas.microsoft.com/office/drawing/2014/main" id="{5D23ABE4-6F45-D553-6EB3-DC2A46376882}"/>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69" name="화살표: 오른쪽 68">
              <a:extLst>
                <a:ext uri="{FF2B5EF4-FFF2-40B4-BE49-F238E27FC236}">
                  <a16:creationId xmlns:a16="http://schemas.microsoft.com/office/drawing/2014/main" id="{A7D60529-1D37-8B9C-3F1B-FB5395AAF1B1}"/>
                </a:ext>
              </a:extLst>
            </p:cNvPr>
            <p:cNvSpPr/>
            <p:nvPr/>
          </p:nvSpPr>
          <p:spPr>
            <a:xfrm rot="16200000">
              <a:off x="1197370" y="4383676"/>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화살표: 오른쪽 69">
              <a:extLst>
                <a:ext uri="{FF2B5EF4-FFF2-40B4-BE49-F238E27FC236}">
                  <a16:creationId xmlns:a16="http://schemas.microsoft.com/office/drawing/2014/main" id="{A84E09B0-8361-F814-F631-7E5F583F7856}"/>
                </a:ext>
              </a:extLst>
            </p:cNvPr>
            <p:cNvSpPr/>
            <p:nvPr/>
          </p:nvSpPr>
          <p:spPr>
            <a:xfrm rot="16200000">
              <a:off x="1197370" y="3570853"/>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화살표: 오른쪽 77">
              <a:extLst>
                <a:ext uri="{FF2B5EF4-FFF2-40B4-BE49-F238E27FC236}">
                  <a16:creationId xmlns:a16="http://schemas.microsoft.com/office/drawing/2014/main" id="{02149DE2-DD3E-830F-B743-F2336422D51C}"/>
                </a:ext>
              </a:extLst>
            </p:cNvPr>
            <p:cNvSpPr/>
            <p:nvPr/>
          </p:nvSpPr>
          <p:spPr>
            <a:xfrm>
              <a:off x="2501114" y="3950176"/>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9" name="그룹 78">
              <a:extLst>
                <a:ext uri="{FF2B5EF4-FFF2-40B4-BE49-F238E27FC236}">
                  <a16:creationId xmlns:a16="http://schemas.microsoft.com/office/drawing/2014/main" id="{15BF052D-0167-20BD-FE71-F9CA3A28AD49}"/>
                </a:ext>
              </a:extLst>
            </p:cNvPr>
            <p:cNvGrpSpPr/>
            <p:nvPr/>
          </p:nvGrpSpPr>
          <p:grpSpPr>
            <a:xfrm>
              <a:off x="1878796" y="3749913"/>
              <a:ext cx="607582" cy="582171"/>
              <a:chOff x="2352577" y="2695993"/>
              <a:chExt cx="1946046" cy="1511439"/>
            </a:xfrm>
          </p:grpSpPr>
          <p:sp>
            <p:nvSpPr>
              <p:cNvPr id="80" name="사각형: 둥근 모서리 79">
                <a:extLst>
                  <a:ext uri="{FF2B5EF4-FFF2-40B4-BE49-F238E27FC236}">
                    <a16:creationId xmlns:a16="http://schemas.microsoft.com/office/drawing/2014/main" id="{B432533E-6BF4-7EA4-831A-3337CECE6E82}"/>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TextBox 80">
                <a:extLst>
                  <a:ext uri="{FF2B5EF4-FFF2-40B4-BE49-F238E27FC236}">
                    <a16:creationId xmlns:a16="http://schemas.microsoft.com/office/drawing/2014/main" id="{201A56D4-C2BC-62C1-9AEC-311B37B4E183}"/>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82" name="그룹 81">
              <a:extLst>
                <a:ext uri="{FF2B5EF4-FFF2-40B4-BE49-F238E27FC236}">
                  <a16:creationId xmlns:a16="http://schemas.microsoft.com/office/drawing/2014/main" id="{9AA9617D-607C-03E1-7749-C880B111D94B}"/>
                </a:ext>
              </a:extLst>
            </p:cNvPr>
            <p:cNvGrpSpPr/>
            <p:nvPr/>
          </p:nvGrpSpPr>
          <p:grpSpPr>
            <a:xfrm>
              <a:off x="1989876" y="4564026"/>
              <a:ext cx="423468" cy="360000"/>
              <a:chOff x="1112362" y="4534057"/>
              <a:chExt cx="423468" cy="360000"/>
            </a:xfrm>
          </p:grpSpPr>
          <p:sp>
            <p:nvSpPr>
              <p:cNvPr id="83" name="타원 82">
                <a:extLst>
                  <a:ext uri="{FF2B5EF4-FFF2-40B4-BE49-F238E27FC236}">
                    <a16:creationId xmlns:a16="http://schemas.microsoft.com/office/drawing/2014/main" id="{32491B14-C28B-4396-7589-13F4B86DE7A8}"/>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E6C2847F-3AAF-8DCE-40F6-E3AA9C5DE309}"/>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grpSp>
          <p:nvGrpSpPr>
            <p:cNvPr id="85" name="그룹 84">
              <a:extLst>
                <a:ext uri="{FF2B5EF4-FFF2-40B4-BE49-F238E27FC236}">
                  <a16:creationId xmlns:a16="http://schemas.microsoft.com/office/drawing/2014/main" id="{DDFC75E1-5B12-1A42-91AA-EE6790964860}"/>
                </a:ext>
              </a:extLst>
            </p:cNvPr>
            <p:cNvGrpSpPr/>
            <p:nvPr/>
          </p:nvGrpSpPr>
          <p:grpSpPr>
            <a:xfrm>
              <a:off x="2012759" y="3149668"/>
              <a:ext cx="423468" cy="360000"/>
              <a:chOff x="1112362" y="4534057"/>
              <a:chExt cx="423468" cy="360000"/>
            </a:xfrm>
          </p:grpSpPr>
          <p:sp>
            <p:nvSpPr>
              <p:cNvPr id="86" name="타원 85">
                <a:extLst>
                  <a:ext uri="{FF2B5EF4-FFF2-40B4-BE49-F238E27FC236}">
                    <a16:creationId xmlns:a16="http://schemas.microsoft.com/office/drawing/2014/main" id="{88BD85DC-0A37-D941-D457-15ED9DCB8FBE}"/>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TextBox 86">
                <a:extLst>
                  <a:ext uri="{FF2B5EF4-FFF2-40B4-BE49-F238E27FC236}">
                    <a16:creationId xmlns:a16="http://schemas.microsoft.com/office/drawing/2014/main" id="{1B566E50-4632-05B2-074F-BF2F61762EF3}"/>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h</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88" name="화살표: 오른쪽 87">
              <a:extLst>
                <a:ext uri="{FF2B5EF4-FFF2-40B4-BE49-F238E27FC236}">
                  <a16:creationId xmlns:a16="http://schemas.microsoft.com/office/drawing/2014/main" id="{A68FCE9D-1AAE-1900-39E2-FF02ED2EDB3D}"/>
                </a:ext>
              </a:extLst>
            </p:cNvPr>
            <p:cNvSpPr/>
            <p:nvPr/>
          </p:nvSpPr>
          <p:spPr>
            <a:xfrm rot="16200000">
              <a:off x="2066316" y="4380739"/>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화살표: 오른쪽 88">
              <a:extLst>
                <a:ext uri="{FF2B5EF4-FFF2-40B4-BE49-F238E27FC236}">
                  <a16:creationId xmlns:a16="http://schemas.microsoft.com/office/drawing/2014/main" id="{D6B9022C-5767-5643-11DC-ED415928DFED}"/>
                </a:ext>
              </a:extLst>
            </p:cNvPr>
            <p:cNvSpPr/>
            <p:nvPr/>
          </p:nvSpPr>
          <p:spPr>
            <a:xfrm rot="16200000">
              <a:off x="2066316" y="3567916"/>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화살표: 오른쪽 89">
              <a:extLst>
                <a:ext uri="{FF2B5EF4-FFF2-40B4-BE49-F238E27FC236}">
                  <a16:creationId xmlns:a16="http://schemas.microsoft.com/office/drawing/2014/main" id="{05DFC11E-DD5E-CA8B-58C7-5B5E83BB79A9}"/>
                </a:ext>
              </a:extLst>
            </p:cNvPr>
            <p:cNvSpPr/>
            <p:nvPr/>
          </p:nvSpPr>
          <p:spPr>
            <a:xfrm>
              <a:off x="3376052" y="395065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1" name="그룹 90">
              <a:extLst>
                <a:ext uri="{FF2B5EF4-FFF2-40B4-BE49-F238E27FC236}">
                  <a16:creationId xmlns:a16="http://schemas.microsoft.com/office/drawing/2014/main" id="{0F67CEE8-67EB-AE8F-0383-546B945ADF59}"/>
                </a:ext>
              </a:extLst>
            </p:cNvPr>
            <p:cNvGrpSpPr/>
            <p:nvPr/>
          </p:nvGrpSpPr>
          <p:grpSpPr>
            <a:xfrm>
              <a:off x="2753734" y="3750389"/>
              <a:ext cx="607582" cy="582171"/>
              <a:chOff x="2352577" y="2695993"/>
              <a:chExt cx="1946046" cy="1511439"/>
            </a:xfrm>
          </p:grpSpPr>
          <p:sp>
            <p:nvSpPr>
              <p:cNvPr id="92" name="사각형: 둥근 모서리 91">
                <a:extLst>
                  <a:ext uri="{FF2B5EF4-FFF2-40B4-BE49-F238E27FC236}">
                    <a16:creationId xmlns:a16="http://schemas.microsoft.com/office/drawing/2014/main" id="{BBA0FF2B-E55D-590C-21F6-396E3B8D9941}"/>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TextBox 92">
                <a:extLst>
                  <a:ext uri="{FF2B5EF4-FFF2-40B4-BE49-F238E27FC236}">
                    <a16:creationId xmlns:a16="http://schemas.microsoft.com/office/drawing/2014/main" id="{24913339-C2A4-B364-711B-6DA9E1067E1B}"/>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94" name="그룹 93">
              <a:extLst>
                <a:ext uri="{FF2B5EF4-FFF2-40B4-BE49-F238E27FC236}">
                  <a16:creationId xmlns:a16="http://schemas.microsoft.com/office/drawing/2014/main" id="{B46AAA82-4BF5-D3C3-9956-EA2717DD3265}"/>
                </a:ext>
              </a:extLst>
            </p:cNvPr>
            <p:cNvGrpSpPr/>
            <p:nvPr/>
          </p:nvGrpSpPr>
          <p:grpSpPr>
            <a:xfrm>
              <a:off x="2864814" y="4564502"/>
              <a:ext cx="423468" cy="360000"/>
              <a:chOff x="1112362" y="4534057"/>
              <a:chExt cx="423468" cy="360000"/>
            </a:xfrm>
          </p:grpSpPr>
          <p:sp>
            <p:nvSpPr>
              <p:cNvPr id="95" name="타원 94">
                <a:extLst>
                  <a:ext uri="{FF2B5EF4-FFF2-40B4-BE49-F238E27FC236}">
                    <a16:creationId xmlns:a16="http://schemas.microsoft.com/office/drawing/2014/main" id="{C7AA3745-94F8-A253-781B-167124FCD9FC}"/>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TextBox 95">
                <a:extLst>
                  <a:ext uri="{FF2B5EF4-FFF2-40B4-BE49-F238E27FC236}">
                    <a16:creationId xmlns:a16="http://schemas.microsoft.com/office/drawing/2014/main" id="{5D2695D5-80DF-04A1-C304-AA766E8179D3}"/>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97" name="그룹 96">
              <a:extLst>
                <a:ext uri="{FF2B5EF4-FFF2-40B4-BE49-F238E27FC236}">
                  <a16:creationId xmlns:a16="http://schemas.microsoft.com/office/drawing/2014/main" id="{80059C0A-CB09-0031-CD84-3AC90F92BA08}"/>
                </a:ext>
              </a:extLst>
            </p:cNvPr>
            <p:cNvGrpSpPr/>
            <p:nvPr/>
          </p:nvGrpSpPr>
          <p:grpSpPr>
            <a:xfrm>
              <a:off x="2887697" y="3150144"/>
              <a:ext cx="423468" cy="360000"/>
              <a:chOff x="1112362" y="4534057"/>
              <a:chExt cx="423468" cy="360000"/>
            </a:xfrm>
          </p:grpSpPr>
          <p:sp>
            <p:nvSpPr>
              <p:cNvPr id="98" name="타원 97">
                <a:extLst>
                  <a:ext uri="{FF2B5EF4-FFF2-40B4-BE49-F238E27FC236}">
                    <a16:creationId xmlns:a16="http://schemas.microsoft.com/office/drawing/2014/main" id="{9557EF0E-B745-4382-13A9-7063D000991E}"/>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TextBox 98">
                <a:extLst>
                  <a:ext uri="{FF2B5EF4-FFF2-40B4-BE49-F238E27FC236}">
                    <a16:creationId xmlns:a16="http://schemas.microsoft.com/office/drawing/2014/main" id="{5FD96399-5C41-FE6A-CBC9-9748DE464C69}"/>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100" name="화살표: 오른쪽 99">
              <a:extLst>
                <a:ext uri="{FF2B5EF4-FFF2-40B4-BE49-F238E27FC236}">
                  <a16:creationId xmlns:a16="http://schemas.microsoft.com/office/drawing/2014/main" id="{32C44E9F-5FDE-6E15-5B40-C85B2F115417}"/>
                </a:ext>
              </a:extLst>
            </p:cNvPr>
            <p:cNvSpPr/>
            <p:nvPr/>
          </p:nvSpPr>
          <p:spPr>
            <a:xfrm rot="16200000">
              <a:off x="2941254" y="4381215"/>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화살표: 오른쪽 100">
              <a:extLst>
                <a:ext uri="{FF2B5EF4-FFF2-40B4-BE49-F238E27FC236}">
                  <a16:creationId xmlns:a16="http://schemas.microsoft.com/office/drawing/2014/main" id="{459988F2-47C9-5393-078F-936E0769278E}"/>
                </a:ext>
              </a:extLst>
            </p:cNvPr>
            <p:cNvSpPr/>
            <p:nvPr/>
          </p:nvSpPr>
          <p:spPr>
            <a:xfrm rot="16200000">
              <a:off x="2941254" y="3568392"/>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03" name="그룹 102">
            <a:extLst>
              <a:ext uri="{FF2B5EF4-FFF2-40B4-BE49-F238E27FC236}">
                <a16:creationId xmlns:a16="http://schemas.microsoft.com/office/drawing/2014/main" id="{98807980-461B-407A-E196-0719D0174801}"/>
              </a:ext>
            </a:extLst>
          </p:cNvPr>
          <p:cNvGrpSpPr/>
          <p:nvPr/>
        </p:nvGrpSpPr>
        <p:grpSpPr>
          <a:xfrm>
            <a:off x="5085398" y="2871019"/>
            <a:ext cx="2613785" cy="1777295"/>
            <a:chOff x="1009850" y="3149668"/>
            <a:chExt cx="2613785" cy="1777295"/>
          </a:xfrm>
        </p:grpSpPr>
        <p:sp>
          <p:nvSpPr>
            <p:cNvPr id="104" name="화살표: 오른쪽 103">
              <a:extLst>
                <a:ext uri="{FF2B5EF4-FFF2-40B4-BE49-F238E27FC236}">
                  <a16:creationId xmlns:a16="http://schemas.microsoft.com/office/drawing/2014/main" id="{88251684-1DEF-67AE-F83A-B8E784F1C5B1}"/>
                </a:ext>
              </a:extLst>
            </p:cNvPr>
            <p:cNvSpPr/>
            <p:nvPr/>
          </p:nvSpPr>
          <p:spPr>
            <a:xfrm>
              <a:off x="1632168" y="3953113"/>
              <a:ext cx="247583" cy="184963"/>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5" name="그룹 104">
              <a:extLst>
                <a:ext uri="{FF2B5EF4-FFF2-40B4-BE49-F238E27FC236}">
                  <a16:creationId xmlns:a16="http://schemas.microsoft.com/office/drawing/2014/main" id="{8E3DDF7A-2801-7249-4A55-1AB5E6FF5FD8}"/>
                </a:ext>
              </a:extLst>
            </p:cNvPr>
            <p:cNvGrpSpPr/>
            <p:nvPr/>
          </p:nvGrpSpPr>
          <p:grpSpPr>
            <a:xfrm>
              <a:off x="1009850" y="3752850"/>
              <a:ext cx="607582" cy="582171"/>
              <a:chOff x="2352577" y="2695993"/>
              <a:chExt cx="1946046" cy="1511439"/>
            </a:xfrm>
          </p:grpSpPr>
          <p:sp>
            <p:nvSpPr>
              <p:cNvPr id="138" name="사각형: 둥근 모서리 137">
                <a:extLst>
                  <a:ext uri="{FF2B5EF4-FFF2-40B4-BE49-F238E27FC236}">
                    <a16:creationId xmlns:a16="http://schemas.microsoft.com/office/drawing/2014/main" id="{D2811F95-AB9A-BEAB-A040-B87E83754DE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TextBox 138">
                <a:extLst>
                  <a:ext uri="{FF2B5EF4-FFF2-40B4-BE49-F238E27FC236}">
                    <a16:creationId xmlns:a16="http://schemas.microsoft.com/office/drawing/2014/main" id="{C4A9FFE4-D837-C81B-B76C-6FDCADCEBAF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06" name="그룹 105">
              <a:extLst>
                <a:ext uri="{FF2B5EF4-FFF2-40B4-BE49-F238E27FC236}">
                  <a16:creationId xmlns:a16="http://schemas.microsoft.com/office/drawing/2014/main" id="{AC54C371-B3C9-CD05-E2EE-23D4BD7643B4}"/>
                </a:ext>
              </a:extLst>
            </p:cNvPr>
            <p:cNvGrpSpPr/>
            <p:nvPr/>
          </p:nvGrpSpPr>
          <p:grpSpPr>
            <a:xfrm>
              <a:off x="1120930" y="4566963"/>
              <a:ext cx="423468" cy="360000"/>
              <a:chOff x="1112362" y="4534057"/>
              <a:chExt cx="423468" cy="360000"/>
            </a:xfrm>
          </p:grpSpPr>
          <p:sp>
            <p:nvSpPr>
              <p:cNvPr id="136" name="타원 135">
                <a:extLst>
                  <a:ext uri="{FF2B5EF4-FFF2-40B4-BE49-F238E27FC236}">
                    <a16:creationId xmlns:a16="http://schemas.microsoft.com/office/drawing/2014/main" id="{9632CFFD-8337-6C38-FCFD-ADB50FE232D9}"/>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7" name="TextBox 136">
                <a:extLst>
                  <a:ext uri="{FF2B5EF4-FFF2-40B4-BE49-F238E27FC236}">
                    <a16:creationId xmlns:a16="http://schemas.microsoft.com/office/drawing/2014/main" id="{7ADC9936-1E00-CB28-C45C-07BB2954C12D}"/>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107" name="그룹 106">
              <a:extLst>
                <a:ext uri="{FF2B5EF4-FFF2-40B4-BE49-F238E27FC236}">
                  <a16:creationId xmlns:a16="http://schemas.microsoft.com/office/drawing/2014/main" id="{7258891A-0F40-E153-EB99-6B59CD886303}"/>
                </a:ext>
              </a:extLst>
            </p:cNvPr>
            <p:cNvGrpSpPr/>
            <p:nvPr/>
          </p:nvGrpSpPr>
          <p:grpSpPr>
            <a:xfrm>
              <a:off x="1143813" y="3152605"/>
              <a:ext cx="423468" cy="360000"/>
              <a:chOff x="1112362" y="4534057"/>
              <a:chExt cx="423468" cy="360000"/>
            </a:xfrm>
          </p:grpSpPr>
          <p:sp>
            <p:nvSpPr>
              <p:cNvPr id="134" name="타원 133">
                <a:extLst>
                  <a:ext uri="{FF2B5EF4-FFF2-40B4-BE49-F238E27FC236}">
                    <a16:creationId xmlns:a16="http://schemas.microsoft.com/office/drawing/2014/main" id="{E4C838A0-48B6-4DAB-CC14-50F8B6915A34}"/>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5" name="TextBox 134">
                <a:extLst>
                  <a:ext uri="{FF2B5EF4-FFF2-40B4-BE49-F238E27FC236}">
                    <a16:creationId xmlns:a16="http://schemas.microsoft.com/office/drawing/2014/main" id="{67D5B07F-20AE-1123-817C-AA347BCADAC8}"/>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108" name="화살표: 오른쪽 107">
              <a:extLst>
                <a:ext uri="{FF2B5EF4-FFF2-40B4-BE49-F238E27FC236}">
                  <a16:creationId xmlns:a16="http://schemas.microsoft.com/office/drawing/2014/main" id="{D75555F0-43D9-F9C3-8E3A-738584866176}"/>
                </a:ext>
              </a:extLst>
            </p:cNvPr>
            <p:cNvSpPr/>
            <p:nvPr/>
          </p:nvSpPr>
          <p:spPr>
            <a:xfrm rot="16200000">
              <a:off x="1197370" y="4383676"/>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9" name="화살표: 오른쪽 108">
              <a:extLst>
                <a:ext uri="{FF2B5EF4-FFF2-40B4-BE49-F238E27FC236}">
                  <a16:creationId xmlns:a16="http://schemas.microsoft.com/office/drawing/2014/main" id="{07EE079A-DC8F-2209-0CAB-EBBCC353C0AD}"/>
                </a:ext>
              </a:extLst>
            </p:cNvPr>
            <p:cNvSpPr/>
            <p:nvPr/>
          </p:nvSpPr>
          <p:spPr>
            <a:xfrm rot="16200000">
              <a:off x="1197370" y="3570853"/>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화살표: 오른쪽 109">
              <a:extLst>
                <a:ext uri="{FF2B5EF4-FFF2-40B4-BE49-F238E27FC236}">
                  <a16:creationId xmlns:a16="http://schemas.microsoft.com/office/drawing/2014/main" id="{D4E8A601-D815-25E3-7886-A779BAB36E15}"/>
                </a:ext>
              </a:extLst>
            </p:cNvPr>
            <p:cNvSpPr/>
            <p:nvPr/>
          </p:nvSpPr>
          <p:spPr>
            <a:xfrm>
              <a:off x="2501114" y="3950176"/>
              <a:ext cx="247583" cy="184963"/>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1" name="그룹 110">
              <a:extLst>
                <a:ext uri="{FF2B5EF4-FFF2-40B4-BE49-F238E27FC236}">
                  <a16:creationId xmlns:a16="http://schemas.microsoft.com/office/drawing/2014/main" id="{A3B5A6CB-C76B-0038-F83E-037603A3629A}"/>
                </a:ext>
              </a:extLst>
            </p:cNvPr>
            <p:cNvGrpSpPr/>
            <p:nvPr/>
          </p:nvGrpSpPr>
          <p:grpSpPr>
            <a:xfrm>
              <a:off x="1878796" y="3749913"/>
              <a:ext cx="607582" cy="582171"/>
              <a:chOff x="2352577" y="2695993"/>
              <a:chExt cx="1946046" cy="1511439"/>
            </a:xfrm>
          </p:grpSpPr>
          <p:sp>
            <p:nvSpPr>
              <p:cNvPr id="132" name="사각형: 둥근 모서리 131">
                <a:extLst>
                  <a:ext uri="{FF2B5EF4-FFF2-40B4-BE49-F238E27FC236}">
                    <a16:creationId xmlns:a16="http://schemas.microsoft.com/office/drawing/2014/main" id="{87A6554C-B44C-CD37-A629-8454B9DB4F6D}"/>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7DE7C5DD-A0F7-FB5D-F063-6577DBEEFC2B}"/>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12" name="그룹 111">
              <a:extLst>
                <a:ext uri="{FF2B5EF4-FFF2-40B4-BE49-F238E27FC236}">
                  <a16:creationId xmlns:a16="http://schemas.microsoft.com/office/drawing/2014/main" id="{A15248CC-9221-6B91-05B1-6C1B4F8A8D01}"/>
                </a:ext>
              </a:extLst>
            </p:cNvPr>
            <p:cNvGrpSpPr/>
            <p:nvPr/>
          </p:nvGrpSpPr>
          <p:grpSpPr>
            <a:xfrm>
              <a:off x="1989876" y="4564026"/>
              <a:ext cx="423468" cy="360000"/>
              <a:chOff x="1112362" y="4534057"/>
              <a:chExt cx="423468" cy="360000"/>
            </a:xfrm>
          </p:grpSpPr>
          <p:sp>
            <p:nvSpPr>
              <p:cNvPr id="130" name="타원 129">
                <a:extLst>
                  <a:ext uri="{FF2B5EF4-FFF2-40B4-BE49-F238E27FC236}">
                    <a16:creationId xmlns:a16="http://schemas.microsoft.com/office/drawing/2014/main" id="{30A73E6B-C742-90DC-8599-F30CA9FCCA40}"/>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1" name="TextBox 130">
                <a:extLst>
                  <a:ext uri="{FF2B5EF4-FFF2-40B4-BE49-F238E27FC236}">
                    <a16:creationId xmlns:a16="http://schemas.microsoft.com/office/drawing/2014/main" id="{0DB9A99A-3B8B-66A8-806D-EEF30E4A9AE8}"/>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grpSp>
          <p:nvGrpSpPr>
            <p:cNvPr id="113" name="그룹 112">
              <a:extLst>
                <a:ext uri="{FF2B5EF4-FFF2-40B4-BE49-F238E27FC236}">
                  <a16:creationId xmlns:a16="http://schemas.microsoft.com/office/drawing/2014/main" id="{D6C5EC10-A9A8-7B01-C0E7-0BB9B077FE72}"/>
                </a:ext>
              </a:extLst>
            </p:cNvPr>
            <p:cNvGrpSpPr/>
            <p:nvPr/>
          </p:nvGrpSpPr>
          <p:grpSpPr>
            <a:xfrm>
              <a:off x="2012759" y="3149668"/>
              <a:ext cx="423468" cy="360000"/>
              <a:chOff x="1112362" y="4534057"/>
              <a:chExt cx="423468" cy="360000"/>
            </a:xfrm>
          </p:grpSpPr>
          <p:sp>
            <p:nvSpPr>
              <p:cNvPr id="128" name="타원 127">
                <a:extLst>
                  <a:ext uri="{FF2B5EF4-FFF2-40B4-BE49-F238E27FC236}">
                    <a16:creationId xmlns:a16="http://schemas.microsoft.com/office/drawing/2014/main" id="{97554C3C-AD6A-87A8-063E-888D9CF84688}"/>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D3FC5BF2-280D-99A1-1745-D5EC50213657}"/>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h</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114" name="화살표: 오른쪽 113">
              <a:extLst>
                <a:ext uri="{FF2B5EF4-FFF2-40B4-BE49-F238E27FC236}">
                  <a16:creationId xmlns:a16="http://schemas.microsoft.com/office/drawing/2014/main" id="{A89A89BB-32F2-4BBF-FF42-247CB9D4DD7F}"/>
                </a:ext>
              </a:extLst>
            </p:cNvPr>
            <p:cNvSpPr/>
            <p:nvPr/>
          </p:nvSpPr>
          <p:spPr>
            <a:xfrm rot="16200000">
              <a:off x="2066316" y="4380739"/>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화살표: 오른쪽 114">
              <a:extLst>
                <a:ext uri="{FF2B5EF4-FFF2-40B4-BE49-F238E27FC236}">
                  <a16:creationId xmlns:a16="http://schemas.microsoft.com/office/drawing/2014/main" id="{D08286B5-A0E2-005B-E71A-BB91BE7CFE7A}"/>
                </a:ext>
              </a:extLst>
            </p:cNvPr>
            <p:cNvSpPr/>
            <p:nvPr/>
          </p:nvSpPr>
          <p:spPr>
            <a:xfrm rot="16200000">
              <a:off x="2066316" y="3567916"/>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6" name="화살표: 오른쪽 115">
              <a:extLst>
                <a:ext uri="{FF2B5EF4-FFF2-40B4-BE49-F238E27FC236}">
                  <a16:creationId xmlns:a16="http://schemas.microsoft.com/office/drawing/2014/main" id="{A2422788-1379-B86F-F8BD-5EEF190B0309}"/>
                </a:ext>
              </a:extLst>
            </p:cNvPr>
            <p:cNvSpPr/>
            <p:nvPr/>
          </p:nvSpPr>
          <p:spPr>
            <a:xfrm>
              <a:off x="3376052" y="3950652"/>
              <a:ext cx="247583" cy="184963"/>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7" name="그룹 116">
              <a:extLst>
                <a:ext uri="{FF2B5EF4-FFF2-40B4-BE49-F238E27FC236}">
                  <a16:creationId xmlns:a16="http://schemas.microsoft.com/office/drawing/2014/main" id="{53181A5C-E1D5-9064-9634-7E6A381AF078}"/>
                </a:ext>
              </a:extLst>
            </p:cNvPr>
            <p:cNvGrpSpPr/>
            <p:nvPr/>
          </p:nvGrpSpPr>
          <p:grpSpPr>
            <a:xfrm>
              <a:off x="2753734" y="3750389"/>
              <a:ext cx="607582" cy="582171"/>
              <a:chOff x="2352577" y="2695993"/>
              <a:chExt cx="1946046" cy="1511439"/>
            </a:xfrm>
          </p:grpSpPr>
          <p:sp>
            <p:nvSpPr>
              <p:cNvPr id="126" name="사각형: 둥근 모서리 125">
                <a:extLst>
                  <a:ext uri="{FF2B5EF4-FFF2-40B4-BE49-F238E27FC236}">
                    <a16:creationId xmlns:a16="http://schemas.microsoft.com/office/drawing/2014/main" id="{40466BB1-049A-1AA1-5BD6-C2D285F8AB5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C47A4744-7202-31E9-2B8C-F6034A819AA9}"/>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18" name="그룹 117">
              <a:extLst>
                <a:ext uri="{FF2B5EF4-FFF2-40B4-BE49-F238E27FC236}">
                  <a16:creationId xmlns:a16="http://schemas.microsoft.com/office/drawing/2014/main" id="{95E10054-E205-6AD3-DD2D-33E526A44E7C}"/>
                </a:ext>
              </a:extLst>
            </p:cNvPr>
            <p:cNvGrpSpPr/>
            <p:nvPr/>
          </p:nvGrpSpPr>
          <p:grpSpPr>
            <a:xfrm>
              <a:off x="2864814" y="4564502"/>
              <a:ext cx="423468" cy="360000"/>
              <a:chOff x="1112362" y="4534057"/>
              <a:chExt cx="423468" cy="360000"/>
            </a:xfrm>
          </p:grpSpPr>
          <p:sp>
            <p:nvSpPr>
              <p:cNvPr id="124" name="타원 123">
                <a:extLst>
                  <a:ext uri="{FF2B5EF4-FFF2-40B4-BE49-F238E27FC236}">
                    <a16:creationId xmlns:a16="http://schemas.microsoft.com/office/drawing/2014/main" id="{19CC6D05-0840-DCED-BEB1-AE9A1058C25A}"/>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EFC3ABB9-7D4E-C25C-C59C-C8E9F62CF437}"/>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119" name="그룹 118">
              <a:extLst>
                <a:ext uri="{FF2B5EF4-FFF2-40B4-BE49-F238E27FC236}">
                  <a16:creationId xmlns:a16="http://schemas.microsoft.com/office/drawing/2014/main" id="{129C9582-0DF7-9523-9C58-1C951893D8B1}"/>
                </a:ext>
              </a:extLst>
            </p:cNvPr>
            <p:cNvGrpSpPr/>
            <p:nvPr/>
          </p:nvGrpSpPr>
          <p:grpSpPr>
            <a:xfrm>
              <a:off x="2887697" y="3150144"/>
              <a:ext cx="423468" cy="360000"/>
              <a:chOff x="1112362" y="4534057"/>
              <a:chExt cx="423468" cy="360000"/>
            </a:xfrm>
          </p:grpSpPr>
          <p:sp>
            <p:nvSpPr>
              <p:cNvPr id="122" name="타원 121">
                <a:extLst>
                  <a:ext uri="{FF2B5EF4-FFF2-40B4-BE49-F238E27FC236}">
                    <a16:creationId xmlns:a16="http://schemas.microsoft.com/office/drawing/2014/main" id="{0DD3483F-2F1A-327F-446F-614A67F8AEE9}"/>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6AE7F95A-A915-6A7B-2766-16F7C151E6AF}"/>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120" name="화살표: 오른쪽 119">
              <a:extLst>
                <a:ext uri="{FF2B5EF4-FFF2-40B4-BE49-F238E27FC236}">
                  <a16:creationId xmlns:a16="http://schemas.microsoft.com/office/drawing/2014/main" id="{D8F7574B-D4C6-E822-CBC2-2BB6588196A3}"/>
                </a:ext>
              </a:extLst>
            </p:cNvPr>
            <p:cNvSpPr/>
            <p:nvPr/>
          </p:nvSpPr>
          <p:spPr>
            <a:xfrm rot="16200000">
              <a:off x="2941254" y="4381215"/>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1" name="화살표: 오른쪽 120">
              <a:extLst>
                <a:ext uri="{FF2B5EF4-FFF2-40B4-BE49-F238E27FC236}">
                  <a16:creationId xmlns:a16="http://schemas.microsoft.com/office/drawing/2014/main" id="{8A02099E-4585-A1CB-38A4-2BCE610F26BB}"/>
                </a:ext>
              </a:extLst>
            </p:cNvPr>
            <p:cNvSpPr/>
            <p:nvPr/>
          </p:nvSpPr>
          <p:spPr>
            <a:xfrm rot="16200000">
              <a:off x="2941254" y="3568392"/>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cxnSp>
        <p:nvCxnSpPr>
          <p:cNvPr id="141" name="직선 화살표 연결선 140">
            <a:extLst>
              <a:ext uri="{FF2B5EF4-FFF2-40B4-BE49-F238E27FC236}">
                <a16:creationId xmlns:a16="http://schemas.microsoft.com/office/drawing/2014/main" id="{00FD358A-C7B8-C1EF-9E20-7DD2109E479F}"/>
              </a:ext>
            </a:extLst>
          </p:cNvPr>
          <p:cNvCxnSpPr/>
          <p:nvPr/>
        </p:nvCxnSpPr>
        <p:spPr>
          <a:xfrm flipV="1">
            <a:off x="967740" y="2933301"/>
            <a:ext cx="0" cy="1776782"/>
          </a:xfrm>
          <a:prstGeom prst="straightConnector1">
            <a:avLst/>
          </a:prstGeom>
          <a:ln w="127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2" name="TextBox 141">
            <a:extLst>
              <a:ext uri="{FF2B5EF4-FFF2-40B4-BE49-F238E27FC236}">
                <a16:creationId xmlns:a16="http://schemas.microsoft.com/office/drawing/2014/main" id="{AB5DE55C-3147-7C01-1472-D7E850A5FF3C}"/>
              </a:ext>
            </a:extLst>
          </p:cNvPr>
          <p:cNvSpPr txBox="1"/>
          <p:nvPr/>
        </p:nvSpPr>
        <p:spPr>
          <a:xfrm rot="16200000">
            <a:off x="178698" y="3578159"/>
            <a:ext cx="1226188" cy="369332"/>
          </a:xfrm>
          <a:prstGeom prst="rect">
            <a:avLst/>
          </a:prstGeom>
          <a:noFill/>
        </p:spPr>
        <p:txBody>
          <a:bodyPr wrap="square">
            <a:spAutoFit/>
          </a:bodyPr>
          <a:lstStyle/>
          <a:p>
            <a:r>
              <a:rPr lang="en-US" altLang="ko-KR" sz="1800">
                <a:solidFill>
                  <a:srgbClr val="222222"/>
                </a:solidFill>
                <a:latin typeface="Arial Narrow" panose="020B0606020202030204" pitchFamily="34" charset="0"/>
              </a:rPr>
              <a:t>vertically </a:t>
            </a:r>
            <a:endParaRPr lang="ko-KR" altLang="en-US" dirty="0"/>
          </a:p>
        </p:txBody>
      </p:sp>
      <p:cxnSp>
        <p:nvCxnSpPr>
          <p:cNvPr id="143" name="직선 화살표 연결선 142">
            <a:extLst>
              <a:ext uri="{FF2B5EF4-FFF2-40B4-BE49-F238E27FC236}">
                <a16:creationId xmlns:a16="http://schemas.microsoft.com/office/drawing/2014/main" id="{4B6CBDF0-DBF1-79AF-1F40-2D41BC807D52}"/>
              </a:ext>
            </a:extLst>
          </p:cNvPr>
          <p:cNvCxnSpPr/>
          <p:nvPr/>
        </p:nvCxnSpPr>
        <p:spPr>
          <a:xfrm flipV="1">
            <a:off x="4892299" y="2927876"/>
            <a:ext cx="0" cy="1776782"/>
          </a:xfrm>
          <a:prstGeom prst="straightConnector1">
            <a:avLst/>
          </a:prstGeom>
          <a:ln w="127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4" name="TextBox 143">
            <a:extLst>
              <a:ext uri="{FF2B5EF4-FFF2-40B4-BE49-F238E27FC236}">
                <a16:creationId xmlns:a16="http://schemas.microsoft.com/office/drawing/2014/main" id="{A5788504-AFEE-0D3E-8077-F40E9858DFEF}"/>
              </a:ext>
            </a:extLst>
          </p:cNvPr>
          <p:cNvSpPr txBox="1"/>
          <p:nvPr/>
        </p:nvSpPr>
        <p:spPr>
          <a:xfrm rot="16200000">
            <a:off x="4103257" y="3572734"/>
            <a:ext cx="1226188" cy="369332"/>
          </a:xfrm>
          <a:prstGeom prst="rect">
            <a:avLst/>
          </a:prstGeom>
          <a:noFill/>
        </p:spPr>
        <p:txBody>
          <a:bodyPr wrap="square">
            <a:spAutoFit/>
          </a:bodyPr>
          <a:lstStyle/>
          <a:p>
            <a:r>
              <a:rPr lang="en-US" altLang="ko-KR" sz="1800">
                <a:solidFill>
                  <a:srgbClr val="222222"/>
                </a:solidFill>
                <a:latin typeface="Arial Narrow" panose="020B0606020202030204" pitchFamily="34" charset="0"/>
              </a:rPr>
              <a:t>vertically </a:t>
            </a:r>
            <a:endParaRPr lang="ko-KR" altLang="en-US" dirty="0"/>
          </a:p>
        </p:txBody>
      </p:sp>
      <p:cxnSp>
        <p:nvCxnSpPr>
          <p:cNvPr id="145" name="직선 화살표 연결선 144">
            <a:extLst>
              <a:ext uri="{FF2B5EF4-FFF2-40B4-BE49-F238E27FC236}">
                <a16:creationId xmlns:a16="http://schemas.microsoft.com/office/drawing/2014/main" id="{B9E98B8F-261D-87F5-F309-4F8F807C8904}"/>
              </a:ext>
            </a:extLst>
          </p:cNvPr>
          <p:cNvCxnSpPr>
            <a:cxnSpLocks/>
          </p:cNvCxnSpPr>
          <p:nvPr/>
        </p:nvCxnSpPr>
        <p:spPr>
          <a:xfrm>
            <a:off x="5314502" y="2596210"/>
            <a:ext cx="2016137" cy="0"/>
          </a:xfrm>
          <a:prstGeom prst="straightConnector1">
            <a:avLst/>
          </a:prstGeom>
          <a:ln w="127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6" name="TextBox 145">
            <a:extLst>
              <a:ext uri="{FF2B5EF4-FFF2-40B4-BE49-F238E27FC236}">
                <a16:creationId xmlns:a16="http://schemas.microsoft.com/office/drawing/2014/main" id="{16042147-96C4-0EBD-17C1-ABF83D98A23C}"/>
              </a:ext>
            </a:extLst>
          </p:cNvPr>
          <p:cNvSpPr txBox="1"/>
          <p:nvPr/>
        </p:nvSpPr>
        <p:spPr>
          <a:xfrm>
            <a:off x="5709476" y="2230710"/>
            <a:ext cx="1226188"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horizontally </a:t>
            </a:r>
            <a:endParaRPr lang="ko-KR" altLang="en-US" dirty="0"/>
          </a:p>
        </p:txBody>
      </p:sp>
      <p:sp>
        <p:nvSpPr>
          <p:cNvPr id="2" name="직사각형 1">
            <a:extLst>
              <a:ext uri="{FF2B5EF4-FFF2-40B4-BE49-F238E27FC236}">
                <a16:creationId xmlns:a16="http://schemas.microsoft.com/office/drawing/2014/main" id="{692FF745-DDD3-E6F6-187A-ACF778405FC0}"/>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3592044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For LSTM or RNN implementation</a:t>
            </a:r>
          </a:p>
          <a:p>
            <a:pPr marL="741600" lvl="1" indent="-284400">
              <a:lnSpc>
                <a:spcPct val="150000"/>
              </a:lnSpc>
              <a:buFont typeface="Arial" panose="020B0604020202020204" pitchFamily="34" charset="0"/>
              <a:buChar char="•"/>
            </a:pPr>
            <a:r>
              <a:rPr lang="en-US" altLang="ko-KR" sz="2000" dirty="0" err="1">
                <a:solidFill>
                  <a:srgbClr val="222222"/>
                </a:solidFill>
                <a:latin typeface="Arial Narrow" panose="020B0606020202030204" pitchFamily="34" charset="0"/>
              </a:rPr>
              <a:t>return_sequences</a:t>
            </a:r>
            <a:r>
              <a:rPr lang="en-US" altLang="ko-KR" sz="2000" dirty="0">
                <a:solidFill>
                  <a:srgbClr val="222222"/>
                </a:solidFill>
                <a:latin typeface="Arial Narrow" panose="020B0606020202030204" pitchFamily="34" charset="0"/>
              </a:rPr>
              <a:t>, </a:t>
            </a:r>
          </a:p>
        </p:txBody>
      </p:sp>
      <p:grpSp>
        <p:nvGrpSpPr>
          <p:cNvPr id="2" name="그룹 1">
            <a:extLst>
              <a:ext uri="{FF2B5EF4-FFF2-40B4-BE49-F238E27FC236}">
                <a16:creationId xmlns:a16="http://schemas.microsoft.com/office/drawing/2014/main" id="{ED7A4FB5-6FFC-3218-CD15-60F1D692C95D}"/>
              </a:ext>
            </a:extLst>
          </p:cNvPr>
          <p:cNvGrpSpPr/>
          <p:nvPr/>
        </p:nvGrpSpPr>
        <p:grpSpPr>
          <a:xfrm>
            <a:off x="1139390" y="2891801"/>
            <a:ext cx="2613785" cy="1777295"/>
            <a:chOff x="1009850" y="3149668"/>
            <a:chExt cx="2613785" cy="1777295"/>
          </a:xfrm>
        </p:grpSpPr>
        <p:sp>
          <p:nvSpPr>
            <p:cNvPr id="3" name="화살표: 오른쪽 2">
              <a:extLst>
                <a:ext uri="{FF2B5EF4-FFF2-40B4-BE49-F238E27FC236}">
                  <a16:creationId xmlns:a16="http://schemas.microsoft.com/office/drawing/2014/main" id="{7E85BB71-491D-FC06-3A74-03E0DECE8A60}"/>
                </a:ext>
              </a:extLst>
            </p:cNvPr>
            <p:cNvSpPr/>
            <p:nvPr/>
          </p:nvSpPr>
          <p:spPr>
            <a:xfrm>
              <a:off x="1632168" y="3953113"/>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4" name="그룹 3">
              <a:extLst>
                <a:ext uri="{FF2B5EF4-FFF2-40B4-BE49-F238E27FC236}">
                  <a16:creationId xmlns:a16="http://schemas.microsoft.com/office/drawing/2014/main" id="{AA142B5B-5009-E7BF-BD65-C901A43FA503}"/>
                </a:ext>
              </a:extLst>
            </p:cNvPr>
            <p:cNvGrpSpPr/>
            <p:nvPr/>
          </p:nvGrpSpPr>
          <p:grpSpPr>
            <a:xfrm>
              <a:off x="1009850" y="3752850"/>
              <a:ext cx="607582" cy="582171"/>
              <a:chOff x="2352577" y="2695993"/>
              <a:chExt cx="1946046" cy="1511439"/>
            </a:xfrm>
          </p:grpSpPr>
          <p:sp>
            <p:nvSpPr>
              <p:cNvPr id="41" name="사각형: 둥근 모서리 40">
                <a:extLst>
                  <a:ext uri="{FF2B5EF4-FFF2-40B4-BE49-F238E27FC236}">
                    <a16:creationId xmlns:a16="http://schemas.microsoft.com/office/drawing/2014/main" id="{EAEB4A04-73FC-7A93-9BF6-681A8D1D2E9A}"/>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TextBox 41">
                <a:extLst>
                  <a:ext uri="{FF2B5EF4-FFF2-40B4-BE49-F238E27FC236}">
                    <a16:creationId xmlns:a16="http://schemas.microsoft.com/office/drawing/2014/main" id="{179FBBB5-786C-34C6-E4BF-C7F43B9181A8}"/>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5" name="그룹 4">
              <a:extLst>
                <a:ext uri="{FF2B5EF4-FFF2-40B4-BE49-F238E27FC236}">
                  <a16:creationId xmlns:a16="http://schemas.microsoft.com/office/drawing/2014/main" id="{D2B2D238-AEF5-ACC4-100A-6F705F7852CD}"/>
                </a:ext>
              </a:extLst>
            </p:cNvPr>
            <p:cNvGrpSpPr/>
            <p:nvPr/>
          </p:nvGrpSpPr>
          <p:grpSpPr>
            <a:xfrm>
              <a:off x="1120930" y="4566963"/>
              <a:ext cx="423468" cy="360000"/>
              <a:chOff x="1112362" y="4534057"/>
              <a:chExt cx="423468" cy="360000"/>
            </a:xfrm>
          </p:grpSpPr>
          <p:sp>
            <p:nvSpPr>
              <p:cNvPr id="39" name="타원 38">
                <a:extLst>
                  <a:ext uri="{FF2B5EF4-FFF2-40B4-BE49-F238E27FC236}">
                    <a16:creationId xmlns:a16="http://schemas.microsoft.com/office/drawing/2014/main" id="{7AA7A752-E3C2-7ED8-9148-94C2BD7A0910}"/>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TextBox 39">
                <a:extLst>
                  <a:ext uri="{FF2B5EF4-FFF2-40B4-BE49-F238E27FC236}">
                    <a16:creationId xmlns:a16="http://schemas.microsoft.com/office/drawing/2014/main" id="{56883A93-1CE9-7C11-119E-3FBF1CF12B21}"/>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7" name="그룹 6">
              <a:extLst>
                <a:ext uri="{FF2B5EF4-FFF2-40B4-BE49-F238E27FC236}">
                  <a16:creationId xmlns:a16="http://schemas.microsoft.com/office/drawing/2014/main" id="{DB711155-A1EF-F7A5-F113-C657CBAF9FCF}"/>
                </a:ext>
              </a:extLst>
            </p:cNvPr>
            <p:cNvGrpSpPr/>
            <p:nvPr/>
          </p:nvGrpSpPr>
          <p:grpSpPr>
            <a:xfrm>
              <a:off x="1143813" y="3152605"/>
              <a:ext cx="423468" cy="360000"/>
              <a:chOff x="1112362" y="4534057"/>
              <a:chExt cx="423468" cy="360000"/>
            </a:xfrm>
          </p:grpSpPr>
          <p:sp>
            <p:nvSpPr>
              <p:cNvPr id="35" name="타원 34">
                <a:extLst>
                  <a:ext uri="{FF2B5EF4-FFF2-40B4-BE49-F238E27FC236}">
                    <a16:creationId xmlns:a16="http://schemas.microsoft.com/office/drawing/2014/main" id="{9DE97E6F-DEEE-05D4-F47A-5451D551B080}"/>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TextBox 37">
                <a:extLst>
                  <a:ext uri="{FF2B5EF4-FFF2-40B4-BE49-F238E27FC236}">
                    <a16:creationId xmlns:a16="http://schemas.microsoft.com/office/drawing/2014/main" id="{31FD4ACE-F0F7-3461-9074-B833C627AABF}"/>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8" name="화살표: 오른쪽 7">
              <a:extLst>
                <a:ext uri="{FF2B5EF4-FFF2-40B4-BE49-F238E27FC236}">
                  <a16:creationId xmlns:a16="http://schemas.microsoft.com/office/drawing/2014/main" id="{E2F42FA6-01A7-CBB5-18AD-8FEE66C663E2}"/>
                </a:ext>
              </a:extLst>
            </p:cNvPr>
            <p:cNvSpPr/>
            <p:nvPr/>
          </p:nvSpPr>
          <p:spPr>
            <a:xfrm rot="16200000">
              <a:off x="1197370" y="4383676"/>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화살표: 오른쪽 8">
              <a:extLst>
                <a:ext uri="{FF2B5EF4-FFF2-40B4-BE49-F238E27FC236}">
                  <a16:creationId xmlns:a16="http://schemas.microsoft.com/office/drawing/2014/main" id="{5346F267-A488-0A25-3781-81B2481F8ED7}"/>
                </a:ext>
              </a:extLst>
            </p:cNvPr>
            <p:cNvSpPr/>
            <p:nvPr/>
          </p:nvSpPr>
          <p:spPr>
            <a:xfrm rot="16200000">
              <a:off x="1197370" y="3570853"/>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화살표: 오른쪽 10">
              <a:extLst>
                <a:ext uri="{FF2B5EF4-FFF2-40B4-BE49-F238E27FC236}">
                  <a16:creationId xmlns:a16="http://schemas.microsoft.com/office/drawing/2014/main" id="{F8AA0BCA-855C-C8A7-C23A-72B06E2CDAF0}"/>
                </a:ext>
              </a:extLst>
            </p:cNvPr>
            <p:cNvSpPr/>
            <p:nvPr/>
          </p:nvSpPr>
          <p:spPr>
            <a:xfrm>
              <a:off x="2501114" y="3950176"/>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 name="그룹 11">
              <a:extLst>
                <a:ext uri="{FF2B5EF4-FFF2-40B4-BE49-F238E27FC236}">
                  <a16:creationId xmlns:a16="http://schemas.microsoft.com/office/drawing/2014/main" id="{3DA2B718-1312-BB59-CFEB-992AB03FD1C9}"/>
                </a:ext>
              </a:extLst>
            </p:cNvPr>
            <p:cNvGrpSpPr/>
            <p:nvPr/>
          </p:nvGrpSpPr>
          <p:grpSpPr>
            <a:xfrm>
              <a:off x="1878796" y="3749913"/>
              <a:ext cx="607582" cy="582171"/>
              <a:chOff x="2352577" y="2695993"/>
              <a:chExt cx="1946046" cy="1511439"/>
            </a:xfrm>
          </p:grpSpPr>
          <p:sp>
            <p:nvSpPr>
              <p:cNvPr id="33" name="사각형: 둥근 모서리 32">
                <a:extLst>
                  <a:ext uri="{FF2B5EF4-FFF2-40B4-BE49-F238E27FC236}">
                    <a16:creationId xmlns:a16="http://schemas.microsoft.com/office/drawing/2014/main" id="{5517B732-455A-B1EB-7E5A-25483946DE3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TextBox 33">
                <a:extLst>
                  <a:ext uri="{FF2B5EF4-FFF2-40B4-BE49-F238E27FC236}">
                    <a16:creationId xmlns:a16="http://schemas.microsoft.com/office/drawing/2014/main" id="{7C1EE702-3160-22B1-3249-535EFEB0F4BF}"/>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3" name="그룹 12">
              <a:extLst>
                <a:ext uri="{FF2B5EF4-FFF2-40B4-BE49-F238E27FC236}">
                  <a16:creationId xmlns:a16="http://schemas.microsoft.com/office/drawing/2014/main" id="{4115523F-B0A4-DD73-66DE-21B06E4C3761}"/>
                </a:ext>
              </a:extLst>
            </p:cNvPr>
            <p:cNvGrpSpPr/>
            <p:nvPr/>
          </p:nvGrpSpPr>
          <p:grpSpPr>
            <a:xfrm>
              <a:off x="1989876" y="4564026"/>
              <a:ext cx="423468" cy="360000"/>
              <a:chOff x="1112362" y="4534057"/>
              <a:chExt cx="423468" cy="360000"/>
            </a:xfrm>
          </p:grpSpPr>
          <p:sp>
            <p:nvSpPr>
              <p:cNvPr id="31" name="타원 30">
                <a:extLst>
                  <a:ext uri="{FF2B5EF4-FFF2-40B4-BE49-F238E27FC236}">
                    <a16:creationId xmlns:a16="http://schemas.microsoft.com/office/drawing/2014/main" id="{E308C7C1-3C86-9EF8-AAE3-F44A665CB5BC}"/>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TextBox 31">
                <a:extLst>
                  <a:ext uri="{FF2B5EF4-FFF2-40B4-BE49-F238E27FC236}">
                    <a16:creationId xmlns:a16="http://schemas.microsoft.com/office/drawing/2014/main" id="{4FBF377C-2253-C648-7F4F-8A2B8AD86206}"/>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grpSp>
          <p:nvGrpSpPr>
            <p:cNvPr id="14" name="그룹 13">
              <a:extLst>
                <a:ext uri="{FF2B5EF4-FFF2-40B4-BE49-F238E27FC236}">
                  <a16:creationId xmlns:a16="http://schemas.microsoft.com/office/drawing/2014/main" id="{50927134-14B3-DBFD-7B7C-48F4F13E34ED}"/>
                </a:ext>
              </a:extLst>
            </p:cNvPr>
            <p:cNvGrpSpPr/>
            <p:nvPr/>
          </p:nvGrpSpPr>
          <p:grpSpPr>
            <a:xfrm>
              <a:off x="2012759" y="3149668"/>
              <a:ext cx="423468" cy="360000"/>
              <a:chOff x="1112362" y="4534057"/>
              <a:chExt cx="423468" cy="360000"/>
            </a:xfrm>
          </p:grpSpPr>
          <p:sp>
            <p:nvSpPr>
              <p:cNvPr id="29" name="타원 28">
                <a:extLst>
                  <a:ext uri="{FF2B5EF4-FFF2-40B4-BE49-F238E27FC236}">
                    <a16:creationId xmlns:a16="http://schemas.microsoft.com/office/drawing/2014/main" id="{297DDCE7-B8C8-128A-C4A1-7E747C9F3B88}"/>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TextBox 29">
                <a:extLst>
                  <a:ext uri="{FF2B5EF4-FFF2-40B4-BE49-F238E27FC236}">
                    <a16:creationId xmlns:a16="http://schemas.microsoft.com/office/drawing/2014/main" id="{66CE1317-CCF9-4852-B6D6-E3DFCC8B71BD}"/>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h</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15" name="화살표: 오른쪽 14">
              <a:extLst>
                <a:ext uri="{FF2B5EF4-FFF2-40B4-BE49-F238E27FC236}">
                  <a16:creationId xmlns:a16="http://schemas.microsoft.com/office/drawing/2014/main" id="{7DC85899-48B1-903D-59F6-1BC240223906}"/>
                </a:ext>
              </a:extLst>
            </p:cNvPr>
            <p:cNvSpPr/>
            <p:nvPr/>
          </p:nvSpPr>
          <p:spPr>
            <a:xfrm rot="16200000">
              <a:off x="2066316" y="4380739"/>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화살표: 오른쪽 15">
              <a:extLst>
                <a:ext uri="{FF2B5EF4-FFF2-40B4-BE49-F238E27FC236}">
                  <a16:creationId xmlns:a16="http://schemas.microsoft.com/office/drawing/2014/main" id="{C68F734C-D20B-7160-6E10-7CA25E906658}"/>
                </a:ext>
              </a:extLst>
            </p:cNvPr>
            <p:cNvSpPr/>
            <p:nvPr/>
          </p:nvSpPr>
          <p:spPr>
            <a:xfrm rot="16200000">
              <a:off x="2066316" y="3567916"/>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화살표: 오른쪽 16">
              <a:extLst>
                <a:ext uri="{FF2B5EF4-FFF2-40B4-BE49-F238E27FC236}">
                  <a16:creationId xmlns:a16="http://schemas.microsoft.com/office/drawing/2014/main" id="{9587A2D3-7B43-5491-D21F-B402E78392BD}"/>
                </a:ext>
              </a:extLst>
            </p:cNvPr>
            <p:cNvSpPr/>
            <p:nvPr/>
          </p:nvSpPr>
          <p:spPr>
            <a:xfrm>
              <a:off x="3376052" y="395065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 name="그룹 17">
              <a:extLst>
                <a:ext uri="{FF2B5EF4-FFF2-40B4-BE49-F238E27FC236}">
                  <a16:creationId xmlns:a16="http://schemas.microsoft.com/office/drawing/2014/main" id="{84BA623B-C701-EE3D-99A8-05A0EBD831CA}"/>
                </a:ext>
              </a:extLst>
            </p:cNvPr>
            <p:cNvGrpSpPr/>
            <p:nvPr/>
          </p:nvGrpSpPr>
          <p:grpSpPr>
            <a:xfrm>
              <a:off x="2753734" y="3750389"/>
              <a:ext cx="607582" cy="582171"/>
              <a:chOff x="2352577" y="2695993"/>
              <a:chExt cx="1946046" cy="1511439"/>
            </a:xfrm>
          </p:grpSpPr>
          <p:sp>
            <p:nvSpPr>
              <p:cNvPr id="27" name="사각형: 둥근 모서리 26">
                <a:extLst>
                  <a:ext uri="{FF2B5EF4-FFF2-40B4-BE49-F238E27FC236}">
                    <a16:creationId xmlns:a16="http://schemas.microsoft.com/office/drawing/2014/main" id="{D7A1EEFE-2761-6E26-2B1B-506B5A2868A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TextBox 27">
                <a:extLst>
                  <a:ext uri="{FF2B5EF4-FFF2-40B4-BE49-F238E27FC236}">
                    <a16:creationId xmlns:a16="http://schemas.microsoft.com/office/drawing/2014/main" id="{7F194AD3-C60A-99E0-8E94-E0E6D1AD21B5}"/>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9" name="그룹 18">
              <a:extLst>
                <a:ext uri="{FF2B5EF4-FFF2-40B4-BE49-F238E27FC236}">
                  <a16:creationId xmlns:a16="http://schemas.microsoft.com/office/drawing/2014/main" id="{FEDB7638-3FF4-9191-8F07-45F4D078AF28}"/>
                </a:ext>
              </a:extLst>
            </p:cNvPr>
            <p:cNvGrpSpPr/>
            <p:nvPr/>
          </p:nvGrpSpPr>
          <p:grpSpPr>
            <a:xfrm>
              <a:off x="2864814" y="4564502"/>
              <a:ext cx="423468" cy="360000"/>
              <a:chOff x="1112362" y="4534057"/>
              <a:chExt cx="423468" cy="360000"/>
            </a:xfrm>
          </p:grpSpPr>
          <p:sp>
            <p:nvSpPr>
              <p:cNvPr id="25" name="타원 24">
                <a:extLst>
                  <a:ext uri="{FF2B5EF4-FFF2-40B4-BE49-F238E27FC236}">
                    <a16:creationId xmlns:a16="http://schemas.microsoft.com/office/drawing/2014/main" id="{011BFDAC-E453-D223-6BDD-192395BF75C5}"/>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TextBox 25">
                <a:extLst>
                  <a:ext uri="{FF2B5EF4-FFF2-40B4-BE49-F238E27FC236}">
                    <a16:creationId xmlns:a16="http://schemas.microsoft.com/office/drawing/2014/main" id="{14B71DB4-17DD-3739-D592-F13407590905}"/>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20" name="그룹 19">
              <a:extLst>
                <a:ext uri="{FF2B5EF4-FFF2-40B4-BE49-F238E27FC236}">
                  <a16:creationId xmlns:a16="http://schemas.microsoft.com/office/drawing/2014/main" id="{38A9A37C-BD94-2518-B676-C08FD25FEB96}"/>
                </a:ext>
              </a:extLst>
            </p:cNvPr>
            <p:cNvGrpSpPr/>
            <p:nvPr/>
          </p:nvGrpSpPr>
          <p:grpSpPr>
            <a:xfrm>
              <a:off x="2887697" y="3150144"/>
              <a:ext cx="423468" cy="360000"/>
              <a:chOff x="1112362" y="4534057"/>
              <a:chExt cx="423468" cy="360000"/>
            </a:xfrm>
          </p:grpSpPr>
          <p:sp>
            <p:nvSpPr>
              <p:cNvPr id="23" name="타원 22">
                <a:extLst>
                  <a:ext uri="{FF2B5EF4-FFF2-40B4-BE49-F238E27FC236}">
                    <a16:creationId xmlns:a16="http://schemas.microsoft.com/office/drawing/2014/main" id="{56F616C2-48E3-E1FC-94C5-94E36CE896D2}"/>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C6AD2C76-2D14-BFE9-625E-8B65CA0E9990}"/>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21" name="화살표: 오른쪽 20">
              <a:extLst>
                <a:ext uri="{FF2B5EF4-FFF2-40B4-BE49-F238E27FC236}">
                  <a16:creationId xmlns:a16="http://schemas.microsoft.com/office/drawing/2014/main" id="{EFA27291-D987-CA27-37F0-C352A601FC71}"/>
                </a:ext>
              </a:extLst>
            </p:cNvPr>
            <p:cNvSpPr/>
            <p:nvPr/>
          </p:nvSpPr>
          <p:spPr>
            <a:xfrm rot="16200000">
              <a:off x="2941254" y="4381215"/>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화살표: 오른쪽 21">
              <a:extLst>
                <a:ext uri="{FF2B5EF4-FFF2-40B4-BE49-F238E27FC236}">
                  <a16:creationId xmlns:a16="http://schemas.microsoft.com/office/drawing/2014/main" id="{53DB64B2-46B5-367A-7730-95A89DDBF2BD}"/>
                </a:ext>
              </a:extLst>
            </p:cNvPr>
            <p:cNvSpPr/>
            <p:nvPr/>
          </p:nvSpPr>
          <p:spPr>
            <a:xfrm rot="16200000">
              <a:off x="2941254" y="3568392"/>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46" name="TextBox 45">
            <a:extLst>
              <a:ext uri="{FF2B5EF4-FFF2-40B4-BE49-F238E27FC236}">
                <a16:creationId xmlns:a16="http://schemas.microsoft.com/office/drawing/2014/main" id="{27416BB6-8C1D-D8EB-5D8B-294D40731905}"/>
              </a:ext>
            </a:extLst>
          </p:cNvPr>
          <p:cNvSpPr txBox="1"/>
          <p:nvPr/>
        </p:nvSpPr>
        <p:spPr>
          <a:xfrm>
            <a:off x="1109651" y="4824883"/>
            <a:ext cx="2331054" cy="338554"/>
          </a:xfrm>
          <a:prstGeom prst="rect">
            <a:avLst/>
          </a:prstGeom>
          <a:noFill/>
        </p:spPr>
        <p:txBody>
          <a:bodyPr wrap="square">
            <a:spAutoFit/>
          </a:bodyPr>
          <a:lstStyle/>
          <a:p>
            <a:pPr algn="ctr"/>
            <a:r>
              <a:rPr lang="en-US" altLang="ko-KR" sz="1600" dirty="0" err="1">
                <a:solidFill>
                  <a:srgbClr val="222222"/>
                </a:solidFill>
                <a:latin typeface="Arial Narrow" panose="020B0606020202030204" pitchFamily="34" charset="0"/>
              </a:rPr>
              <a:t>return_sequences</a:t>
            </a:r>
            <a:r>
              <a:rPr lang="en-US" altLang="ko-KR" sz="1600" dirty="0">
                <a:solidFill>
                  <a:srgbClr val="222222"/>
                </a:solidFill>
                <a:latin typeface="Arial Narrow" panose="020B0606020202030204" pitchFamily="34" charset="0"/>
              </a:rPr>
              <a:t> = True</a:t>
            </a:r>
            <a:endParaRPr lang="ko-KR" altLang="en-US" sz="1600" dirty="0"/>
          </a:p>
        </p:txBody>
      </p:sp>
      <p:grpSp>
        <p:nvGrpSpPr>
          <p:cNvPr id="47" name="그룹 46">
            <a:extLst>
              <a:ext uri="{FF2B5EF4-FFF2-40B4-BE49-F238E27FC236}">
                <a16:creationId xmlns:a16="http://schemas.microsoft.com/office/drawing/2014/main" id="{EC60B169-4DB3-5683-4752-3BEDBA4EEDC0}"/>
              </a:ext>
            </a:extLst>
          </p:cNvPr>
          <p:cNvGrpSpPr/>
          <p:nvPr/>
        </p:nvGrpSpPr>
        <p:grpSpPr>
          <a:xfrm>
            <a:off x="4738238" y="2889340"/>
            <a:ext cx="2613785" cy="1776819"/>
            <a:chOff x="1009850" y="3150144"/>
            <a:chExt cx="2613785" cy="1776819"/>
          </a:xfrm>
        </p:grpSpPr>
        <p:sp>
          <p:nvSpPr>
            <p:cNvPr id="48" name="화살표: 오른쪽 47">
              <a:extLst>
                <a:ext uri="{FF2B5EF4-FFF2-40B4-BE49-F238E27FC236}">
                  <a16:creationId xmlns:a16="http://schemas.microsoft.com/office/drawing/2014/main" id="{31BE1AB2-FADE-FB7A-6BC7-71E7A178D69F}"/>
                </a:ext>
              </a:extLst>
            </p:cNvPr>
            <p:cNvSpPr/>
            <p:nvPr/>
          </p:nvSpPr>
          <p:spPr>
            <a:xfrm>
              <a:off x="1632168" y="3953113"/>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49" name="그룹 48">
              <a:extLst>
                <a:ext uri="{FF2B5EF4-FFF2-40B4-BE49-F238E27FC236}">
                  <a16:creationId xmlns:a16="http://schemas.microsoft.com/office/drawing/2014/main" id="{DD40EC91-3FC0-A17F-E969-CA8FD4F8DC04}"/>
                </a:ext>
              </a:extLst>
            </p:cNvPr>
            <p:cNvGrpSpPr/>
            <p:nvPr/>
          </p:nvGrpSpPr>
          <p:grpSpPr>
            <a:xfrm>
              <a:off x="1009850" y="3752850"/>
              <a:ext cx="607582" cy="582171"/>
              <a:chOff x="2352577" y="2695993"/>
              <a:chExt cx="1946046" cy="1511439"/>
            </a:xfrm>
          </p:grpSpPr>
          <p:sp>
            <p:nvSpPr>
              <p:cNvPr id="5139" name="사각형: 둥근 모서리 5138">
                <a:extLst>
                  <a:ext uri="{FF2B5EF4-FFF2-40B4-BE49-F238E27FC236}">
                    <a16:creationId xmlns:a16="http://schemas.microsoft.com/office/drawing/2014/main" id="{9A6758BB-B142-0983-CB7F-061371609B3B}"/>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40" name="TextBox 5139">
                <a:extLst>
                  <a:ext uri="{FF2B5EF4-FFF2-40B4-BE49-F238E27FC236}">
                    <a16:creationId xmlns:a16="http://schemas.microsoft.com/office/drawing/2014/main" id="{D1AD64A1-5A5E-7370-949D-C864F86F660E}"/>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50" name="그룹 49">
              <a:extLst>
                <a:ext uri="{FF2B5EF4-FFF2-40B4-BE49-F238E27FC236}">
                  <a16:creationId xmlns:a16="http://schemas.microsoft.com/office/drawing/2014/main" id="{232C12F8-2AB1-9D59-FA2D-2B6F344EDF64}"/>
                </a:ext>
              </a:extLst>
            </p:cNvPr>
            <p:cNvGrpSpPr/>
            <p:nvPr/>
          </p:nvGrpSpPr>
          <p:grpSpPr>
            <a:xfrm>
              <a:off x="1120930" y="4566963"/>
              <a:ext cx="423468" cy="360000"/>
              <a:chOff x="1112362" y="4534057"/>
              <a:chExt cx="423468" cy="360000"/>
            </a:xfrm>
          </p:grpSpPr>
          <p:sp>
            <p:nvSpPr>
              <p:cNvPr id="5137" name="타원 5136">
                <a:extLst>
                  <a:ext uri="{FF2B5EF4-FFF2-40B4-BE49-F238E27FC236}">
                    <a16:creationId xmlns:a16="http://schemas.microsoft.com/office/drawing/2014/main" id="{D5493FE6-2C25-5ACE-F814-FA20E22FE65D}"/>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38" name="TextBox 5137">
                <a:extLst>
                  <a:ext uri="{FF2B5EF4-FFF2-40B4-BE49-F238E27FC236}">
                    <a16:creationId xmlns:a16="http://schemas.microsoft.com/office/drawing/2014/main" id="{90B6F4EF-19C9-F7AA-BEF2-23489B7222D0}"/>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52" name="화살표: 오른쪽 51">
              <a:extLst>
                <a:ext uri="{FF2B5EF4-FFF2-40B4-BE49-F238E27FC236}">
                  <a16:creationId xmlns:a16="http://schemas.microsoft.com/office/drawing/2014/main" id="{DF7CF5F0-51F1-ED8D-2463-106B0B8A5FF8}"/>
                </a:ext>
              </a:extLst>
            </p:cNvPr>
            <p:cNvSpPr/>
            <p:nvPr/>
          </p:nvSpPr>
          <p:spPr>
            <a:xfrm rot="16200000">
              <a:off x="1197370" y="4383676"/>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화살표: 오른쪽 53">
              <a:extLst>
                <a:ext uri="{FF2B5EF4-FFF2-40B4-BE49-F238E27FC236}">
                  <a16:creationId xmlns:a16="http://schemas.microsoft.com/office/drawing/2014/main" id="{C7C096DC-43D6-C0DD-879E-744BDF1BBCB0}"/>
                </a:ext>
              </a:extLst>
            </p:cNvPr>
            <p:cNvSpPr/>
            <p:nvPr/>
          </p:nvSpPr>
          <p:spPr>
            <a:xfrm>
              <a:off x="2501114" y="3950176"/>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55" name="그룹 54">
              <a:extLst>
                <a:ext uri="{FF2B5EF4-FFF2-40B4-BE49-F238E27FC236}">
                  <a16:creationId xmlns:a16="http://schemas.microsoft.com/office/drawing/2014/main" id="{D32F9650-41D4-4B5F-0E54-D6E6123C2F70}"/>
                </a:ext>
              </a:extLst>
            </p:cNvPr>
            <p:cNvGrpSpPr/>
            <p:nvPr/>
          </p:nvGrpSpPr>
          <p:grpSpPr>
            <a:xfrm>
              <a:off x="1878796" y="3749913"/>
              <a:ext cx="607582" cy="582171"/>
              <a:chOff x="2352577" y="2695993"/>
              <a:chExt cx="1946046" cy="1511439"/>
            </a:xfrm>
          </p:grpSpPr>
          <p:sp>
            <p:nvSpPr>
              <p:cNvPr id="5133" name="사각형: 둥근 모서리 5132">
                <a:extLst>
                  <a:ext uri="{FF2B5EF4-FFF2-40B4-BE49-F238E27FC236}">
                    <a16:creationId xmlns:a16="http://schemas.microsoft.com/office/drawing/2014/main" id="{CBB4200B-BB08-570A-4F28-3BD683F3D0F1}"/>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34" name="TextBox 5133">
                <a:extLst>
                  <a:ext uri="{FF2B5EF4-FFF2-40B4-BE49-F238E27FC236}">
                    <a16:creationId xmlns:a16="http://schemas.microsoft.com/office/drawing/2014/main" id="{D2D90CA1-5D75-D637-04A7-69ED1304E87C}"/>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56" name="그룹 55">
              <a:extLst>
                <a:ext uri="{FF2B5EF4-FFF2-40B4-BE49-F238E27FC236}">
                  <a16:creationId xmlns:a16="http://schemas.microsoft.com/office/drawing/2014/main" id="{7465DD11-E83E-F6E3-43DA-7448F9379B69}"/>
                </a:ext>
              </a:extLst>
            </p:cNvPr>
            <p:cNvGrpSpPr/>
            <p:nvPr/>
          </p:nvGrpSpPr>
          <p:grpSpPr>
            <a:xfrm>
              <a:off x="1989876" y="4564026"/>
              <a:ext cx="423468" cy="360000"/>
              <a:chOff x="1112362" y="4534057"/>
              <a:chExt cx="423468" cy="360000"/>
            </a:xfrm>
          </p:grpSpPr>
          <p:sp>
            <p:nvSpPr>
              <p:cNvPr id="5131" name="타원 5130">
                <a:extLst>
                  <a:ext uri="{FF2B5EF4-FFF2-40B4-BE49-F238E27FC236}">
                    <a16:creationId xmlns:a16="http://schemas.microsoft.com/office/drawing/2014/main" id="{70BFCB72-7091-6C67-0EEE-8FC92FEE277B}"/>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32" name="TextBox 5131">
                <a:extLst>
                  <a:ext uri="{FF2B5EF4-FFF2-40B4-BE49-F238E27FC236}">
                    <a16:creationId xmlns:a16="http://schemas.microsoft.com/office/drawing/2014/main" id="{0341AFA0-2651-ABB5-2FB9-F2D6F37A59C4}"/>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58" name="화살표: 오른쪽 57">
              <a:extLst>
                <a:ext uri="{FF2B5EF4-FFF2-40B4-BE49-F238E27FC236}">
                  <a16:creationId xmlns:a16="http://schemas.microsoft.com/office/drawing/2014/main" id="{A3FC9439-F1B4-9400-8DF8-1C59018D3AA7}"/>
                </a:ext>
              </a:extLst>
            </p:cNvPr>
            <p:cNvSpPr/>
            <p:nvPr/>
          </p:nvSpPr>
          <p:spPr>
            <a:xfrm rot="16200000">
              <a:off x="2066316" y="4380739"/>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0" name="화살표: 오른쪽 59">
              <a:extLst>
                <a:ext uri="{FF2B5EF4-FFF2-40B4-BE49-F238E27FC236}">
                  <a16:creationId xmlns:a16="http://schemas.microsoft.com/office/drawing/2014/main" id="{1A98D2D4-27D7-0A30-E7C3-79312EA36F37}"/>
                </a:ext>
              </a:extLst>
            </p:cNvPr>
            <p:cNvSpPr/>
            <p:nvPr/>
          </p:nvSpPr>
          <p:spPr>
            <a:xfrm>
              <a:off x="3376052" y="395065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1" name="그룹 60">
              <a:extLst>
                <a:ext uri="{FF2B5EF4-FFF2-40B4-BE49-F238E27FC236}">
                  <a16:creationId xmlns:a16="http://schemas.microsoft.com/office/drawing/2014/main" id="{90BFE10E-08EA-7E1B-F7AF-557B8CBA3B86}"/>
                </a:ext>
              </a:extLst>
            </p:cNvPr>
            <p:cNvGrpSpPr/>
            <p:nvPr/>
          </p:nvGrpSpPr>
          <p:grpSpPr>
            <a:xfrm>
              <a:off x="2753734" y="3750389"/>
              <a:ext cx="607582" cy="582171"/>
              <a:chOff x="2352577" y="2695993"/>
              <a:chExt cx="1946046" cy="1511439"/>
            </a:xfrm>
          </p:grpSpPr>
          <p:sp>
            <p:nvSpPr>
              <p:cNvPr id="5127" name="사각형: 둥근 모서리 5126">
                <a:extLst>
                  <a:ext uri="{FF2B5EF4-FFF2-40B4-BE49-F238E27FC236}">
                    <a16:creationId xmlns:a16="http://schemas.microsoft.com/office/drawing/2014/main" id="{F0BBB5D3-6CC0-0A6D-6E26-F072C40669D0}"/>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28" name="TextBox 5127">
                <a:extLst>
                  <a:ext uri="{FF2B5EF4-FFF2-40B4-BE49-F238E27FC236}">
                    <a16:creationId xmlns:a16="http://schemas.microsoft.com/office/drawing/2014/main" id="{B4BB3943-9121-655E-1036-1C4F22DBC645}"/>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62" name="그룹 61">
              <a:extLst>
                <a:ext uri="{FF2B5EF4-FFF2-40B4-BE49-F238E27FC236}">
                  <a16:creationId xmlns:a16="http://schemas.microsoft.com/office/drawing/2014/main" id="{33C1CE71-00D0-ECAC-7E7E-9056E31764AA}"/>
                </a:ext>
              </a:extLst>
            </p:cNvPr>
            <p:cNvGrpSpPr/>
            <p:nvPr/>
          </p:nvGrpSpPr>
          <p:grpSpPr>
            <a:xfrm>
              <a:off x="2864814" y="4564502"/>
              <a:ext cx="423468" cy="360000"/>
              <a:chOff x="1112362" y="4534057"/>
              <a:chExt cx="423468" cy="360000"/>
            </a:xfrm>
          </p:grpSpPr>
          <p:sp>
            <p:nvSpPr>
              <p:cNvPr id="5125" name="타원 5124">
                <a:extLst>
                  <a:ext uri="{FF2B5EF4-FFF2-40B4-BE49-F238E27FC236}">
                    <a16:creationId xmlns:a16="http://schemas.microsoft.com/office/drawing/2014/main" id="{FEF8ED32-20C9-A07F-60A2-08EA732AE49E}"/>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26" name="TextBox 5125">
                <a:extLst>
                  <a:ext uri="{FF2B5EF4-FFF2-40B4-BE49-F238E27FC236}">
                    <a16:creationId xmlns:a16="http://schemas.microsoft.com/office/drawing/2014/main" id="{F40E9E1E-B61E-5872-1AAA-2ACEB4322E70}"/>
                  </a:ext>
                </a:extLst>
              </p:cNvPr>
              <p:cNvSpPr txBox="1"/>
              <p:nvPr/>
            </p:nvSpPr>
            <p:spPr>
              <a:xfrm>
                <a:off x="111236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63" name="그룹 62">
              <a:extLst>
                <a:ext uri="{FF2B5EF4-FFF2-40B4-BE49-F238E27FC236}">
                  <a16:creationId xmlns:a16="http://schemas.microsoft.com/office/drawing/2014/main" id="{7F0B5A12-E667-07DD-C369-895530A95648}"/>
                </a:ext>
              </a:extLst>
            </p:cNvPr>
            <p:cNvGrpSpPr/>
            <p:nvPr/>
          </p:nvGrpSpPr>
          <p:grpSpPr>
            <a:xfrm>
              <a:off x="2859122" y="3150144"/>
              <a:ext cx="423468" cy="360000"/>
              <a:chOff x="1083787" y="4534057"/>
              <a:chExt cx="423468" cy="360000"/>
            </a:xfrm>
          </p:grpSpPr>
          <p:sp>
            <p:nvSpPr>
              <p:cNvPr id="5123" name="타원 5122">
                <a:extLst>
                  <a:ext uri="{FF2B5EF4-FFF2-40B4-BE49-F238E27FC236}">
                    <a16:creationId xmlns:a16="http://schemas.microsoft.com/office/drawing/2014/main" id="{D4412BA8-1328-DB43-AA36-651C2E30BDBF}"/>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24" name="TextBox 5123">
                <a:extLst>
                  <a:ext uri="{FF2B5EF4-FFF2-40B4-BE49-F238E27FC236}">
                    <a16:creationId xmlns:a16="http://schemas.microsoft.com/office/drawing/2014/main" id="{3386ACDA-DD59-5479-187A-F621E2BC79EF}"/>
                  </a:ext>
                </a:extLst>
              </p:cNvPr>
              <p:cNvSpPr txBox="1"/>
              <p:nvPr/>
            </p:nvSpPr>
            <p:spPr>
              <a:xfrm>
                <a:off x="1083787"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sp>
          <p:nvSpPr>
            <p:cNvPr id="5120" name="화살표: 오른쪽 5119">
              <a:extLst>
                <a:ext uri="{FF2B5EF4-FFF2-40B4-BE49-F238E27FC236}">
                  <a16:creationId xmlns:a16="http://schemas.microsoft.com/office/drawing/2014/main" id="{A5F2FA20-C9C6-A2FE-76D4-2FCA4D950F9C}"/>
                </a:ext>
              </a:extLst>
            </p:cNvPr>
            <p:cNvSpPr/>
            <p:nvPr/>
          </p:nvSpPr>
          <p:spPr>
            <a:xfrm rot="16200000">
              <a:off x="2941254" y="4381215"/>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21" name="화살표: 오른쪽 5120">
              <a:extLst>
                <a:ext uri="{FF2B5EF4-FFF2-40B4-BE49-F238E27FC236}">
                  <a16:creationId xmlns:a16="http://schemas.microsoft.com/office/drawing/2014/main" id="{6BC59311-A108-A185-86E2-5EB1B8F5DC9B}"/>
                </a:ext>
              </a:extLst>
            </p:cNvPr>
            <p:cNvSpPr/>
            <p:nvPr/>
          </p:nvSpPr>
          <p:spPr>
            <a:xfrm rot="16200000">
              <a:off x="2941254" y="3568392"/>
              <a:ext cx="229362" cy="132052"/>
            </a:xfrm>
            <a:prstGeom prst="rightArrow">
              <a:avLst/>
            </a:prstGeom>
            <a:solidFill>
              <a:schemeClr val="bg2"/>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5141" name="TextBox 5140">
            <a:extLst>
              <a:ext uri="{FF2B5EF4-FFF2-40B4-BE49-F238E27FC236}">
                <a16:creationId xmlns:a16="http://schemas.microsoft.com/office/drawing/2014/main" id="{C388C75C-A36A-4D47-DF89-42FCB5267BBA}"/>
              </a:ext>
            </a:extLst>
          </p:cNvPr>
          <p:cNvSpPr txBox="1"/>
          <p:nvPr/>
        </p:nvSpPr>
        <p:spPr>
          <a:xfrm>
            <a:off x="4708499" y="4821946"/>
            <a:ext cx="2331054" cy="338554"/>
          </a:xfrm>
          <a:prstGeom prst="rect">
            <a:avLst/>
          </a:prstGeom>
          <a:noFill/>
        </p:spPr>
        <p:txBody>
          <a:bodyPr wrap="square">
            <a:spAutoFit/>
          </a:bodyPr>
          <a:lstStyle/>
          <a:p>
            <a:pPr algn="ctr"/>
            <a:r>
              <a:rPr lang="en-US" altLang="ko-KR" sz="1600" dirty="0" err="1">
                <a:solidFill>
                  <a:srgbClr val="222222"/>
                </a:solidFill>
                <a:latin typeface="Arial Narrow" panose="020B0606020202030204" pitchFamily="34" charset="0"/>
              </a:rPr>
              <a:t>return_sequences</a:t>
            </a:r>
            <a:r>
              <a:rPr lang="en-US" altLang="ko-KR" sz="1600" dirty="0">
                <a:solidFill>
                  <a:srgbClr val="222222"/>
                </a:solidFill>
                <a:latin typeface="Arial Narrow" panose="020B0606020202030204" pitchFamily="34" charset="0"/>
              </a:rPr>
              <a:t> = False</a:t>
            </a:r>
            <a:endParaRPr lang="ko-KR" altLang="en-US" sz="1600" dirty="0"/>
          </a:p>
        </p:txBody>
      </p:sp>
      <p:sp>
        <p:nvSpPr>
          <p:cNvPr id="43" name="직사각형 42">
            <a:extLst>
              <a:ext uri="{FF2B5EF4-FFF2-40B4-BE49-F238E27FC236}">
                <a16:creationId xmlns:a16="http://schemas.microsoft.com/office/drawing/2014/main" id="{9A0E2A17-7D22-57F0-AFB2-A6F68177530D}"/>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5818783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For LSTM or RNN implementation</a:t>
            </a:r>
          </a:p>
          <a:p>
            <a:pPr marL="741600" lvl="1" indent="-284400">
              <a:lnSpc>
                <a:spcPct val="150000"/>
              </a:lnSpc>
              <a:buFont typeface="Arial" panose="020B0604020202020204" pitchFamily="34" charset="0"/>
              <a:buChar char="•"/>
            </a:pPr>
            <a:r>
              <a:rPr lang="en-US" altLang="ko-KR" sz="2000" dirty="0" err="1">
                <a:solidFill>
                  <a:srgbClr val="222222"/>
                </a:solidFill>
                <a:latin typeface="Arial Narrow" panose="020B0606020202030204" pitchFamily="34" charset="0"/>
              </a:rPr>
              <a:t>return_state</a:t>
            </a:r>
            <a:r>
              <a:rPr lang="en-US" altLang="ko-KR" sz="2000" dirty="0">
                <a:solidFill>
                  <a:srgbClr val="222222"/>
                </a:solidFill>
                <a:latin typeface="Arial Narrow" panose="020B0606020202030204" pitchFamily="34" charset="0"/>
              </a:rPr>
              <a:t>: Whether to return the last cell and last hidden states</a:t>
            </a:r>
          </a:p>
        </p:txBody>
      </p:sp>
      <p:sp>
        <p:nvSpPr>
          <p:cNvPr id="54" name="TextBox 53">
            <a:extLst>
              <a:ext uri="{FF2B5EF4-FFF2-40B4-BE49-F238E27FC236}">
                <a16:creationId xmlns:a16="http://schemas.microsoft.com/office/drawing/2014/main" id="{82363B42-1E09-FAF7-B68D-71A6E5D78411}"/>
              </a:ext>
            </a:extLst>
          </p:cNvPr>
          <p:cNvSpPr txBox="1"/>
          <p:nvPr/>
        </p:nvSpPr>
        <p:spPr>
          <a:xfrm rot="2408170">
            <a:off x="763319" y="3867134"/>
            <a:ext cx="709171" cy="369332"/>
          </a:xfrm>
          <a:prstGeom prst="rect">
            <a:avLst/>
          </a:prstGeom>
          <a:noFill/>
        </p:spPr>
        <p:txBody>
          <a:bodyPr wrap="square">
            <a:spAutoFit/>
          </a:bodyPr>
          <a:lstStyle/>
          <a:p>
            <a:r>
              <a:rPr lang="fr-FR" altLang="ko-KR" sz="1800" dirty="0">
                <a:solidFill>
                  <a:srgbClr val="222222"/>
                </a:solidFill>
                <a:latin typeface="Arial Narrow" panose="020B0606020202030204" pitchFamily="34" charset="0"/>
              </a:rPr>
              <a:t>Units</a:t>
            </a:r>
            <a:endParaRPr lang="ko-KR" altLang="en-US" dirty="0"/>
          </a:p>
        </p:txBody>
      </p:sp>
      <p:grpSp>
        <p:nvGrpSpPr>
          <p:cNvPr id="81" name="그룹 80">
            <a:extLst>
              <a:ext uri="{FF2B5EF4-FFF2-40B4-BE49-F238E27FC236}">
                <a16:creationId xmlns:a16="http://schemas.microsoft.com/office/drawing/2014/main" id="{B58037BA-975F-92B0-DB92-CAE9716F903B}"/>
              </a:ext>
            </a:extLst>
          </p:cNvPr>
          <p:cNvGrpSpPr/>
          <p:nvPr/>
        </p:nvGrpSpPr>
        <p:grpSpPr>
          <a:xfrm>
            <a:off x="1297504" y="2659440"/>
            <a:ext cx="5585460" cy="1490049"/>
            <a:chOff x="1297504" y="2659440"/>
            <a:chExt cx="5585460" cy="1490049"/>
          </a:xfrm>
        </p:grpSpPr>
        <p:grpSp>
          <p:nvGrpSpPr>
            <p:cNvPr id="2" name="그룹 1">
              <a:extLst>
                <a:ext uri="{FF2B5EF4-FFF2-40B4-BE49-F238E27FC236}">
                  <a16:creationId xmlns:a16="http://schemas.microsoft.com/office/drawing/2014/main" id="{6AC31DCA-922C-8C07-ECFB-6C07581FB134}"/>
                </a:ext>
              </a:extLst>
            </p:cNvPr>
            <p:cNvGrpSpPr/>
            <p:nvPr/>
          </p:nvGrpSpPr>
          <p:grpSpPr>
            <a:xfrm>
              <a:off x="1457621" y="2856248"/>
              <a:ext cx="5319661" cy="1088200"/>
              <a:chOff x="1457621" y="2856248"/>
              <a:chExt cx="5319661" cy="1088200"/>
            </a:xfrm>
          </p:grpSpPr>
          <p:grpSp>
            <p:nvGrpSpPr>
              <p:cNvPr id="3" name="그룹 2">
                <a:extLst>
                  <a:ext uri="{FF2B5EF4-FFF2-40B4-BE49-F238E27FC236}">
                    <a16:creationId xmlns:a16="http://schemas.microsoft.com/office/drawing/2014/main" id="{D87EA7FF-DA80-4E82-9BFF-FC948C7E1F93}"/>
                  </a:ext>
                </a:extLst>
              </p:cNvPr>
              <p:cNvGrpSpPr/>
              <p:nvPr/>
            </p:nvGrpSpPr>
            <p:grpSpPr>
              <a:xfrm>
                <a:off x="3380099" y="2856248"/>
                <a:ext cx="1474705" cy="1074728"/>
                <a:chOff x="2352577" y="2695993"/>
                <a:chExt cx="1946046" cy="1511439"/>
              </a:xfrm>
            </p:grpSpPr>
            <p:sp>
              <p:nvSpPr>
                <p:cNvPr id="14" name="사각형: 둥근 모서리 13">
                  <a:extLst>
                    <a:ext uri="{FF2B5EF4-FFF2-40B4-BE49-F238E27FC236}">
                      <a16:creationId xmlns:a16="http://schemas.microsoft.com/office/drawing/2014/main" id="{29128F07-59AC-CB74-7C10-428CB80B3744}"/>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a16="http://schemas.microsoft.com/office/drawing/2014/main" id="{85A6FF03-12C3-50D7-B9D8-AD154FB01DC6}"/>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4" name="화살표: 오른쪽 3">
                <a:extLst>
                  <a:ext uri="{FF2B5EF4-FFF2-40B4-BE49-F238E27FC236}">
                    <a16:creationId xmlns:a16="http://schemas.microsoft.com/office/drawing/2014/main" id="{9BF33B6B-0B3F-B426-E2CB-0E442C2FB7FA}"/>
                  </a:ext>
                </a:extLst>
              </p:cNvPr>
              <p:cNvSpPr/>
              <p:nvPr/>
            </p:nvSpPr>
            <p:spPr>
              <a:xfrm>
                <a:off x="4854804" y="330700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화살표: 오른쪽 4">
                <a:extLst>
                  <a:ext uri="{FF2B5EF4-FFF2-40B4-BE49-F238E27FC236}">
                    <a16:creationId xmlns:a16="http://schemas.microsoft.com/office/drawing/2014/main" id="{2409BE1B-D406-EA19-36CE-915F549CEE9B}"/>
                  </a:ext>
                </a:extLst>
              </p:cNvPr>
              <p:cNvSpPr/>
              <p:nvPr/>
            </p:nvSpPr>
            <p:spPr>
              <a:xfrm>
                <a:off x="2932326" y="331407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 name="그룹 6">
                <a:extLst>
                  <a:ext uri="{FF2B5EF4-FFF2-40B4-BE49-F238E27FC236}">
                    <a16:creationId xmlns:a16="http://schemas.microsoft.com/office/drawing/2014/main" id="{3CD9BC1E-C305-B3AD-2DB8-EFB9DAE83AFD}"/>
                  </a:ext>
                </a:extLst>
              </p:cNvPr>
              <p:cNvGrpSpPr/>
              <p:nvPr/>
            </p:nvGrpSpPr>
            <p:grpSpPr>
              <a:xfrm>
                <a:off x="5302577" y="2869720"/>
                <a:ext cx="1474705" cy="1074728"/>
                <a:chOff x="2352577" y="2695993"/>
                <a:chExt cx="1946046" cy="1511439"/>
              </a:xfrm>
            </p:grpSpPr>
            <p:sp>
              <p:nvSpPr>
                <p:cNvPr id="12" name="사각형: 둥근 모서리 11">
                  <a:extLst>
                    <a:ext uri="{FF2B5EF4-FFF2-40B4-BE49-F238E27FC236}">
                      <a16:creationId xmlns:a16="http://schemas.microsoft.com/office/drawing/2014/main" id="{7EB8D1B8-1B77-0D42-263E-8051D9DE8794}"/>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TextBox 12">
                  <a:extLst>
                    <a:ext uri="{FF2B5EF4-FFF2-40B4-BE49-F238E27FC236}">
                      <a16:creationId xmlns:a16="http://schemas.microsoft.com/office/drawing/2014/main" id="{99CC1F3D-1813-ABFD-DEC9-A35189CF3C19}"/>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8" name="그룹 7">
                <a:extLst>
                  <a:ext uri="{FF2B5EF4-FFF2-40B4-BE49-F238E27FC236}">
                    <a16:creationId xmlns:a16="http://schemas.microsoft.com/office/drawing/2014/main" id="{E1EFAF93-F9F0-4072-88DF-F91DEADF3F24}"/>
                  </a:ext>
                </a:extLst>
              </p:cNvPr>
              <p:cNvGrpSpPr/>
              <p:nvPr/>
            </p:nvGrpSpPr>
            <p:grpSpPr>
              <a:xfrm>
                <a:off x="1457621" y="2869720"/>
                <a:ext cx="1474705" cy="1074728"/>
                <a:chOff x="2352577" y="2695993"/>
                <a:chExt cx="1946046" cy="1511439"/>
              </a:xfrm>
            </p:grpSpPr>
            <p:sp>
              <p:nvSpPr>
                <p:cNvPr id="9" name="사각형: 둥근 모서리 8">
                  <a:extLst>
                    <a:ext uri="{FF2B5EF4-FFF2-40B4-BE49-F238E27FC236}">
                      <a16:creationId xmlns:a16="http://schemas.microsoft.com/office/drawing/2014/main" id="{54FBBC57-9085-6C82-4BC2-F02E83A9FF37}"/>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a:extLst>
                    <a:ext uri="{FF2B5EF4-FFF2-40B4-BE49-F238E27FC236}">
                      <a16:creationId xmlns:a16="http://schemas.microsoft.com/office/drawing/2014/main" id="{9EEA0FB1-A656-40AA-3151-DD734510905F}"/>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grpSp>
          <p:nvGrpSpPr>
            <p:cNvPr id="69" name="그룹 68">
              <a:extLst>
                <a:ext uri="{FF2B5EF4-FFF2-40B4-BE49-F238E27FC236}">
                  <a16:creationId xmlns:a16="http://schemas.microsoft.com/office/drawing/2014/main" id="{E81BD9A7-8C98-7E73-C9FB-2E192A2110F1}"/>
                </a:ext>
              </a:extLst>
            </p:cNvPr>
            <p:cNvGrpSpPr/>
            <p:nvPr/>
          </p:nvGrpSpPr>
          <p:grpSpPr>
            <a:xfrm>
              <a:off x="1297504" y="3765022"/>
              <a:ext cx="5585460" cy="384467"/>
              <a:chOff x="1897380" y="4268497"/>
              <a:chExt cx="5585460" cy="384467"/>
            </a:xfrm>
          </p:grpSpPr>
          <p:cxnSp>
            <p:nvCxnSpPr>
              <p:cNvPr id="70" name="직선 화살표 연결선 69">
                <a:extLst>
                  <a:ext uri="{FF2B5EF4-FFF2-40B4-BE49-F238E27FC236}">
                    <a16:creationId xmlns:a16="http://schemas.microsoft.com/office/drawing/2014/main" id="{BE136ABC-E37B-24D3-2C00-96601ECE583B}"/>
                  </a:ext>
                </a:extLst>
              </p:cNvPr>
              <p:cNvCxnSpPr/>
              <p:nvPr/>
            </p:nvCxnSpPr>
            <p:spPr>
              <a:xfrm>
                <a:off x="1897380" y="4268497"/>
                <a:ext cx="55854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 name="그룹 70">
                <a:extLst>
                  <a:ext uri="{FF2B5EF4-FFF2-40B4-BE49-F238E27FC236}">
                    <a16:creationId xmlns:a16="http://schemas.microsoft.com/office/drawing/2014/main" id="{2DB19F45-2C42-E6F1-6D82-EF2DF0CA9766}"/>
                  </a:ext>
                </a:extLst>
              </p:cNvPr>
              <p:cNvGrpSpPr/>
              <p:nvPr/>
            </p:nvGrpSpPr>
            <p:grpSpPr>
              <a:xfrm>
                <a:off x="6414054" y="4288374"/>
                <a:ext cx="423468" cy="360000"/>
                <a:chOff x="7052940" y="4795215"/>
                <a:chExt cx="423468" cy="360000"/>
              </a:xfrm>
            </p:grpSpPr>
            <p:sp>
              <p:nvSpPr>
                <p:cNvPr id="78" name="타원 77">
                  <a:extLst>
                    <a:ext uri="{FF2B5EF4-FFF2-40B4-BE49-F238E27FC236}">
                      <a16:creationId xmlns:a16="http://schemas.microsoft.com/office/drawing/2014/main" id="{3E23244C-9142-0C59-D254-D65336956799}"/>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9" name="TextBox 78">
                  <a:extLst>
                    <a:ext uri="{FF2B5EF4-FFF2-40B4-BE49-F238E27FC236}">
                      <a16:creationId xmlns:a16="http://schemas.microsoft.com/office/drawing/2014/main" id="{E78126D5-734A-C519-2D3E-EC52E44F6B1F}"/>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72" name="그룹 71">
                <a:extLst>
                  <a:ext uri="{FF2B5EF4-FFF2-40B4-BE49-F238E27FC236}">
                    <a16:creationId xmlns:a16="http://schemas.microsoft.com/office/drawing/2014/main" id="{9E71F0FA-FDAA-407A-B850-B3021DF44CA5}"/>
                  </a:ext>
                </a:extLst>
              </p:cNvPr>
              <p:cNvGrpSpPr/>
              <p:nvPr/>
            </p:nvGrpSpPr>
            <p:grpSpPr>
              <a:xfrm>
                <a:off x="4447759" y="4292964"/>
                <a:ext cx="423468" cy="360000"/>
                <a:chOff x="7052940" y="4795215"/>
                <a:chExt cx="423468" cy="360000"/>
              </a:xfrm>
            </p:grpSpPr>
            <p:sp>
              <p:nvSpPr>
                <p:cNvPr id="76" name="타원 75">
                  <a:extLst>
                    <a:ext uri="{FF2B5EF4-FFF2-40B4-BE49-F238E27FC236}">
                      <a16:creationId xmlns:a16="http://schemas.microsoft.com/office/drawing/2014/main" id="{E8E6CDB4-F45C-F4C8-2774-0CF668EE0073}"/>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7" name="TextBox 76">
                  <a:extLst>
                    <a:ext uri="{FF2B5EF4-FFF2-40B4-BE49-F238E27FC236}">
                      <a16:creationId xmlns:a16="http://schemas.microsoft.com/office/drawing/2014/main" id="{1D17570F-AAF2-65A8-F168-9E45AB0C6681}"/>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73" name="그룹 72">
                <a:extLst>
                  <a:ext uri="{FF2B5EF4-FFF2-40B4-BE49-F238E27FC236}">
                    <a16:creationId xmlns:a16="http://schemas.microsoft.com/office/drawing/2014/main" id="{0E3A0540-AD9E-C96F-8CA5-D846C053C07C}"/>
                  </a:ext>
                </a:extLst>
              </p:cNvPr>
              <p:cNvGrpSpPr/>
              <p:nvPr/>
            </p:nvGrpSpPr>
            <p:grpSpPr>
              <a:xfrm>
                <a:off x="2543623" y="4287823"/>
                <a:ext cx="423468" cy="360000"/>
                <a:chOff x="7052940" y="4795215"/>
                <a:chExt cx="423468" cy="360000"/>
              </a:xfrm>
            </p:grpSpPr>
            <p:sp>
              <p:nvSpPr>
                <p:cNvPr id="74" name="타원 73">
                  <a:extLst>
                    <a:ext uri="{FF2B5EF4-FFF2-40B4-BE49-F238E27FC236}">
                      <a16:creationId xmlns:a16="http://schemas.microsoft.com/office/drawing/2014/main" id="{588C0554-8170-AFCF-BDD0-69AB8821F336}"/>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5" name="TextBox 74">
                  <a:extLst>
                    <a:ext uri="{FF2B5EF4-FFF2-40B4-BE49-F238E27FC236}">
                      <a16:creationId xmlns:a16="http://schemas.microsoft.com/office/drawing/2014/main" id="{49529285-225D-1993-1007-C7BDB930A76C}"/>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grpSp>
          <p:nvGrpSpPr>
            <p:cNvPr id="80" name="그룹 79">
              <a:extLst>
                <a:ext uri="{FF2B5EF4-FFF2-40B4-BE49-F238E27FC236}">
                  <a16:creationId xmlns:a16="http://schemas.microsoft.com/office/drawing/2014/main" id="{B23E3198-0AE6-BD6C-11D4-506C742B12AB}"/>
                </a:ext>
              </a:extLst>
            </p:cNvPr>
            <p:cNvGrpSpPr/>
            <p:nvPr/>
          </p:nvGrpSpPr>
          <p:grpSpPr>
            <a:xfrm>
              <a:off x="1297504" y="2659440"/>
              <a:ext cx="5585460" cy="384534"/>
              <a:chOff x="2804123" y="4769130"/>
              <a:chExt cx="5585460" cy="384534"/>
            </a:xfrm>
          </p:grpSpPr>
          <p:cxnSp>
            <p:nvCxnSpPr>
              <p:cNvPr id="57" name="직선 화살표 연결선 56">
                <a:extLst>
                  <a:ext uri="{FF2B5EF4-FFF2-40B4-BE49-F238E27FC236}">
                    <a16:creationId xmlns:a16="http://schemas.microsoft.com/office/drawing/2014/main" id="{819D3804-520C-69A5-5962-3119054F42AD}"/>
                  </a:ext>
                </a:extLst>
              </p:cNvPr>
              <p:cNvCxnSpPr/>
              <p:nvPr/>
            </p:nvCxnSpPr>
            <p:spPr>
              <a:xfrm>
                <a:off x="2804123" y="5153664"/>
                <a:ext cx="55854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61" name="그룹 60">
                <a:extLst>
                  <a:ext uri="{FF2B5EF4-FFF2-40B4-BE49-F238E27FC236}">
                    <a16:creationId xmlns:a16="http://schemas.microsoft.com/office/drawing/2014/main" id="{9B567DF2-249B-D529-D28A-CD0F3AF5F148}"/>
                  </a:ext>
                </a:extLst>
              </p:cNvPr>
              <p:cNvGrpSpPr/>
              <p:nvPr/>
            </p:nvGrpSpPr>
            <p:grpSpPr>
              <a:xfrm>
                <a:off x="7320797" y="4769681"/>
                <a:ext cx="423468" cy="360000"/>
                <a:chOff x="7052940" y="4795215"/>
                <a:chExt cx="423468" cy="360000"/>
              </a:xfrm>
            </p:grpSpPr>
            <p:sp>
              <p:nvSpPr>
                <p:cNvPr id="58" name="타원 57">
                  <a:extLst>
                    <a:ext uri="{FF2B5EF4-FFF2-40B4-BE49-F238E27FC236}">
                      <a16:creationId xmlns:a16="http://schemas.microsoft.com/office/drawing/2014/main" id="{BB2E408F-790E-C36F-EDC9-CB9A73938E05}"/>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0" name="TextBox 59">
                  <a:extLst>
                    <a:ext uri="{FF2B5EF4-FFF2-40B4-BE49-F238E27FC236}">
                      <a16:creationId xmlns:a16="http://schemas.microsoft.com/office/drawing/2014/main" id="{7A421B4C-BFF8-F145-D6D7-297C13D80F61}"/>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62" name="그룹 61">
                <a:extLst>
                  <a:ext uri="{FF2B5EF4-FFF2-40B4-BE49-F238E27FC236}">
                    <a16:creationId xmlns:a16="http://schemas.microsoft.com/office/drawing/2014/main" id="{8070199F-1AA0-A7E4-E47B-504A6D0E3AFA}"/>
                  </a:ext>
                </a:extLst>
              </p:cNvPr>
              <p:cNvGrpSpPr/>
              <p:nvPr/>
            </p:nvGrpSpPr>
            <p:grpSpPr>
              <a:xfrm>
                <a:off x="5354502" y="4774271"/>
                <a:ext cx="423468" cy="360000"/>
                <a:chOff x="7052940" y="4795215"/>
                <a:chExt cx="423468" cy="360000"/>
              </a:xfrm>
            </p:grpSpPr>
            <p:sp>
              <p:nvSpPr>
                <p:cNvPr id="63" name="타원 62">
                  <a:extLst>
                    <a:ext uri="{FF2B5EF4-FFF2-40B4-BE49-F238E27FC236}">
                      <a16:creationId xmlns:a16="http://schemas.microsoft.com/office/drawing/2014/main" id="{3AA2C083-873A-028A-CF0D-D07DC5CCB4EF}"/>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4" name="TextBox 63">
                  <a:extLst>
                    <a:ext uri="{FF2B5EF4-FFF2-40B4-BE49-F238E27FC236}">
                      <a16:creationId xmlns:a16="http://schemas.microsoft.com/office/drawing/2014/main" id="{A5EF1C96-C7D6-C3D9-3638-A31E0099B014}"/>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65" name="그룹 64">
                <a:extLst>
                  <a:ext uri="{FF2B5EF4-FFF2-40B4-BE49-F238E27FC236}">
                    <a16:creationId xmlns:a16="http://schemas.microsoft.com/office/drawing/2014/main" id="{BBCC04D2-86C1-F38F-9CE2-63068D11A5E2}"/>
                  </a:ext>
                </a:extLst>
              </p:cNvPr>
              <p:cNvGrpSpPr/>
              <p:nvPr/>
            </p:nvGrpSpPr>
            <p:grpSpPr>
              <a:xfrm>
                <a:off x="3450366" y="4769130"/>
                <a:ext cx="423468" cy="360000"/>
                <a:chOff x="7052940" y="4795215"/>
                <a:chExt cx="423468" cy="360000"/>
              </a:xfrm>
            </p:grpSpPr>
            <p:sp>
              <p:nvSpPr>
                <p:cNvPr id="66" name="타원 65">
                  <a:extLst>
                    <a:ext uri="{FF2B5EF4-FFF2-40B4-BE49-F238E27FC236}">
                      <a16:creationId xmlns:a16="http://schemas.microsoft.com/office/drawing/2014/main" id="{E35913A3-5F39-7C74-40EF-74ACD942B51E}"/>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TextBox 66">
                  <a:extLst>
                    <a:ext uri="{FF2B5EF4-FFF2-40B4-BE49-F238E27FC236}">
                      <a16:creationId xmlns:a16="http://schemas.microsoft.com/office/drawing/2014/main" id="{5CDF7847-6FC7-D24D-A469-EFBA1056AD95}"/>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grpSp>
      <p:sp>
        <p:nvSpPr>
          <p:cNvPr id="294" name="사각형: 둥근 모서리 293">
            <a:extLst>
              <a:ext uri="{FF2B5EF4-FFF2-40B4-BE49-F238E27FC236}">
                <a16:creationId xmlns:a16="http://schemas.microsoft.com/office/drawing/2014/main" id="{4371D58B-FF61-8AE3-85BF-353BF037BAB1}"/>
              </a:ext>
            </a:extLst>
          </p:cNvPr>
          <p:cNvSpPr/>
          <p:nvPr/>
        </p:nvSpPr>
        <p:spPr>
          <a:xfrm rot="18713698">
            <a:off x="6016095" y="3566501"/>
            <a:ext cx="508265" cy="1386993"/>
          </a:xfrm>
          <a:prstGeom prst="roundRect">
            <a:avLst>
              <a:gd name="adj" fmla="val 31461"/>
            </a:avLst>
          </a:prstGeom>
          <a:solidFill>
            <a:srgbClr val="C00000">
              <a:alpha val="20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95" name="그룹 294">
            <a:extLst>
              <a:ext uri="{FF2B5EF4-FFF2-40B4-BE49-F238E27FC236}">
                <a16:creationId xmlns:a16="http://schemas.microsoft.com/office/drawing/2014/main" id="{5BDE64C1-2174-F7B3-EA2D-5996D6011766}"/>
              </a:ext>
            </a:extLst>
          </p:cNvPr>
          <p:cNvGrpSpPr/>
          <p:nvPr/>
        </p:nvGrpSpPr>
        <p:grpSpPr>
          <a:xfrm>
            <a:off x="1449904" y="2811840"/>
            <a:ext cx="5585460" cy="1490049"/>
            <a:chOff x="1297504" y="2659440"/>
            <a:chExt cx="5585460" cy="1490049"/>
          </a:xfrm>
        </p:grpSpPr>
        <p:grpSp>
          <p:nvGrpSpPr>
            <p:cNvPr id="296" name="그룹 295">
              <a:extLst>
                <a:ext uri="{FF2B5EF4-FFF2-40B4-BE49-F238E27FC236}">
                  <a16:creationId xmlns:a16="http://schemas.microsoft.com/office/drawing/2014/main" id="{9122EE8C-5C5B-B55E-8C12-D37D10E509A0}"/>
                </a:ext>
              </a:extLst>
            </p:cNvPr>
            <p:cNvGrpSpPr/>
            <p:nvPr/>
          </p:nvGrpSpPr>
          <p:grpSpPr>
            <a:xfrm>
              <a:off x="1457621" y="2856248"/>
              <a:ext cx="5319661" cy="1088200"/>
              <a:chOff x="1457621" y="2856248"/>
              <a:chExt cx="5319661" cy="1088200"/>
            </a:xfrm>
          </p:grpSpPr>
          <p:grpSp>
            <p:nvGrpSpPr>
              <p:cNvPr id="319" name="그룹 318">
                <a:extLst>
                  <a:ext uri="{FF2B5EF4-FFF2-40B4-BE49-F238E27FC236}">
                    <a16:creationId xmlns:a16="http://schemas.microsoft.com/office/drawing/2014/main" id="{7A8A9657-79A8-CE5F-E822-D2839BA903B9}"/>
                  </a:ext>
                </a:extLst>
              </p:cNvPr>
              <p:cNvGrpSpPr/>
              <p:nvPr/>
            </p:nvGrpSpPr>
            <p:grpSpPr>
              <a:xfrm>
                <a:off x="3380099" y="2856248"/>
                <a:ext cx="1474705" cy="1074728"/>
                <a:chOff x="2352577" y="2695993"/>
                <a:chExt cx="1946046" cy="1511439"/>
              </a:xfrm>
            </p:grpSpPr>
            <p:sp>
              <p:nvSpPr>
                <p:cNvPr id="328" name="사각형: 둥근 모서리 327">
                  <a:extLst>
                    <a:ext uri="{FF2B5EF4-FFF2-40B4-BE49-F238E27FC236}">
                      <a16:creationId xmlns:a16="http://schemas.microsoft.com/office/drawing/2014/main" id="{845EAD13-1429-5257-6690-6EF71439BBF4}"/>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9" name="TextBox 328">
                  <a:extLst>
                    <a:ext uri="{FF2B5EF4-FFF2-40B4-BE49-F238E27FC236}">
                      <a16:creationId xmlns:a16="http://schemas.microsoft.com/office/drawing/2014/main" id="{B286F73E-9B9F-B8FB-EA55-3859EDEF278D}"/>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320" name="화살표: 오른쪽 319">
                <a:extLst>
                  <a:ext uri="{FF2B5EF4-FFF2-40B4-BE49-F238E27FC236}">
                    <a16:creationId xmlns:a16="http://schemas.microsoft.com/office/drawing/2014/main" id="{8F7CA02D-86D9-0A1B-AD4E-7FAD3CE3C9CB}"/>
                  </a:ext>
                </a:extLst>
              </p:cNvPr>
              <p:cNvSpPr/>
              <p:nvPr/>
            </p:nvSpPr>
            <p:spPr>
              <a:xfrm>
                <a:off x="4854804" y="330700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1" name="화살표: 오른쪽 320">
                <a:extLst>
                  <a:ext uri="{FF2B5EF4-FFF2-40B4-BE49-F238E27FC236}">
                    <a16:creationId xmlns:a16="http://schemas.microsoft.com/office/drawing/2014/main" id="{DEFDD419-3D66-82E8-F45B-71350143B3F3}"/>
                  </a:ext>
                </a:extLst>
              </p:cNvPr>
              <p:cNvSpPr/>
              <p:nvPr/>
            </p:nvSpPr>
            <p:spPr>
              <a:xfrm>
                <a:off x="2932326" y="331407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22" name="그룹 321">
                <a:extLst>
                  <a:ext uri="{FF2B5EF4-FFF2-40B4-BE49-F238E27FC236}">
                    <a16:creationId xmlns:a16="http://schemas.microsoft.com/office/drawing/2014/main" id="{B1962105-EE5B-BAA2-D4D5-F8B2AA663E6E}"/>
                  </a:ext>
                </a:extLst>
              </p:cNvPr>
              <p:cNvGrpSpPr/>
              <p:nvPr/>
            </p:nvGrpSpPr>
            <p:grpSpPr>
              <a:xfrm>
                <a:off x="5302577" y="2869720"/>
                <a:ext cx="1474705" cy="1074728"/>
                <a:chOff x="2352577" y="2695993"/>
                <a:chExt cx="1946046" cy="1511439"/>
              </a:xfrm>
            </p:grpSpPr>
            <p:sp>
              <p:nvSpPr>
                <p:cNvPr id="326" name="사각형: 둥근 모서리 325">
                  <a:extLst>
                    <a:ext uri="{FF2B5EF4-FFF2-40B4-BE49-F238E27FC236}">
                      <a16:creationId xmlns:a16="http://schemas.microsoft.com/office/drawing/2014/main" id="{E57708C6-0B73-3BB2-0F3D-F387A7F78FE5}"/>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7" name="TextBox 326">
                  <a:extLst>
                    <a:ext uri="{FF2B5EF4-FFF2-40B4-BE49-F238E27FC236}">
                      <a16:creationId xmlns:a16="http://schemas.microsoft.com/office/drawing/2014/main" id="{93DA115C-FFC9-8C77-20EC-42C2F2165A1C}"/>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23" name="그룹 322">
                <a:extLst>
                  <a:ext uri="{FF2B5EF4-FFF2-40B4-BE49-F238E27FC236}">
                    <a16:creationId xmlns:a16="http://schemas.microsoft.com/office/drawing/2014/main" id="{A8DE9E6D-F089-F536-5BA9-E32419ADA536}"/>
                  </a:ext>
                </a:extLst>
              </p:cNvPr>
              <p:cNvGrpSpPr/>
              <p:nvPr/>
            </p:nvGrpSpPr>
            <p:grpSpPr>
              <a:xfrm>
                <a:off x="1457621" y="2869720"/>
                <a:ext cx="1474705" cy="1074728"/>
                <a:chOff x="2352577" y="2695993"/>
                <a:chExt cx="1946046" cy="1511439"/>
              </a:xfrm>
            </p:grpSpPr>
            <p:sp>
              <p:nvSpPr>
                <p:cNvPr id="324" name="사각형: 둥근 모서리 323">
                  <a:extLst>
                    <a:ext uri="{FF2B5EF4-FFF2-40B4-BE49-F238E27FC236}">
                      <a16:creationId xmlns:a16="http://schemas.microsoft.com/office/drawing/2014/main" id="{39221368-3508-9223-BAEC-388E5F132875}"/>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5" name="TextBox 324">
                  <a:extLst>
                    <a:ext uri="{FF2B5EF4-FFF2-40B4-BE49-F238E27FC236}">
                      <a16:creationId xmlns:a16="http://schemas.microsoft.com/office/drawing/2014/main" id="{88E878FE-63F2-1831-D6BC-52BCBEDD4E03}"/>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grpSp>
          <p:nvGrpSpPr>
            <p:cNvPr id="297" name="그룹 296">
              <a:extLst>
                <a:ext uri="{FF2B5EF4-FFF2-40B4-BE49-F238E27FC236}">
                  <a16:creationId xmlns:a16="http://schemas.microsoft.com/office/drawing/2014/main" id="{4E386189-64F0-7601-3614-05123B6EE6D4}"/>
                </a:ext>
              </a:extLst>
            </p:cNvPr>
            <p:cNvGrpSpPr/>
            <p:nvPr/>
          </p:nvGrpSpPr>
          <p:grpSpPr>
            <a:xfrm>
              <a:off x="1297504" y="3765022"/>
              <a:ext cx="5585460" cy="384467"/>
              <a:chOff x="1897380" y="4268497"/>
              <a:chExt cx="5585460" cy="384467"/>
            </a:xfrm>
          </p:grpSpPr>
          <p:cxnSp>
            <p:nvCxnSpPr>
              <p:cNvPr id="309" name="직선 화살표 연결선 308">
                <a:extLst>
                  <a:ext uri="{FF2B5EF4-FFF2-40B4-BE49-F238E27FC236}">
                    <a16:creationId xmlns:a16="http://schemas.microsoft.com/office/drawing/2014/main" id="{50C650B1-84C1-FD01-DE56-56E08916CDFB}"/>
                  </a:ext>
                </a:extLst>
              </p:cNvPr>
              <p:cNvCxnSpPr/>
              <p:nvPr/>
            </p:nvCxnSpPr>
            <p:spPr>
              <a:xfrm>
                <a:off x="1897380" y="4268497"/>
                <a:ext cx="55854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10" name="그룹 309">
                <a:extLst>
                  <a:ext uri="{FF2B5EF4-FFF2-40B4-BE49-F238E27FC236}">
                    <a16:creationId xmlns:a16="http://schemas.microsoft.com/office/drawing/2014/main" id="{26B05481-8E4A-BA32-E879-63A0775B6FA0}"/>
                  </a:ext>
                </a:extLst>
              </p:cNvPr>
              <p:cNvGrpSpPr/>
              <p:nvPr/>
            </p:nvGrpSpPr>
            <p:grpSpPr>
              <a:xfrm>
                <a:off x="6414054" y="4288374"/>
                <a:ext cx="423468" cy="360000"/>
                <a:chOff x="7052940" y="4795215"/>
                <a:chExt cx="423468" cy="360000"/>
              </a:xfrm>
            </p:grpSpPr>
            <p:sp>
              <p:nvSpPr>
                <p:cNvPr id="317" name="타원 316">
                  <a:extLst>
                    <a:ext uri="{FF2B5EF4-FFF2-40B4-BE49-F238E27FC236}">
                      <a16:creationId xmlns:a16="http://schemas.microsoft.com/office/drawing/2014/main" id="{F936AC1E-4189-418F-1E48-89057C4A1DF3}"/>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8" name="TextBox 317">
                  <a:extLst>
                    <a:ext uri="{FF2B5EF4-FFF2-40B4-BE49-F238E27FC236}">
                      <a16:creationId xmlns:a16="http://schemas.microsoft.com/office/drawing/2014/main" id="{D321794B-19B0-A047-FCDF-2F07226C767B}"/>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11" name="그룹 310">
                <a:extLst>
                  <a:ext uri="{FF2B5EF4-FFF2-40B4-BE49-F238E27FC236}">
                    <a16:creationId xmlns:a16="http://schemas.microsoft.com/office/drawing/2014/main" id="{E05342E8-36B9-5DF9-085D-52BDA789C816}"/>
                  </a:ext>
                </a:extLst>
              </p:cNvPr>
              <p:cNvGrpSpPr/>
              <p:nvPr/>
            </p:nvGrpSpPr>
            <p:grpSpPr>
              <a:xfrm>
                <a:off x="4447759" y="4292964"/>
                <a:ext cx="423468" cy="360000"/>
                <a:chOff x="7052940" y="4795215"/>
                <a:chExt cx="423468" cy="360000"/>
              </a:xfrm>
            </p:grpSpPr>
            <p:sp>
              <p:nvSpPr>
                <p:cNvPr id="315" name="타원 314">
                  <a:extLst>
                    <a:ext uri="{FF2B5EF4-FFF2-40B4-BE49-F238E27FC236}">
                      <a16:creationId xmlns:a16="http://schemas.microsoft.com/office/drawing/2014/main" id="{D6F097ED-3B79-82E2-9790-484A8938CCD4}"/>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6" name="TextBox 315">
                  <a:extLst>
                    <a:ext uri="{FF2B5EF4-FFF2-40B4-BE49-F238E27FC236}">
                      <a16:creationId xmlns:a16="http://schemas.microsoft.com/office/drawing/2014/main" id="{D7CEB1DD-13C8-0FAD-C2FC-4969EBE6C11A}"/>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12" name="그룹 311">
                <a:extLst>
                  <a:ext uri="{FF2B5EF4-FFF2-40B4-BE49-F238E27FC236}">
                    <a16:creationId xmlns:a16="http://schemas.microsoft.com/office/drawing/2014/main" id="{2CBBD03A-0339-06CD-1A54-AD5CE406A697}"/>
                  </a:ext>
                </a:extLst>
              </p:cNvPr>
              <p:cNvGrpSpPr/>
              <p:nvPr/>
            </p:nvGrpSpPr>
            <p:grpSpPr>
              <a:xfrm>
                <a:off x="2543623" y="4287823"/>
                <a:ext cx="423468" cy="360000"/>
                <a:chOff x="7052940" y="4795215"/>
                <a:chExt cx="423468" cy="360000"/>
              </a:xfrm>
            </p:grpSpPr>
            <p:sp>
              <p:nvSpPr>
                <p:cNvPr id="313" name="타원 312">
                  <a:extLst>
                    <a:ext uri="{FF2B5EF4-FFF2-40B4-BE49-F238E27FC236}">
                      <a16:creationId xmlns:a16="http://schemas.microsoft.com/office/drawing/2014/main" id="{34562558-0777-4288-29FE-D6E98A4F713F}"/>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4" name="TextBox 313">
                  <a:extLst>
                    <a:ext uri="{FF2B5EF4-FFF2-40B4-BE49-F238E27FC236}">
                      <a16:creationId xmlns:a16="http://schemas.microsoft.com/office/drawing/2014/main" id="{C4D2DC9F-DDEA-D6B3-9BBB-F33D377FEA6B}"/>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grpSp>
          <p:nvGrpSpPr>
            <p:cNvPr id="298" name="그룹 297">
              <a:extLst>
                <a:ext uri="{FF2B5EF4-FFF2-40B4-BE49-F238E27FC236}">
                  <a16:creationId xmlns:a16="http://schemas.microsoft.com/office/drawing/2014/main" id="{CC66D71E-4519-EBAE-AFB2-3BC3E52A8487}"/>
                </a:ext>
              </a:extLst>
            </p:cNvPr>
            <p:cNvGrpSpPr/>
            <p:nvPr/>
          </p:nvGrpSpPr>
          <p:grpSpPr>
            <a:xfrm>
              <a:off x="1297504" y="2659440"/>
              <a:ext cx="5585460" cy="384534"/>
              <a:chOff x="2804123" y="4769130"/>
              <a:chExt cx="5585460" cy="384534"/>
            </a:xfrm>
          </p:grpSpPr>
          <p:cxnSp>
            <p:nvCxnSpPr>
              <p:cNvPr id="299" name="직선 화살표 연결선 298">
                <a:extLst>
                  <a:ext uri="{FF2B5EF4-FFF2-40B4-BE49-F238E27FC236}">
                    <a16:creationId xmlns:a16="http://schemas.microsoft.com/office/drawing/2014/main" id="{4217DA4E-7A2C-776D-614E-EA951FD9FD6C}"/>
                  </a:ext>
                </a:extLst>
              </p:cNvPr>
              <p:cNvCxnSpPr/>
              <p:nvPr/>
            </p:nvCxnSpPr>
            <p:spPr>
              <a:xfrm>
                <a:off x="2804123" y="5153664"/>
                <a:ext cx="55854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00" name="그룹 299">
                <a:extLst>
                  <a:ext uri="{FF2B5EF4-FFF2-40B4-BE49-F238E27FC236}">
                    <a16:creationId xmlns:a16="http://schemas.microsoft.com/office/drawing/2014/main" id="{3852B481-0EBC-1A8C-FBC4-032A61C8B22A}"/>
                  </a:ext>
                </a:extLst>
              </p:cNvPr>
              <p:cNvGrpSpPr/>
              <p:nvPr/>
            </p:nvGrpSpPr>
            <p:grpSpPr>
              <a:xfrm>
                <a:off x="7320797" y="4769681"/>
                <a:ext cx="423468" cy="360000"/>
                <a:chOff x="7052940" y="4795215"/>
                <a:chExt cx="423468" cy="360000"/>
              </a:xfrm>
            </p:grpSpPr>
            <p:sp>
              <p:nvSpPr>
                <p:cNvPr id="307" name="타원 306">
                  <a:extLst>
                    <a:ext uri="{FF2B5EF4-FFF2-40B4-BE49-F238E27FC236}">
                      <a16:creationId xmlns:a16="http://schemas.microsoft.com/office/drawing/2014/main" id="{8FDF0308-9E12-0D30-1F07-1C6901FA172B}"/>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8" name="TextBox 307">
                  <a:extLst>
                    <a:ext uri="{FF2B5EF4-FFF2-40B4-BE49-F238E27FC236}">
                      <a16:creationId xmlns:a16="http://schemas.microsoft.com/office/drawing/2014/main" id="{32F82851-926D-438A-01BA-9616367BA602}"/>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01" name="그룹 300">
                <a:extLst>
                  <a:ext uri="{FF2B5EF4-FFF2-40B4-BE49-F238E27FC236}">
                    <a16:creationId xmlns:a16="http://schemas.microsoft.com/office/drawing/2014/main" id="{75F52D6C-DC2E-4F1F-08D4-7CB6F148410B}"/>
                  </a:ext>
                </a:extLst>
              </p:cNvPr>
              <p:cNvGrpSpPr/>
              <p:nvPr/>
            </p:nvGrpSpPr>
            <p:grpSpPr>
              <a:xfrm>
                <a:off x="5354502" y="4774271"/>
                <a:ext cx="423468" cy="360000"/>
                <a:chOff x="7052940" y="4795215"/>
                <a:chExt cx="423468" cy="360000"/>
              </a:xfrm>
            </p:grpSpPr>
            <p:sp>
              <p:nvSpPr>
                <p:cNvPr id="305" name="타원 304">
                  <a:extLst>
                    <a:ext uri="{FF2B5EF4-FFF2-40B4-BE49-F238E27FC236}">
                      <a16:creationId xmlns:a16="http://schemas.microsoft.com/office/drawing/2014/main" id="{9C0917F7-B497-5102-0C26-C00B4A712C1F}"/>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06" name="TextBox 305">
                  <a:extLst>
                    <a:ext uri="{FF2B5EF4-FFF2-40B4-BE49-F238E27FC236}">
                      <a16:creationId xmlns:a16="http://schemas.microsoft.com/office/drawing/2014/main" id="{DB246BD9-BBD9-C2DF-288F-CA38F9A5D93D}"/>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02" name="그룹 301">
                <a:extLst>
                  <a:ext uri="{FF2B5EF4-FFF2-40B4-BE49-F238E27FC236}">
                    <a16:creationId xmlns:a16="http://schemas.microsoft.com/office/drawing/2014/main" id="{B383DE01-0925-D140-2572-1AC37780A5C0}"/>
                  </a:ext>
                </a:extLst>
              </p:cNvPr>
              <p:cNvGrpSpPr/>
              <p:nvPr/>
            </p:nvGrpSpPr>
            <p:grpSpPr>
              <a:xfrm>
                <a:off x="3450366" y="4769130"/>
                <a:ext cx="423468" cy="360000"/>
                <a:chOff x="7052940" y="4795215"/>
                <a:chExt cx="423468" cy="360000"/>
              </a:xfrm>
            </p:grpSpPr>
            <p:sp>
              <p:nvSpPr>
                <p:cNvPr id="303" name="타원 302">
                  <a:extLst>
                    <a:ext uri="{FF2B5EF4-FFF2-40B4-BE49-F238E27FC236}">
                      <a16:creationId xmlns:a16="http://schemas.microsoft.com/office/drawing/2014/main" id="{8CBD02BA-6DE2-FE8F-8ED4-89FB8B59CDF7}"/>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741B1BF6-9351-00E1-B94C-5A7CB8A79624}"/>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grpSp>
      <p:grpSp>
        <p:nvGrpSpPr>
          <p:cNvPr id="330" name="그룹 329">
            <a:extLst>
              <a:ext uri="{FF2B5EF4-FFF2-40B4-BE49-F238E27FC236}">
                <a16:creationId xmlns:a16="http://schemas.microsoft.com/office/drawing/2014/main" id="{03677A70-64D2-43FF-A6C4-E5E7B9630C40}"/>
              </a:ext>
            </a:extLst>
          </p:cNvPr>
          <p:cNvGrpSpPr/>
          <p:nvPr/>
        </p:nvGrpSpPr>
        <p:grpSpPr>
          <a:xfrm>
            <a:off x="1602304" y="2964240"/>
            <a:ext cx="5585460" cy="1490049"/>
            <a:chOff x="1297504" y="2659440"/>
            <a:chExt cx="5585460" cy="1490049"/>
          </a:xfrm>
        </p:grpSpPr>
        <p:grpSp>
          <p:nvGrpSpPr>
            <p:cNvPr id="331" name="그룹 330">
              <a:extLst>
                <a:ext uri="{FF2B5EF4-FFF2-40B4-BE49-F238E27FC236}">
                  <a16:creationId xmlns:a16="http://schemas.microsoft.com/office/drawing/2014/main" id="{CC660DDB-8105-2B39-67C9-36B0AE813A7E}"/>
                </a:ext>
              </a:extLst>
            </p:cNvPr>
            <p:cNvGrpSpPr/>
            <p:nvPr/>
          </p:nvGrpSpPr>
          <p:grpSpPr>
            <a:xfrm>
              <a:off x="1457621" y="2856248"/>
              <a:ext cx="5319661" cy="1088200"/>
              <a:chOff x="1457621" y="2856248"/>
              <a:chExt cx="5319661" cy="1088200"/>
            </a:xfrm>
          </p:grpSpPr>
          <p:grpSp>
            <p:nvGrpSpPr>
              <p:cNvPr id="354" name="그룹 353">
                <a:extLst>
                  <a:ext uri="{FF2B5EF4-FFF2-40B4-BE49-F238E27FC236}">
                    <a16:creationId xmlns:a16="http://schemas.microsoft.com/office/drawing/2014/main" id="{7AF48937-17C5-114D-B522-0B89EE82F558}"/>
                  </a:ext>
                </a:extLst>
              </p:cNvPr>
              <p:cNvGrpSpPr/>
              <p:nvPr/>
            </p:nvGrpSpPr>
            <p:grpSpPr>
              <a:xfrm>
                <a:off x="3380099" y="2856248"/>
                <a:ext cx="1474705" cy="1074728"/>
                <a:chOff x="2352577" y="2695993"/>
                <a:chExt cx="1946046" cy="1511439"/>
              </a:xfrm>
            </p:grpSpPr>
            <p:sp>
              <p:nvSpPr>
                <p:cNvPr id="363" name="사각형: 둥근 모서리 362">
                  <a:extLst>
                    <a:ext uri="{FF2B5EF4-FFF2-40B4-BE49-F238E27FC236}">
                      <a16:creationId xmlns:a16="http://schemas.microsoft.com/office/drawing/2014/main" id="{DF5AD060-DF13-FD46-7A86-5D853A24CCEE}"/>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4" name="TextBox 363">
                  <a:extLst>
                    <a:ext uri="{FF2B5EF4-FFF2-40B4-BE49-F238E27FC236}">
                      <a16:creationId xmlns:a16="http://schemas.microsoft.com/office/drawing/2014/main" id="{88AC544B-E896-18B0-3EDB-D7FE8762EAC5}"/>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355" name="화살표: 오른쪽 354">
                <a:extLst>
                  <a:ext uri="{FF2B5EF4-FFF2-40B4-BE49-F238E27FC236}">
                    <a16:creationId xmlns:a16="http://schemas.microsoft.com/office/drawing/2014/main" id="{24BF2427-FEC8-E564-0D16-C728E563604D}"/>
                  </a:ext>
                </a:extLst>
              </p:cNvPr>
              <p:cNvSpPr/>
              <p:nvPr/>
            </p:nvSpPr>
            <p:spPr>
              <a:xfrm>
                <a:off x="4854804" y="330700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6" name="화살표: 오른쪽 355">
                <a:extLst>
                  <a:ext uri="{FF2B5EF4-FFF2-40B4-BE49-F238E27FC236}">
                    <a16:creationId xmlns:a16="http://schemas.microsoft.com/office/drawing/2014/main" id="{51213576-E5CB-5D0A-C186-147DED893C23}"/>
                  </a:ext>
                </a:extLst>
              </p:cNvPr>
              <p:cNvSpPr/>
              <p:nvPr/>
            </p:nvSpPr>
            <p:spPr>
              <a:xfrm>
                <a:off x="2932326" y="331407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57" name="그룹 356">
                <a:extLst>
                  <a:ext uri="{FF2B5EF4-FFF2-40B4-BE49-F238E27FC236}">
                    <a16:creationId xmlns:a16="http://schemas.microsoft.com/office/drawing/2014/main" id="{6826F0DD-402B-0A4A-DF77-70DFF6E44DA0}"/>
                  </a:ext>
                </a:extLst>
              </p:cNvPr>
              <p:cNvGrpSpPr/>
              <p:nvPr/>
            </p:nvGrpSpPr>
            <p:grpSpPr>
              <a:xfrm>
                <a:off x="5302577" y="2869720"/>
                <a:ext cx="1474705" cy="1074728"/>
                <a:chOff x="2352577" y="2695993"/>
                <a:chExt cx="1946046" cy="1511439"/>
              </a:xfrm>
            </p:grpSpPr>
            <p:sp>
              <p:nvSpPr>
                <p:cNvPr id="361" name="사각형: 둥근 모서리 360">
                  <a:extLst>
                    <a:ext uri="{FF2B5EF4-FFF2-40B4-BE49-F238E27FC236}">
                      <a16:creationId xmlns:a16="http://schemas.microsoft.com/office/drawing/2014/main" id="{09277FAC-5579-B9BD-0F10-93055479B42D}"/>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2" name="TextBox 361">
                  <a:extLst>
                    <a:ext uri="{FF2B5EF4-FFF2-40B4-BE49-F238E27FC236}">
                      <a16:creationId xmlns:a16="http://schemas.microsoft.com/office/drawing/2014/main" id="{E06E75E3-7DCC-1BDE-58E3-6CB9FF1C5093}"/>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58" name="그룹 357">
                <a:extLst>
                  <a:ext uri="{FF2B5EF4-FFF2-40B4-BE49-F238E27FC236}">
                    <a16:creationId xmlns:a16="http://schemas.microsoft.com/office/drawing/2014/main" id="{55DF3FB3-04FD-A863-9363-3DEC71F317CD}"/>
                  </a:ext>
                </a:extLst>
              </p:cNvPr>
              <p:cNvGrpSpPr/>
              <p:nvPr/>
            </p:nvGrpSpPr>
            <p:grpSpPr>
              <a:xfrm>
                <a:off x="1457621" y="2869720"/>
                <a:ext cx="1474705" cy="1074728"/>
                <a:chOff x="2352577" y="2695993"/>
                <a:chExt cx="1946046" cy="1511439"/>
              </a:xfrm>
            </p:grpSpPr>
            <p:sp>
              <p:nvSpPr>
                <p:cNvPr id="359" name="사각형: 둥근 모서리 358">
                  <a:extLst>
                    <a:ext uri="{FF2B5EF4-FFF2-40B4-BE49-F238E27FC236}">
                      <a16:creationId xmlns:a16="http://schemas.microsoft.com/office/drawing/2014/main" id="{914220E8-1409-11E7-EAE3-E6EF13CA8628}"/>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0" name="TextBox 359">
                  <a:extLst>
                    <a:ext uri="{FF2B5EF4-FFF2-40B4-BE49-F238E27FC236}">
                      <a16:creationId xmlns:a16="http://schemas.microsoft.com/office/drawing/2014/main" id="{14EB2F1B-0997-4E47-8298-03ADD552195F}"/>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grpSp>
          <p:nvGrpSpPr>
            <p:cNvPr id="332" name="그룹 331">
              <a:extLst>
                <a:ext uri="{FF2B5EF4-FFF2-40B4-BE49-F238E27FC236}">
                  <a16:creationId xmlns:a16="http://schemas.microsoft.com/office/drawing/2014/main" id="{02AB3224-E8B5-7238-4C94-8F0ADE37B806}"/>
                </a:ext>
              </a:extLst>
            </p:cNvPr>
            <p:cNvGrpSpPr/>
            <p:nvPr/>
          </p:nvGrpSpPr>
          <p:grpSpPr>
            <a:xfrm>
              <a:off x="1297504" y="3765022"/>
              <a:ext cx="5585460" cy="384467"/>
              <a:chOff x="1897380" y="4268497"/>
              <a:chExt cx="5585460" cy="384467"/>
            </a:xfrm>
          </p:grpSpPr>
          <p:cxnSp>
            <p:nvCxnSpPr>
              <p:cNvPr id="344" name="직선 화살표 연결선 343">
                <a:extLst>
                  <a:ext uri="{FF2B5EF4-FFF2-40B4-BE49-F238E27FC236}">
                    <a16:creationId xmlns:a16="http://schemas.microsoft.com/office/drawing/2014/main" id="{D7C82E84-D884-5B6F-F9B9-605E3ED81B8B}"/>
                  </a:ext>
                </a:extLst>
              </p:cNvPr>
              <p:cNvCxnSpPr/>
              <p:nvPr/>
            </p:nvCxnSpPr>
            <p:spPr>
              <a:xfrm>
                <a:off x="1897380" y="4268497"/>
                <a:ext cx="55854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45" name="그룹 344">
                <a:extLst>
                  <a:ext uri="{FF2B5EF4-FFF2-40B4-BE49-F238E27FC236}">
                    <a16:creationId xmlns:a16="http://schemas.microsoft.com/office/drawing/2014/main" id="{69629643-57EE-A7DF-6771-A624497C8FC5}"/>
                  </a:ext>
                </a:extLst>
              </p:cNvPr>
              <p:cNvGrpSpPr/>
              <p:nvPr/>
            </p:nvGrpSpPr>
            <p:grpSpPr>
              <a:xfrm>
                <a:off x="6414054" y="4288374"/>
                <a:ext cx="423468" cy="360000"/>
                <a:chOff x="7052940" y="4795215"/>
                <a:chExt cx="423468" cy="360000"/>
              </a:xfrm>
            </p:grpSpPr>
            <p:sp>
              <p:nvSpPr>
                <p:cNvPr id="352" name="타원 351">
                  <a:extLst>
                    <a:ext uri="{FF2B5EF4-FFF2-40B4-BE49-F238E27FC236}">
                      <a16:creationId xmlns:a16="http://schemas.microsoft.com/office/drawing/2014/main" id="{54A72942-4675-A8C8-0EE5-58679A31BCD8}"/>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3" name="TextBox 352">
                  <a:extLst>
                    <a:ext uri="{FF2B5EF4-FFF2-40B4-BE49-F238E27FC236}">
                      <a16:creationId xmlns:a16="http://schemas.microsoft.com/office/drawing/2014/main" id="{49105648-80A5-532C-3782-639F424418AE}"/>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46" name="그룹 345">
                <a:extLst>
                  <a:ext uri="{FF2B5EF4-FFF2-40B4-BE49-F238E27FC236}">
                    <a16:creationId xmlns:a16="http://schemas.microsoft.com/office/drawing/2014/main" id="{4F3D1BFB-D9B2-1AC3-D764-956EE0971B6C}"/>
                  </a:ext>
                </a:extLst>
              </p:cNvPr>
              <p:cNvGrpSpPr/>
              <p:nvPr/>
            </p:nvGrpSpPr>
            <p:grpSpPr>
              <a:xfrm>
                <a:off x="4447759" y="4292964"/>
                <a:ext cx="423468" cy="360000"/>
                <a:chOff x="7052940" y="4795215"/>
                <a:chExt cx="423468" cy="360000"/>
              </a:xfrm>
            </p:grpSpPr>
            <p:sp>
              <p:nvSpPr>
                <p:cNvPr id="350" name="타원 349">
                  <a:extLst>
                    <a:ext uri="{FF2B5EF4-FFF2-40B4-BE49-F238E27FC236}">
                      <a16:creationId xmlns:a16="http://schemas.microsoft.com/office/drawing/2014/main" id="{295746EA-0179-9C95-99B6-BD1FC47A6E02}"/>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TextBox 350">
                  <a:extLst>
                    <a:ext uri="{FF2B5EF4-FFF2-40B4-BE49-F238E27FC236}">
                      <a16:creationId xmlns:a16="http://schemas.microsoft.com/office/drawing/2014/main" id="{997C2925-60D2-A4C6-5C3E-6DE55645E385}"/>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47" name="그룹 346">
                <a:extLst>
                  <a:ext uri="{FF2B5EF4-FFF2-40B4-BE49-F238E27FC236}">
                    <a16:creationId xmlns:a16="http://schemas.microsoft.com/office/drawing/2014/main" id="{8F463997-9ED7-CA59-595C-A0C2FBF976FE}"/>
                  </a:ext>
                </a:extLst>
              </p:cNvPr>
              <p:cNvGrpSpPr/>
              <p:nvPr/>
            </p:nvGrpSpPr>
            <p:grpSpPr>
              <a:xfrm>
                <a:off x="2543623" y="4287823"/>
                <a:ext cx="423468" cy="360000"/>
                <a:chOff x="7052940" y="4795215"/>
                <a:chExt cx="423468" cy="360000"/>
              </a:xfrm>
            </p:grpSpPr>
            <p:sp>
              <p:nvSpPr>
                <p:cNvPr id="348" name="타원 347">
                  <a:extLst>
                    <a:ext uri="{FF2B5EF4-FFF2-40B4-BE49-F238E27FC236}">
                      <a16:creationId xmlns:a16="http://schemas.microsoft.com/office/drawing/2014/main" id="{37B719F2-B13B-2630-0C3A-71D0CB8C9162}"/>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9" name="TextBox 348">
                  <a:extLst>
                    <a:ext uri="{FF2B5EF4-FFF2-40B4-BE49-F238E27FC236}">
                      <a16:creationId xmlns:a16="http://schemas.microsoft.com/office/drawing/2014/main" id="{6DC0A165-F8A2-F4C4-7FCE-54D7415CF7D6}"/>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grpSp>
          <p:nvGrpSpPr>
            <p:cNvPr id="333" name="그룹 332">
              <a:extLst>
                <a:ext uri="{FF2B5EF4-FFF2-40B4-BE49-F238E27FC236}">
                  <a16:creationId xmlns:a16="http://schemas.microsoft.com/office/drawing/2014/main" id="{B5EADF8D-2972-5A55-8FF1-D87DB09CB8DB}"/>
                </a:ext>
              </a:extLst>
            </p:cNvPr>
            <p:cNvGrpSpPr/>
            <p:nvPr/>
          </p:nvGrpSpPr>
          <p:grpSpPr>
            <a:xfrm>
              <a:off x="1297504" y="2659440"/>
              <a:ext cx="5585460" cy="384534"/>
              <a:chOff x="2804123" y="4769130"/>
              <a:chExt cx="5585460" cy="384534"/>
            </a:xfrm>
          </p:grpSpPr>
          <p:cxnSp>
            <p:nvCxnSpPr>
              <p:cNvPr id="334" name="직선 화살표 연결선 333">
                <a:extLst>
                  <a:ext uri="{FF2B5EF4-FFF2-40B4-BE49-F238E27FC236}">
                    <a16:creationId xmlns:a16="http://schemas.microsoft.com/office/drawing/2014/main" id="{F9EF5618-94A3-ED55-BED7-549D48D69C2F}"/>
                  </a:ext>
                </a:extLst>
              </p:cNvPr>
              <p:cNvCxnSpPr/>
              <p:nvPr/>
            </p:nvCxnSpPr>
            <p:spPr>
              <a:xfrm>
                <a:off x="2804123" y="5153664"/>
                <a:ext cx="55854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35" name="그룹 334">
                <a:extLst>
                  <a:ext uri="{FF2B5EF4-FFF2-40B4-BE49-F238E27FC236}">
                    <a16:creationId xmlns:a16="http://schemas.microsoft.com/office/drawing/2014/main" id="{81752EBD-146C-0814-BC76-2D0FF08250A8}"/>
                  </a:ext>
                </a:extLst>
              </p:cNvPr>
              <p:cNvGrpSpPr/>
              <p:nvPr/>
            </p:nvGrpSpPr>
            <p:grpSpPr>
              <a:xfrm>
                <a:off x="7320797" y="4769681"/>
                <a:ext cx="423468" cy="360000"/>
                <a:chOff x="7052940" y="4795215"/>
                <a:chExt cx="423468" cy="360000"/>
              </a:xfrm>
            </p:grpSpPr>
            <p:sp>
              <p:nvSpPr>
                <p:cNvPr id="342" name="타원 341">
                  <a:extLst>
                    <a:ext uri="{FF2B5EF4-FFF2-40B4-BE49-F238E27FC236}">
                      <a16:creationId xmlns:a16="http://schemas.microsoft.com/office/drawing/2014/main" id="{0CA41E82-0031-E52A-263A-7F4D8AAA6A50}"/>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3" name="TextBox 342">
                  <a:extLst>
                    <a:ext uri="{FF2B5EF4-FFF2-40B4-BE49-F238E27FC236}">
                      <a16:creationId xmlns:a16="http://schemas.microsoft.com/office/drawing/2014/main" id="{B1BD88F0-678F-562B-F458-CD4F98BE7192}"/>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36" name="그룹 335">
                <a:extLst>
                  <a:ext uri="{FF2B5EF4-FFF2-40B4-BE49-F238E27FC236}">
                    <a16:creationId xmlns:a16="http://schemas.microsoft.com/office/drawing/2014/main" id="{7E020C99-0674-5105-0A42-631D1D5F82DE}"/>
                  </a:ext>
                </a:extLst>
              </p:cNvPr>
              <p:cNvGrpSpPr/>
              <p:nvPr/>
            </p:nvGrpSpPr>
            <p:grpSpPr>
              <a:xfrm>
                <a:off x="5354502" y="4774271"/>
                <a:ext cx="423468" cy="360000"/>
                <a:chOff x="7052940" y="4795215"/>
                <a:chExt cx="423468" cy="360000"/>
              </a:xfrm>
            </p:grpSpPr>
            <p:sp>
              <p:nvSpPr>
                <p:cNvPr id="340" name="타원 339">
                  <a:extLst>
                    <a:ext uri="{FF2B5EF4-FFF2-40B4-BE49-F238E27FC236}">
                      <a16:creationId xmlns:a16="http://schemas.microsoft.com/office/drawing/2014/main" id="{0FD8BACC-D56C-7BE9-332C-D0774547F160}"/>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41" name="TextBox 340">
                  <a:extLst>
                    <a:ext uri="{FF2B5EF4-FFF2-40B4-BE49-F238E27FC236}">
                      <a16:creationId xmlns:a16="http://schemas.microsoft.com/office/drawing/2014/main" id="{AF6138C0-8A53-5DE0-CFF3-BD9965770D79}"/>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37" name="그룹 336">
                <a:extLst>
                  <a:ext uri="{FF2B5EF4-FFF2-40B4-BE49-F238E27FC236}">
                    <a16:creationId xmlns:a16="http://schemas.microsoft.com/office/drawing/2014/main" id="{48684697-FDD8-9752-F656-9633DC0338E9}"/>
                  </a:ext>
                </a:extLst>
              </p:cNvPr>
              <p:cNvGrpSpPr/>
              <p:nvPr/>
            </p:nvGrpSpPr>
            <p:grpSpPr>
              <a:xfrm>
                <a:off x="3450366" y="4769130"/>
                <a:ext cx="423468" cy="360000"/>
                <a:chOff x="7052940" y="4795215"/>
                <a:chExt cx="423468" cy="360000"/>
              </a:xfrm>
            </p:grpSpPr>
            <p:sp>
              <p:nvSpPr>
                <p:cNvPr id="338" name="타원 337">
                  <a:extLst>
                    <a:ext uri="{FF2B5EF4-FFF2-40B4-BE49-F238E27FC236}">
                      <a16:creationId xmlns:a16="http://schemas.microsoft.com/office/drawing/2014/main" id="{149F4757-40C0-2980-69AD-6E7C1B01054B}"/>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9" name="TextBox 338">
                  <a:extLst>
                    <a:ext uri="{FF2B5EF4-FFF2-40B4-BE49-F238E27FC236}">
                      <a16:creationId xmlns:a16="http://schemas.microsoft.com/office/drawing/2014/main" id="{7C782AFE-81DB-BF1D-ECB6-2E306AF0432F}"/>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grpSp>
      <p:grpSp>
        <p:nvGrpSpPr>
          <p:cNvPr id="365" name="그룹 364">
            <a:extLst>
              <a:ext uri="{FF2B5EF4-FFF2-40B4-BE49-F238E27FC236}">
                <a16:creationId xmlns:a16="http://schemas.microsoft.com/office/drawing/2014/main" id="{FAC31D9E-2AC8-EEFD-70C4-414E5973140B}"/>
              </a:ext>
            </a:extLst>
          </p:cNvPr>
          <p:cNvGrpSpPr/>
          <p:nvPr/>
        </p:nvGrpSpPr>
        <p:grpSpPr>
          <a:xfrm>
            <a:off x="1754704" y="3116640"/>
            <a:ext cx="5585460" cy="1490049"/>
            <a:chOff x="1297504" y="2659440"/>
            <a:chExt cx="5585460" cy="1490049"/>
          </a:xfrm>
        </p:grpSpPr>
        <p:grpSp>
          <p:nvGrpSpPr>
            <p:cNvPr id="366" name="그룹 365">
              <a:extLst>
                <a:ext uri="{FF2B5EF4-FFF2-40B4-BE49-F238E27FC236}">
                  <a16:creationId xmlns:a16="http://schemas.microsoft.com/office/drawing/2014/main" id="{8C70A8B4-4F94-079F-815B-830C7D7A8154}"/>
                </a:ext>
              </a:extLst>
            </p:cNvPr>
            <p:cNvGrpSpPr/>
            <p:nvPr/>
          </p:nvGrpSpPr>
          <p:grpSpPr>
            <a:xfrm>
              <a:off x="1457621" y="2856248"/>
              <a:ext cx="5319661" cy="1088200"/>
              <a:chOff x="1457621" y="2856248"/>
              <a:chExt cx="5319661" cy="1088200"/>
            </a:xfrm>
          </p:grpSpPr>
          <p:grpSp>
            <p:nvGrpSpPr>
              <p:cNvPr id="389" name="그룹 388">
                <a:extLst>
                  <a:ext uri="{FF2B5EF4-FFF2-40B4-BE49-F238E27FC236}">
                    <a16:creationId xmlns:a16="http://schemas.microsoft.com/office/drawing/2014/main" id="{0D6BB92F-7E49-E9CD-9953-4731752F4E2A}"/>
                  </a:ext>
                </a:extLst>
              </p:cNvPr>
              <p:cNvGrpSpPr/>
              <p:nvPr/>
            </p:nvGrpSpPr>
            <p:grpSpPr>
              <a:xfrm>
                <a:off x="3380099" y="2856248"/>
                <a:ext cx="1474705" cy="1074728"/>
                <a:chOff x="2352577" y="2695993"/>
                <a:chExt cx="1946046" cy="1511439"/>
              </a:xfrm>
            </p:grpSpPr>
            <p:sp>
              <p:nvSpPr>
                <p:cNvPr id="398" name="사각형: 둥근 모서리 397">
                  <a:extLst>
                    <a:ext uri="{FF2B5EF4-FFF2-40B4-BE49-F238E27FC236}">
                      <a16:creationId xmlns:a16="http://schemas.microsoft.com/office/drawing/2014/main" id="{13D6FC48-B672-E750-C632-644D824DD35E}"/>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9" name="TextBox 398">
                  <a:extLst>
                    <a:ext uri="{FF2B5EF4-FFF2-40B4-BE49-F238E27FC236}">
                      <a16:creationId xmlns:a16="http://schemas.microsoft.com/office/drawing/2014/main" id="{803FF226-9CB9-4AD4-85DE-C9E32C8B19E1}"/>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390" name="화살표: 오른쪽 389">
                <a:extLst>
                  <a:ext uri="{FF2B5EF4-FFF2-40B4-BE49-F238E27FC236}">
                    <a16:creationId xmlns:a16="http://schemas.microsoft.com/office/drawing/2014/main" id="{0BD4F95F-6C3C-BD58-5B49-50DAABA274D1}"/>
                  </a:ext>
                </a:extLst>
              </p:cNvPr>
              <p:cNvSpPr/>
              <p:nvPr/>
            </p:nvSpPr>
            <p:spPr>
              <a:xfrm>
                <a:off x="4854804" y="330700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1" name="화살표: 오른쪽 390">
                <a:extLst>
                  <a:ext uri="{FF2B5EF4-FFF2-40B4-BE49-F238E27FC236}">
                    <a16:creationId xmlns:a16="http://schemas.microsoft.com/office/drawing/2014/main" id="{E1ED6DFC-D8F4-2FA2-EE90-B293804D0626}"/>
                  </a:ext>
                </a:extLst>
              </p:cNvPr>
              <p:cNvSpPr/>
              <p:nvPr/>
            </p:nvSpPr>
            <p:spPr>
              <a:xfrm>
                <a:off x="2932326" y="3314074"/>
                <a:ext cx="450130" cy="18602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92" name="그룹 391">
                <a:extLst>
                  <a:ext uri="{FF2B5EF4-FFF2-40B4-BE49-F238E27FC236}">
                    <a16:creationId xmlns:a16="http://schemas.microsoft.com/office/drawing/2014/main" id="{F4E3A471-2092-34E5-B600-1D5C2B08288E}"/>
                  </a:ext>
                </a:extLst>
              </p:cNvPr>
              <p:cNvGrpSpPr/>
              <p:nvPr/>
            </p:nvGrpSpPr>
            <p:grpSpPr>
              <a:xfrm>
                <a:off x="5302577" y="2869720"/>
                <a:ext cx="1474705" cy="1074728"/>
                <a:chOff x="2352577" y="2695993"/>
                <a:chExt cx="1946046" cy="1511439"/>
              </a:xfrm>
            </p:grpSpPr>
            <p:sp>
              <p:nvSpPr>
                <p:cNvPr id="396" name="사각형: 둥근 모서리 395">
                  <a:extLst>
                    <a:ext uri="{FF2B5EF4-FFF2-40B4-BE49-F238E27FC236}">
                      <a16:creationId xmlns:a16="http://schemas.microsoft.com/office/drawing/2014/main" id="{B2BF039A-80B3-F984-0B25-CB663AE5E3A8}"/>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7" name="TextBox 396">
                  <a:extLst>
                    <a:ext uri="{FF2B5EF4-FFF2-40B4-BE49-F238E27FC236}">
                      <a16:creationId xmlns:a16="http://schemas.microsoft.com/office/drawing/2014/main" id="{7E4F5C08-013C-1CF3-284E-4107D7AA3ACE}"/>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93" name="그룹 392">
                <a:extLst>
                  <a:ext uri="{FF2B5EF4-FFF2-40B4-BE49-F238E27FC236}">
                    <a16:creationId xmlns:a16="http://schemas.microsoft.com/office/drawing/2014/main" id="{159F661F-4EE0-AAFE-C337-A6FA30E26BC2}"/>
                  </a:ext>
                </a:extLst>
              </p:cNvPr>
              <p:cNvGrpSpPr/>
              <p:nvPr/>
            </p:nvGrpSpPr>
            <p:grpSpPr>
              <a:xfrm>
                <a:off x="1457621" y="2869720"/>
                <a:ext cx="1474705" cy="1074728"/>
                <a:chOff x="2352577" y="2695993"/>
                <a:chExt cx="1946046" cy="1511439"/>
              </a:xfrm>
            </p:grpSpPr>
            <p:sp>
              <p:nvSpPr>
                <p:cNvPr id="394" name="사각형: 둥근 모서리 393">
                  <a:extLst>
                    <a:ext uri="{FF2B5EF4-FFF2-40B4-BE49-F238E27FC236}">
                      <a16:creationId xmlns:a16="http://schemas.microsoft.com/office/drawing/2014/main" id="{59389FE9-2B9D-2A78-6EC6-46ED09E9596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5" name="TextBox 394">
                  <a:extLst>
                    <a:ext uri="{FF2B5EF4-FFF2-40B4-BE49-F238E27FC236}">
                      <a16:creationId xmlns:a16="http://schemas.microsoft.com/office/drawing/2014/main" id="{B584B57F-42AB-FF84-6EB1-5B6CC439E674}"/>
                    </a:ext>
                  </a:extLst>
                </p:cNvPr>
                <p:cNvSpPr txBox="1"/>
                <p:nvPr/>
              </p:nvSpPr>
              <p:spPr>
                <a:xfrm>
                  <a:off x="3058535" y="3068302"/>
                  <a:ext cx="349086" cy="52322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grpSp>
          <p:nvGrpSpPr>
            <p:cNvPr id="367" name="그룹 366">
              <a:extLst>
                <a:ext uri="{FF2B5EF4-FFF2-40B4-BE49-F238E27FC236}">
                  <a16:creationId xmlns:a16="http://schemas.microsoft.com/office/drawing/2014/main" id="{5C05B9B1-D0EA-4F3B-5E53-4B471306DBF7}"/>
                </a:ext>
              </a:extLst>
            </p:cNvPr>
            <p:cNvGrpSpPr/>
            <p:nvPr/>
          </p:nvGrpSpPr>
          <p:grpSpPr>
            <a:xfrm>
              <a:off x="1297504" y="3765022"/>
              <a:ext cx="5585460" cy="384467"/>
              <a:chOff x="1897380" y="4268497"/>
              <a:chExt cx="5585460" cy="384467"/>
            </a:xfrm>
          </p:grpSpPr>
          <p:cxnSp>
            <p:nvCxnSpPr>
              <p:cNvPr id="379" name="직선 화살표 연결선 378">
                <a:extLst>
                  <a:ext uri="{FF2B5EF4-FFF2-40B4-BE49-F238E27FC236}">
                    <a16:creationId xmlns:a16="http://schemas.microsoft.com/office/drawing/2014/main" id="{0B30536C-882F-8AB0-B123-90A0D1DAAF33}"/>
                  </a:ext>
                </a:extLst>
              </p:cNvPr>
              <p:cNvCxnSpPr/>
              <p:nvPr/>
            </p:nvCxnSpPr>
            <p:spPr>
              <a:xfrm>
                <a:off x="1897380" y="4268497"/>
                <a:ext cx="55854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80" name="그룹 379">
                <a:extLst>
                  <a:ext uri="{FF2B5EF4-FFF2-40B4-BE49-F238E27FC236}">
                    <a16:creationId xmlns:a16="http://schemas.microsoft.com/office/drawing/2014/main" id="{F7C949D2-AAA0-2E5C-0CB7-C3DFCF4954EA}"/>
                  </a:ext>
                </a:extLst>
              </p:cNvPr>
              <p:cNvGrpSpPr/>
              <p:nvPr/>
            </p:nvGrpSpPr>
            <p:grpSpPr>
              <a:xfrm>
                <a:off x="6414054" y="4288374"/>
                <a:ext cx="423468" cy="360000"/>
                <a:chOff x="7052940" y="4795215"/>
                <a:chExt cx="423468" cy="360000"/>
              </a:xfrm>
            </p:grpSpPr>
            <p:sp>
              <p:nvSpPr>
                <p:cNvPr id="387" name="타원 386">
                  <a:extLst>
                    <a:ext uri="{FF2B5EF4-FFF2-40B4-BE49-F238E27FC236}">
                      <a16:creationId xmlns:a16="http://schemas.microsoft.com/office/drawing/2014/main" id="{89CB8CAF-50D2-0549-98EB-7FCF4B768146}"/>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8" name="TextBox 387">
                  <a:extLst>
                    <a:ext uri="{FF2B5EF4-FFF2-40B4-BE49-F238E27FC236}">
                      <a16:creationId xmlns:a16="http://schemas.microsoft.com/office/drawing/2014/main" id="{1DFF8BA8-C45F-AE04-4D3C-10053B92972E}"/>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81" name="그룹 380">
                <a:extLst>
                  <a:ext uri="{FF2B5EF4-FFF2-40B4-BE49-F238E27FC236}">
                    <a16:creationId xmlns:a16="http://schemas.microsoft.com/office/drawing/2014/main" id="{EC403053-D7DA-5EAF-5BDA-22D11620AEF8}"/>
                  </a:ext>
                </a:extLst>
              </p:cNvPr>
              <p:cNvGrpSpPr/>
              <p:nvPr/>
            </p:nvGrpSpPr>
            <p:grpSpPr>
              <a:xfrm>
                <a:off x="4447759" y="4292964"/>
                <a:ext cx="423468" cy="360000"/>
                <a:chOff x="7052940" y="4795215"/>
                <a:chExt cx="423468" cy="360000"/>
              </a:xfrm>
            </p:grpSpPr>
            <p:sp>
              <p:nvSpPr>
                <p:cNvPr id="385" name="타원 384">
                  <a:extLst>
                    <a:ext uri="{FF2B5EF4-FFF2-40B4-BE49-F238E27FC236}">
                      <a16:creationId xmlns:a16="http://schemas.microsoft.com/office/drawing/2014/main" id="{A68341E2-9F54-B785-CFC1-75249EF56D59}"/>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6" name="TextBox 385">
                  <a:extLst>
                    <a:ext uri="{FF2B5EF4-FFF2-40B4-BE49-F238E27FC236}">
                      <a16:creationId xmlns:a16="http://schemas.microsoft.com/office/drawing/2014/main" id="{E26D8E97-B9A4-DF52-16A6-882F197CBD66}"/>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82" name="그룹 381">
                <a:extLst>
                  <a:ext uri="{FF2B5EF4-FFF2-40B4-BE49-F238E27FC236}">
                    <a16:creationId xmlns:a16="http://schemas.microsoft.com/office/drawing/2014/main" id="{354DB6F6-D84D-D9F5-C8BE-31972A216744}"/>
                  </a:ext>
                </a:extLst>
              </p:cNvPr>
              <p:cNvGrpSpPr/>
              <p:nvPr/>
            </p:nvGrpSpPr>
            <p:grpSpPr>
              <a:xfrm>
                <a:off x="2543623" y="4287823"/>
                <a:ext cx="423468" cy="360000"/>
                <a:chOff x="7052940" y="4795215"/>
                <a:chExt cx="423468" cy="360000"/>
              </a:xfrm>
            </p:grpSpPr>
            <p:sp>
              <p:nvSpPr>
                <p:cNvPr id="383" name="타원 382">
                  <a:extLst>
                    <a:ext uri="{FF2B5EF4-FFF2-40B4-BE49-F238E27FC236}">
                      <a16:creationId xmlns:a16="http://schemas.microsoft.com/office/drawing/2014/main" id="{7C3C848E-2022-4D4B-B852-E24D3C0EAC8E}"/>
                    </a:ext>
                  </a:extLst>
                </p:cNvPr>
                <p:cNvSpPr/>
                <p:nvPr/>
              </p:nvSpPr>
              <p:spPr>
                <a:xfrm>
                  <a:off x="7077714" y="4795215"/>
                  <a:ext cx="360000" cy="360000"/>
                </a:xfrm>
                <a:prstGeom prst="ellipse">
                  <a:avLst/>
                </a:prstGeom>
                <a:solidFill>
                  <a:srgbClr val="7030A0">
                    <a:alpha val="5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4" name="TextBox 383">
                  <a:extLst>
                    <a:ext uri="{FF2B5EF4-FFF2-40B4-BE49-F238E27FC236}">
                      <a16:creationId xmlns:a16="http://schemas.microsoft.com/office/drawing/2014/main" id="{EC983516-8340-F28C-EC89-DC35D3E9F960}"/>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grpSp>
          <p:nvGrpSpPr>
            <p:cNvPr id="368" name="그룹 367">
              <a:extLst>
                <a:ext uri="{FF2B5EF4-FFF2-40B4-BE49-F238E27FC236}">
                  <a16:creationId xmlns:a16="http://schemas.microsoft.com/office/drawing/2014/main" id="{5CA10026-6901-74B9-454E-A3B61CB5EBF2}"/>
                </a:ext>
              </a:extLst>
            </p:cNvPr>
            <p:cNvGrpSpPr/>
            <p:nvPr/>
          </p:nvGrpSpPr>
          <p:grpSpPr>
            <a:xfrm>
              <a:off x="1297504" y="2659440"/>
              <a:ext cx="5585460" cy="384534"/>
              <a:chOff x="2804123" y="4769130"/>
              <a:chExt cx="5585460" cy="384534"/>
            </a:xfrm>
          </p:grpSpPr>
          <p:cxnSp>
            <p:nvCxnSpPr>
              <p:cNvPr id="369" name="직선 화살표 연결선 368">
                <a:extLst>
                  <a:ext uri="{FF2B5EF4-FFF2-40B4-BE49-F238E27FC236}">
                    <a16:creationId xmlns:a16="http://schemas.microsoft.com/office/drawing/2014/main" id="{DA697514-8C74-BDA5-1579-298C0280BAD6}"/>
                  </a:ext>
                </a:extLst>
              </p:cNvPr>
              <p:cNvCxnSpPr/>
              <p:nvPr/>
            </p:nvCxnSpPr>
            <p:spPr>
              <a:xfrm>
                <a:off x="2804123" y="5153664"/>
                <a:ext cx="55854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70" name="그룹 369">
                <a:extLst>
                  <a:ext uri="{FF2B5EF4-FFF2-40B4-BE49-F238E27FC236}">
                    <a16:creationId xmlns:a16="http://schemas.microsoft.com/office/drawing/2014/main" id="{99611679-792C-AAB5-9523-0154B79463FA}"/>
                  </a:ext>
                </a:extLst>
              </p:cNvPr>
              <p:cNvGrpSpPr/>
              <p:nvPr/>
            </p:nvGrpSpPr>
            <p:grpSpPr>
              <a:xfrm>
                <a:off x="7320797" y="4769681"/>
                <a:ext cx="423468" cy="360000"/>
                <a:chOff x="7052940" y="4795215"/>
                <a:chExt cx="423468" cy="360000"/>
              </a:xfrm>
            </p:grpSpPr>
            <p:sp>
              <p:nvSpPr>
                <p:cNvPr id="377" name="타원 376">
                  <a:extLst>
                    <a:ext uri="{FF2B5EF4-FFF2-40B4-BE49-F238E27FC236}">
                      <a16:creationId xmlns:a16="http://schemas.microsoft.com/office/drawing/2014/main" id="{B277C506-9F1D-52B0-9965-44843EF43197}"/>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78" name="TextBox 377">
                  <a:extLst>
                    <a:ext uri="{FF2B5EF4-FFF2-40B4-BE49-F238E27FC236}">
                      <a16:creationId xmlns:a16="http://schemas.microsoft.com/office/drawing/2014/main" id="{F8F5407A-2572-1DFF-F274-352E67A79A3F}"/>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71" name="그룹 370">
                <a:extLst>
                  <a:ext uri="{FF2B5EF4-FFF2-40B4-BE49-F238E27FC236}">
                    <a16:creationId xmlns:a16="http://schemas.microsoft.com/office/drawing/2014/main" id="{7C1BE24E-A80A-427C-B3B8-3DE55699DF5D}"/>
                  </a:ext>
                </a:extLst>
              </p:cNvPr>
              <p:cNvGrpSpPr/>
              <p:nvPr/>
            </p:nvGrpSpPr>
            <p:grpSpPr>
              <a:xfrm>
                <a:off x="5354502" y="4774271"/>
                <a:ext cx="423468" cy="360000"/>
                <a:chOff x="7052940" y="4795215"/>
                <a:chExt cx="423468" cy="360000"/>
              </a:xfrm>
            </p:grpSpPr>
            <p:sp>
              <p:nvSpPr>
                <p:cNvPr id="375" name="타원 374">
                  <a:extLst>
                    <a:ext uri="{FF2B5EF4-FFF2-40B4-BE49-F238E27FC236}">
                      <a16:creationId xmlns:a16="http://schemas.microsoft.com/office/drawing/2014/main" id="{DB279194-4DB7-49CD-5E87-188AB9400DC9}"/>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76" name="TextBox 375">
                  <a:extLst>
                    <a:ext uri="{FF2B5EF4-FFF2-40B4-BE49-F238E27FC236}">
                      <a16:creationId xmlns:a16="http://schemas.microsoft.com/office/drawing/2014/main" id="{C8DC0675-585F-1766-8E8F-85F801E40B58}"/>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grpSp>
            <p:nvGrpSpPr>
              <p:cNvPr id="372" name="그룹 371">
                <a:extLst>
                  <a:ext uri="{FF2B5EF4-FFF2-40B4-BE49-F238E27FC236}">
                    <a16:creationId xmlns:a16="http://schemas.microsoft.com/office/drawing/2014/main" id="{604E633E-AE57-E669-6046-B1E7640DC90C}"/>
                  </a:ext>
                </a:extLst>
              </p:cNvPr>
              <p:cNvGrpSpPr/>
              <p:nvPr/>
            </p:nvGrpSpPr>
            <p:grpSpPr>
              <a:xfrm>
                <a:off x="3450366" y="4769130"/>
                <a:ext cx="423468" cy="360000"/>
                <a:chOff x="7052940" y="4795215"/>
                <a:chExt cx="423468" cy="360000"/>
              </a:xfrm>
            </p:grpSpPr>
            <p:sp>
              <p:nvSpPr>
                <p:cNvPr id="373" name="타원 372">
                  <a:extLst>
                    <a:ext uri="{FF2B5EF4-FFF2-40B4-BE49-F238E27FC236}">
                      <a16:creationId xmlns:a16="http://schemas.microsoft.com/office/drawing/2014/main" id="{060C1D86-27C5-C8A6-CCFE-AF2F89F631A7}"/>
                    </a:ext>
                  </a:extLst>
                </p:cNvPr>
                <p:cNvSpPr/>
                <p:nvPr/>
              </p:nvSpPr>
              <p:spPr>
                <a:xfrm>
                  <a:off x="7077714" y="4795215"/>
                  <a:ext cx="360000" cy="360000"/>
                </a:xfrm>
                <a:prstGeom prst="ellipse">
                  <a:avLst/>
                </a:prstGeom>
                <a:solidFill>
                  <a:schemeClr val="accent4">
                    <a:alpha val="5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74" name="TextBox 373">
                  <a:extLst>
                    <a:ext uri="{FF2B5EF4-FFF2-40B4-BE49-F238E27FC236}">
                      <a16:creationId xmlns:a16="http://schemas.microsoft.com/office/drawing/2014/main" id="{E0987F47-B4B5-6860-7495-84305A9F0DE2}"/>
                    </a:ext>
                  </a:extLst>
                </p:cNvPr>
                <p:cNvSpPr txBox="1"/>
                <p:nvPr/>
              </p:nvSpPr>
              <p:spPr>
                <a:xfrm>
                  <a:off x="7052940" y="4836715"/>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C</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grpSp>
      </p:grpSp>
      <p:sp>
        <p:nvSpPr>
          <p:cNvPr id="400" name="사각형: 둥근 모서리 399">
            <a:extLst>
              <a:ext uri="{FF2B5EF4-FFF2-40B4-BE49-F238E27FC236}">
                <a16:creationId xmlns:a16="http://schemas.microsoft.com/office/drawing/2014/main" id="{5660A234-D558-2F14-2F9D-ABA29A016775}"/>
              </a:ext>
            </a:extLst>
          </p:cNvPr>
          <p:cNvSpPr/>
          <p:nvPr/>
        </p:nvSpPr>
        <p:spPr>
          <a:xfrm rot="18713698">
            <a:off x="6047796" y="2409324"/>
            <a:ext cx="508265" cy="1386993"/>
          </a:xfrm>
          <a:prstGeom prst="roundRect">
            <a:avLst>
              <a:gd name="adj" fmla="val 31461"/>
            </a:avLst>
          </a:prstGeom>
          <a:solidFill>
            <a:srgbClr val="C00000">
              <a:alpha val="20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1" name="왼쪽 중괄호 400">
            <a:extLst>
              <a:ext uri="{FF2B5EF4-FFF2-40B4-BE49-F238E27FC236}">
                <a16:creationId xmlns:a16="http://schemas.microsoft.com/office/drawing/2014/main" id="{2D140AD3-2A4A-DFE9-6920-597D74960B21}"/>
              </a:ext>
            </a:extLst>
          </p:cNvPr>
          <p:cNvSpPr/>
          <p:nvPr/>
        </p:nvSpPr>
        <p:spPr>
          <a:xfrm rot="19148014">
            <a:off x="1187284" y="3312434"/>
            <a:ext cx="569223" cy="956772"/>
          </a:xfrm>
          <a:prstGeom prst="leftBrace">
            <a:avLst>
              <a:gd name="adj1" fmla="val 49916"/>
              <a:gd name="adj2" fmla="val 42499"/>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403" name="TextBox 402">
            <a:extLst>
              <a:ext uri="{FF2B5EF4-FFF2-40B4-BE49-F238E27FC236}">
                <a16:creationId xmlns:a16="http://schemas.microsoft.com/office/drawing/2014/main" id="{B64E45C6-9702-C906-2B56-BB1DC5215D91}"/>
              </a:ext>
            </a:extLst>
          </p:cNvPr>
          <p:cNvSpPr txBox="1"/>
          <p:nvPr/>
        </p:nvSpPr>
        <p:spPr>
          <a:xfrm rot="2626637">
            <a:off x="5937050" y="2661786"/>
            <a:ext cx="1600521" cy="369332"/>
          </a:xfrm>
          <a:prstGeom prst="rect">
            <a:avLst/>
          </a:prstGeom>
          <a:noFill/>
        </p:spPr>
        <p:txBody>
          <a:bodyPr wrap="square">
            <a:spAutoFit/>
          </a:bodyPr>
          <a:lstStyle/>
          <a:p>
            <a:r>
              <a:rPr lang="en-US" altLang="ko-KR" sz="1800">
                <a:solidFill>
                  <a:srgbClr val="222222"/>
                </a:solidFill>
                <a:latin typeface="Arial Narrow" panose="020B0606020202030204" pitchFamily="34" charset="0"/>
              </a:rPr>
              <a:t>Last cell states </a:t>
            </a:r>
            <a:endParaRPr lang="ko-KR" altLang="en-US" dirty="0"/>
          </a:p>
        </p:txBody>
      </p:sp>
      <p:sp>
        <p:nvSpPr>
          <p:cNvPr id="404" name="TextBox 403">
            <a:extLst>
              <a:ext uri="{FF2B5EF4-FFF2-40B4-BE49-F238E27FC236}">
                <a16:creationId xmlns:a16="http://schemas.microsoft.com/office/drawing/2014/main" id="{C94FADA8-3014-EF3A-2C08-0ED411B67507}"/>
              </a:ext>
            </a:extLst>
          </p:cNvPr>
          <p:cNvSpPr txBox="1"/>
          <p:nvPr/>
        </p:nvSpPr>
        <p:spPr>
          <a:xfrm rot="2626637">
            <a:off x="5584044" y="4908117"/>
            <a:ext cx="1876928" cy="369332"/>
          </a:xfrm>
          <a:prstGeom prst="rect">
            <a:avLst/>
          </a:prstGeom>
          <a:noFill/>
        </p:spPr>
        <p:txBody>
          <a:bodyPr wrap="square">
            <a:spAutoFit/>
          </a:bodyPr>
          <a:lstStyle/>
          <a:p>
            <a:r>
              <a:rPr lang="en-US" altLang="ko-KR" sz="1800">
                <a:solidFill>
                  <a:srgbClr val="222222"/>
                </a:solidFill>
                <a:latin typeface="Arial Narrow" panose="020B0606020202030204" pitchFamily="34" charset="0"/>
              </a:rPr>
              <a:t>Last hidden </a:t>
            </a:r>
            <a:r>
              <a:rPr lang="en-US" altLang="ko-KR" sz="1800" dirty="0">
                <a:solidFill>
                  <a:srgbClr val="222222"/>
                </a:solidFill>
                <a:latin typeface="Arial Narrow" panose="020B0606020202030204" pitchFamily="34" charset="0"/>
              </a:rPr>
              <a:t>states </a:t>
            </a:r>
            <a:endParaRPr lang="ko-KR" altLang="en-US" dirty="0"/>
          </a:p>
        </p:txBody>
      </p:sp>
      <p:sp>
        <p:nvSpPr>
          <p:cNvPr id="16" name="직사각형 15">
            <a:extLst>
              <a:ext uri="{FF2B5EF4-FFF2-40B4-BE49-F238E27FC236}">
                <a16:creationId xmlns:a16="http://schemas.microsoft.com/office/drawing/2014/main" id="{16E5ACD3-DE7B-8710-EA74-38472F542361}"/>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6962236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Stacked LSTM</a:t>
            </a:r>
          </a:p>
        </p:txBody>
      </p:sp>
      <p:sp>
        <p:nvSpPr>
          <p:cNvPr id="17" name="화살표: 오른쪽 16">
            <a:extLst>
              <a:ext uri="{FF2B5EF4-FFF2-40B4-BE49-F238E27FC236}">
                <a16:creationId xmlns:a16="http://schemas.microsoft.com/office/drawing/2014/main" id="{0E19E40E-4AD2-CBD9-7F47-1BBABFF341C6}"/>
              </a:ext>
            </a:extLst>
          </p:cNvPr>
          <p:cNvSpPr/>
          <p:nvPr/>
        </p:nvSpPr>
        <p:spPr>
          <a:xfrm>
            <a:off x="1571208" y="4161971"/>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 name="그룹 17">
            <a:extLst>
              <a:ext uri="{FF2B5EF4-FFF2-40B4-BE49-F238E27FC236}">
                <a16:creationId xmlns:a16="http://schemas.microsoft.com/office/drawing/2014/main" id="{FB55618F-7DB0-8122-462A-D84D8A0AD07E}"/>
              </a:ext>
            </a:extLst>
          </p:cNvPr>
          <p:cNvGrpSpPr/>
          <p:nvPr/>
        </p:nvGrpSpPr>
        <p:grpSpPr>
          <a:xfrm>
            <a:off x="948890" y="3961708"/>
            <a:ext cx="607582" cy="582171"/>
            <a:chOff x="2352577" y="2695993"/>
            <a:chExt cx="1946046" cy="1511439"/>
          </a:xfrm>
        </p:grpSpPr>
        <p:sp>
          <p:nvSpPr>
            <p:cNvPr id="53" name="사각형: 둥근 모서리 52">
              <a:extLst>
                <a:ext uri="{FF2B5EF4-FFF2-40B4-BE49-F238E27FC236}">
                  <a16:creationId xmlns:a16="http://schemas.microsoft.com/office/drawing/2014/main" id="{42A05EDF-7C08-9F38-D190-27448B71C1C0}"/>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TextBox 54">
              <a:extLst>
                <a:ext uri="{FF2B5EF4-FFF2-40B4-BE49-F238E27FC236}">
                  <a16:creationId xmlns:a16="http://schemas.microsoft.com/office/drawing/2014/main" id="{1382B41A-BED4-17FC-BBC8-184589EB67C7}"/>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9" name="그룹 18">
            <a:extLst>
              <a:ext uri="{FF2B5EF4-FFF2-40B4-BE49-F238E27FC236}">
                <a16:creationId xmlns:a16="http://schemas.microsoft.com/office/drawing/2014/main" id="{08A9B520-F5D0-BAF2-C226-F8CFC5A69944}"/>
              </a:ext>
            </a:extLst>
          </p:cNvPr>
          <p:cNvGrpSpPr/>
          <p:nvPr/>
        </p:nvGrpSpPr>
        <p:grpSpPr>
          <a:xfrm>
            <a:off x="1050445" y="4775821"/>
            <a:ext cx="423468" cy="360000"/>
            <a:chOff x="1102837" y="4534057"/>
            <a:chExt cx="423468" cy="360000"/>
          </a:xfrm>
        </p:grpSpPr>
        <p:sp>
          <p:nvSpPr>
            <p:cNvPr id="51" name="타원 50">
              <a:extLst>
                <a:ext uri="{FF2B5EF4-FFF2-40B4-BE49-F238E27FC236}">
                  <a16:creationId xmlns:a16="http://schemas.microsoft.com/office/drawing/2014/main" id="{02725B4E-6A13-FD0D-53BE-13DAF231CFEE}"/>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TextBox 51">
              <a:extLst>
                <a:ext uri="{FF2B5EF4-FFF2-40B4-BE49-F238E27FC236}">
                  <a16:creationId xmlns:a16="http://schemas.microsoft.com/office/drawing/2014/main" id="{469C8BED-E9E0-C03A-FAFE-1BA2F22F33D4}"/>
                </a:ext>
              </a:extLst>
            </p:cNvPr>
            <p:cNvSpPr txBox="1"/>
            <p:nvPr/>
          </p:nvSpPr>
          <p:spPr>
            <a:xfrm>
              <a:off x="1102837"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21" name="화살표: 오른쪽 20">
            <a:extLst>
              <a:ext uri="{FF2B5EF4-FFF2-40B4-BE49-F238E27FC236}">
                <a16:creationId xmlns:a16="http://schemas.microsoft.com/office/drawing/2014/main" id="{5469AF55-D0C1-5A2E-D80C-9DBECFCE017F}"/>
              </a:ext>
            </a:extLst>
          </p:cNvPr>
          <p:cNvSpPr/>
          <p:nvPr/>
        </p:nvSpPr>
        <p:spPr>
          <a:xfrm rot="16200000">
            <a:off x="1136410" y="4592534"/>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화살표: 오른쪽 22">
            <a:extLst>
              <a:ext uri="{FF2B5EF4-FFF2-40B4-BE49-F238E27FC236}">
                <a16:creationId xmlns:a16="http://schemas.microsoft.com/office/drawing/2014/main" id="{708B330B-EFF1-E22E-6615-B489F064BA63}"/>
              </a:ext>
            </a:extLst>
          </p:cNvPr>
          <p:cNvSpPr/>
          <p:nvPr/>
        </p:nvSpPr>
        <p:spPr>
          <a:xfrm>
            <a:off x="2440154" y="4159034"/>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 name="그룹 23">
            <a:extLst>
              <a:ext uri="{FF2B5EF4-FFF2-40B4-BE49-F238E27FC236}">
                <a16:creationId xmlns:a16="http://schemas.microsoft.com/office/drawing/2014/main" id="{8D3445C6-735E-4C01-1965-56274D5934F8}"/>
              </a:ext>
            </a:extLst>
          </p:cNvPr>
          <p:cNvGrpSpPr/>
          <p:nvPr/>
        </p:nvGrpSpPr>
        <p:grpSpPr>
          <a:xfrm>
            <a:off x="1817836" y="3958771"/>
            <a:ext cx="607582" cy="582171"/>
            <a:chOff x="2352577" y="2695993"/>
            <a:chExt cx="1946046" cy="1511439"/>
          </a:xfrm>
        </p:grpSpPr>
        <p:sp>
          <p:nvSpPr>
            <p:cNvPr id="47" name="사각형: 둥근 모서리 46">
              <a:extLst>
                <a:ext uri="{FF2B5EF4-FFF2-40B4-BE49-F238E27FC236}">
                  <a16:creationId xmlns:a16="http://schemas.microsoft.com/office/drawing/2014/main" id="{E749A148-F5FB-4670-1454-CBF7B7EB181F}"/>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TextBox 47">
              <a:extLst>
                <a:ext uri="{FF2B5EF4-FFF2-40B4-BE49-F238E27FC236}">
                  <a16:creationId xmlns:a16="http://schemas.microsoft.com/office/drawing/2014/main" id="{7B0B1263-4C3C-210B-E890-F74125EA993C}"/>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25" name="그룹 24">
            <a:extLst>
              <a:ext uri="{FF2B5EF4-FFF2-40B4-BE49-F238E27FC236}">
                <a16:creationId xmlns:a16="http://schemas.microsoft.com/office/drawing/2014/main" id="{01A458AC-AEEA-884C-0692-A2272D0B6957}"/>
              </a:ext>
            </a:extLst>
          </p:cNvPr>
          <p:cNvGrpSpPr/>
          <p:nvPr/>
        </p:nvGrpSpPr>
        <p:grpSpPr>
          <a:xfrm>
            <a:off x="1900341" y="4772884"/>
            <a:ext cx="423468" cy="360000"/>
            <a:chOff x="1083787" y="4534057"/>
            <a:chExt cx="423468" cy="360000"/>
          </a:xfrm>
        </p:grpSpPr>
        <p:sp>
          <p:nvSpPr>
            <p:cNvPr id="45" name="타원 44">
              <a:extLst>
                <a:ext uri="{FF2B5EF4-FFF2-40B4-BE49-F238E27FC236}">
                  <a16:creationId xmlns:a16="http://schemas.microsoft.com/office/drawing/2014/main" id="{D5B65928-8F01-2D38-1074-4C1AB995D805}"/>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TextBox 45">
              <a:extLst>
                <a:ext uri="{FF2B5EF4-FFF2-40B4-BE49-F238E27FC236}">
                  <a16:creationId xmlns:a16="http://schemas.microsoft.com/office/drawing/2014/main" id="{9837AF48-1B15-C4DB-2B08-618AD8223D47}"/>
                </a:ext>
              </a:extLst>
            </p:cNvPr>
            <p:cNvSpPr txBox="1"/>
            <p:nvPr/>
          </p:nvSpPr>
          <p:spPr>
            <a:xfrm>
              <a:off x="1083787"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27" name="화살표: 오른쪽 26">
            <a:extLst>
              <a:ext uri="{FF2B5EF4-FFF2-40B4-BE49-F238E27FC236}">
                <a16:creationId xmlns:a16="http://schemas.microsoft.com/office/drawing/2014/main" id="{C589E5F9-E4DD-2CC9-A517-6946D32A32F0}"/>
              </a:ext>
            </a:extLst>
          </p:cNvPr>
          <p:cNvSpPr/>
          <p:nvPr/>
        </p:nvSpPr>
        <p:spPr>
          <a:xfrm rot="16200000">
            <a:off x="1995831" y="4589597"/>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0" name="그룹 29">
            <a:extLst>
              <a:ext uri="{FF2B5EF4-FFF2-40B4-BE49-F238E27FC236}">
                <a16:creationId xmlns:a16="http://schemas.microsoft.com/office/drawing/2014/main" id="{8E525BA4-DA76-B4FD-52F7-BEC8A5A7AB0A}"/>
              </a:ext>
            </a:extLst>
          </p:cNvPr>
          <p:cNvGrpSpPr/>
          <p:nvPr/>
        </p:nvGrpSpPr>
        <p:grpSpPr>
          <a:xfrm>
            <a:off x="2692774" y="3959247"/>
            <a:ext cx="607582" cy="582171"/>
            <a:chOff x="2352577" y="2695993"/>
            <a:chExt cx="1946046" cy="1511439"/>
          </a:xfrm>
        </p:grpSpPr>
        <p:sp>
          <p:nvSpPr>
            <p:cNvPr id="41" name="사각형: 둥근 모서리 40">
              <a:extLst>
                <a:ext uri="{FF2B5EF4-FFF2-40B4-BE49-F238E27FC236}">
                  <a16:creationId xmlns:a16="http://schemas.microsoft.com/office/drawing/2014/main" id="{40025632-01F6-7DED-35F7-4C8BDCB379B8}"/>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TextBox 41">
              <a:extLst>
                <a:ext uri="{FF2B5EF4-FFF2-40B4-BE49-F238E27FC236}">
                  <a16:creationId xmlns:a16="http://schemas.microsoft.com/office/drawing/2014/main" id="{AEE5B472-0D95-A3C0-0AB6-0A67DD6308F1}"/>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1" name="그룹 30">
            <a:extLst>
              <a:ext uri="{FF2B5EF4-FFF2-40B4-BE49-F238E27FC236}">
                <a16:creationId xmlns:a16="http://schemas.microsoft.com/office/drawing/2014/main" id="{91239B2D-2AAF-2B44-0A00-54FDC16B935F}"/>
              </a:ext>
            </a:extLst>
          </p:cNvPr>
          <p:cNvGrpSpPr/>
          <p:nvPr/>
        </p:nvGrpSpPr>
        <p:grpSpPr>
          <a:xfrm>
            <a:off x="2784804" y="4773360"/>
            <a:ext cx="423468" cy="360000"/>
            <a:chOff x="1093312" y="4534057"/>
            <a:chExt cx="423468" cy="360000"/>
          </a:xfrm>
        </p:grpSpPr>
        <p:sp>
          <p:nvSpPr>
            <p:cNvPr id="39" name="타원 38">
              <a:extLst>
                <a:ext uri="{FF2B5EF4-FFF2-40B4-BE49-F238E27FC236}">
                  <a16:creationId xmlns:a16="http://schemas.microsoft.com/office/drawing/2014/main" id="{7E2E2F78-BC7E-566F-B4E4-7964CF4742B0}"/>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TextBox 39">
              <a:extLst>
                <a:ext uri="{FF2B5EF4-FFF2-40B4-BE49-F238E27FC236}">
                  <a16:creationId xmlns:a16="http://schemas.microsoft.com/office/drawing/2014/main" id="{AAF9B173-B007-F6CD-2865-5DE2C6E7CBC7}"/>
                </a:ext>
              </a:extLst>
            </p:cNvPr>
            <p:cNvSpPr txBox="1"/>
            <p:nvPr/>
          </p:nvSpPr>
          <p:spPr>
            <a:xfrm>
              <a:off x="109331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33" name="화살표: 오른쪽 32">
            <a:extLst>
              <a:ext uri="{FF2B5EF4-FFF2-40B4-BE49-F238E27FC236}">
                <a16:creationId xmlns:a16="http://schemas.microsoft.com/office/drawing/2014/main" id="{0F592396-9905-DC66-0697-C36F134E1D2E}"/>
              </a:ext>
            </a:extLst>
          </p:cNvPr>
          <p:cNvSpPr/>
          <p:nvPr/>
        </p:nvSpPr>
        <p:spPr>
          <a:xfrm rot="16200000">
            <a:off x="2870769" y="4590073"/>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17" name="화살표: 오른쪽 116">
            <a:extLst>
              <a:ext uri="{FF2B5EF4-FFF2-40B4-BE49-F238E27FC236}">
                <a16:creationId xmlns:a16="http://schemas.microsoft.com/office/drawing/2014/main" id="{BAE7BC0C-24DC-CA22-CE50-5B3D950E281D}"/>
              </a:ext>
            </a:extLst>
          </p:cNvPr>
          <p:cNvSpPr/>
          <p:nvPr/>
        </p:nvSpPr>
        <p:spPr>
          <a:xfrm rot="16200000">
            <a:off x="2866919" y="3769951"/>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18" name="화살표: 오른쪽 117">
            <a:extLst>
              <a:ext uri="{FF2B5EF4-FFF2-40B4-BE49-F238E27FC236}">
                <a16:creationId xmlns:a16="http://schemas.microsoft.com/office/drawing/2014/main" id="{EBAE1F19-436A-B564-1530-87647179201C}"/>
              </a:ext>
            </a:extLst>
          </p:cNvPr>
          <p:cNvSpPr/>
          <p:nvPr/>
        </p:nvSpPr>
        <p:spPr>
          <a:xfrm>
            <a:off x="1571208" y="333450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9" name="그룹 118">
            <a:extLst>
              <a:ext uri="{FF2B5EF4-FFF2-40B4-BE49-F238E27FC236}">
                <a16:creationId xmlns:a16="http://schemas.microsoft.com/office/drawing/2014/main" id="{BFB51C7B-7F01-C193-7B3A-E2F2410EE0F7}"/>
              </a:ext>
            </a:extLst>
          </p:cNvPr>
          <p:cNvGrpSpPr/>
          <p:nvPr/>
        </p:nvGrpSpPr>
        <p:grpSpPr>
          <a:xfrm>
            <a:off x="948890" y="3134239"/>
            <a:ext cx="607582" cy="582171"/>
            <a:chOff x="2352577" y="2695993"/>
            <a:chExt cx="1946046" cy="1511439"/>
          </a:xfrm>
        </p:grpSpPr>
        <p:sp>
          <p:nvSpPr>
            <p:cNvPr id="120" name="사각형: 둥근 모서리 119">
              <a:extLst>
                <a:ext uri="{FF2B5EF4-FFF2-40B4-BE49-F238E27FC236}">
                  <a16:creationId xmlns:a16="http://schemas.microsoft.com/office/drawing/2014/main" id="{923A019B-D3AE-0D1B-6BD9-0F3C7057330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1" name="TextBox 120">
              <a:extLst>
                <a:ext uri="{FF2B5EF4-FFF2-40B4-BE49-F238E27FC236}">
                  <a16:creationId xmlns:a16="http://schemas.microsoft.com/office/drawing/2014/main" id="{5DDC2A37-EEE4-9578-1E61-2B58BAB1FFB0}"/>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122" name="화살표: 오른쪽 121">
            <a:extLst>
              <a:ext uri="{FF2B5EF4-FFF2-40B4-BE49-F238E27FC236}">
                <a16:creationId xmlns:a16="http://schemas.microsoft.com/office/drawing/2014/main" id="{C213FB2B-117D-D37E-8EDD-DABDEDA340E3}"/>
              </a:ext>
            </a:extLst>
          </p:cNvPr>
          <p:cNvSpPr/>
          <p:nvPr/>
        </p:nvSpPr>
        <p:spPr>
          <a:xfrm>
            <a:off x="2440154" y="3331565"/>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3" name="그룹 122">
            <a:extLst>
              <a:ext uri="{FF2B5EF4-FFF2-40B4-BE49-F238E27FC236}">
                <a16:creationId xmlns:a16="http://schemas.microsoft.com/office/drawing/2014/main" id="{E7BBD9F6-DF23-D952-7685-1D583AFF5E7C}"/>
              </a:ext>
            </a:extLst>
          </p:cNvPr>
          <p:cNvGrpSpPr/>
          <p:nvPr/>
        </p:nvGrpSpPr>
        <p:grpSpPr>
          <a:xfrm>
            <a:off x="1817836" y="3131302"/>
            <a:ext cx="607582" cy="582171"/>
            <a:chOff x="2352577" y="2695993"/>
            <a:chExt cx="1946046" cy="1511439"/>
          </a:xfrm>
        </p:grpSpPr>
        <p:sp>
          <p:nvSpPr>
            <p:cNvPr id="124" name="사각형: 둥근 모서리 123">
              <a:extLst>
                <a:ext uri="{FF2B5EF4-FFF2-40B4-BE49-F238E27FC236}">
                  <a16:creationId xmlns:a16="http://schemas.microsoft.com/office/drawing/2014/main" id="{59DE062B-AFBC-8796-0443-A7F17656DF3E}"/>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9A2198F2-5666-9926-EC85-88EC8D318A7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26" name="그룹 125">
            <a:extLst>
              <a:ext uri="{FF2B5EF4-FFF2-40B4-BE49-F238E27FC236}">
                <a16:creationId xmlns:a16="http://schemas.microsoft.com/office/drawing/2014/main" id="{F9B31D61-AF16-727B-0FA5-92E12517FAE0}"/>
              </a:ext>
            </a:extLst>
          </p:cNvPr>
          <p:cNvGrpSpPr/>
          <p:nvPr/>
        </p:nvGrpSpPr>
        <p:grpSpPr>
          <a:xfrm>
            <a:off x="2692774" y="3131778"/>
            <a:ext cx="607582" cy="582171"/>
            <a:chOff x="2352577" y="2695993"/>
            <a:chExt cx="1946046" cy="1511439"/>
          </a:xfrm>
        </p:grpSpPr>
        <p:sp>
          <p:nvSpPr>
            <p:cNvPr id="127" name="사각형: 둥근 모서리 126">
              <a:extLst>
                <a:ext uri="{FF2B5EF4-FFF2-40B4-BE49-F238E27FC236}">
                  <a16:creationId xmlns:a16="http://schemas.microsoft.com/office/drawing/2014/main" id="{6E05FC34-D5E2-26FB-0FEE-3A9BCFE60C02}"/>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6" name="TextBox 255">
              <a:extLst>
                <a:ext uri="{FF2B5EF4-FFF2-40B4-BE49-F238E27FC236}">
                  <a16:creationId xmlns:a16="http://schemas.microsoft.com/office/drawing/2014/main" id="{ED8690AD-E539-ACC4-3554-4BC494EAA3EF}"/>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257" name="화살표: 오른쪽 256">
            <a:extLst>
              <a:ext uri="{FF2B5EF4-FFF2-40B4-BE49-F238E27FC236}">
                <a16:creationId xmlns:a16="http://schemas.microsoft.com/office/drawing/2014/main" id="{EF90F060-A9E2-5DEE-E155-51218F94572F}"/>
              </a:ext>
            </a:extLst>
          </p:cNvPr>
          <p:cNvSpPr/>
          <p:nvPr/>
        </p:nvSpPr>
        <p:spPr>
          <a:xfrm rot="16200000">
            <a:off x="2003010" y="3778772"/>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58" name="화살표: 오른쪽 257">
            <a:extLst>
              <a:ext uri="{FF2B5EF4-FFF2-40B4-BE49-F238E27FC236}">
                <a16:creationId xmlns:a16="http://schemas.microsoft.com/office/drawing/2014/main" id="{D58B37B1-BA2F-DB10-0A68-E8FB8109E298}"/>
              </a:ext>
            </a:extLst>
          </p:cNvPr>
          <p:cNvSpPr/>
          <p:nvPr/>
        </p:nvSpPr>
        <p:spPr>
          <a:xfrm rot="16200000">
            <a:off x="1125289" y="3769247"/>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60" name="TextBox 259">
            <a:extLst>
              <a:ext uri="{FF2B5EF4-FFF2-40B4-BE49-F238E27FC236}">
                <a16:creationId xmlns:a16="http://schemas.microsoft.com/office/drawing/2014/main" id="{95698A75-004C-ED42-03AB-A5C449BF02C1}"/>
              </a:ext>
            </a:extLst>
          </p:cNvPr>
          <p:cNvSpPr txBox="1"/>
          <p:nvPr/>
        </p:nvSpPr>
        <p:spPr>
          <a:xfrm>
            <a:off x="3886395" y="3282939"/>
            <a:ext cx="4859586" cy="1531445"/>
          </a:xfrm>
          <a:prstGeom prst="rect">
            <a:avLst/>
          </a:prstGeom>
          <a:noFill/>
        </p:spPr>
        <p:txBody>
          <a:bodyPr wrap="square">
            <a:spAutoFit/>
          </a:bodyPr>
          <a:lstStyle/>
          <a:p>
            <a:pPr>
              <a:lnSpc>
                <a:spcPct val="150000"/>
              </a:lnSpc>
            </a:pPr>
            <a:r>
              <a:rPr lang="ko-KR" altLang="en-US" sz="1600" dirty="0"/>
              <a:t>InpL = </a:t>
            </a:r>
            <a:r>
              <a:rPr lang="ko-KR" altLang="en-US" sz="1600" dirty="0" err="1"/>
              <a:t>Input</a:t>
            </a:r>
            <a:r>
              <a:rPr lang="ko-KR" altLang="en-US" sz="1600" dirty="0"/>
              <a:t>(</a:t>
            </a:r>
            <a:r>
              <a:rPr lang="ko-KR" altLang="en-US" sz="1600" dirty="0" err="1"/>
              <a:t>shape</a:t>
            </a:r>
            <a:r>
              <a:rPr lang="ko-KR" altLang="en-US" sz="1600" dirty="0"/>
              <a:t>=(</a:t>
            </a:r>
            <a:r>
              <a:rPr lang="ko-KR" altLang="en-US" sz="1600" dirty="0" err="1"/>
              <a:t>TimeStep</a:t>
            </a:r>
            <a:r>
              <a:rPr lang="ko-KR" altLang="en-US" sz="1600" dirty="0"/>
              <a:t>, </a:t>
            </a:r>
            <a:r>
              <a:rPr lang="ko-KR" altLang="en-US" sz="1600" dirty="0" err="1"/>
              <a:t>VarSize</a:t>
            </a:r>
            <a:r>
              <a:rPr lang="ko-KR" altLang="en-US" sz="1600" dirty="0"/>
              <a:t>))</a:t>
            </a:r>
          </a:p>
          <a:p>
            <a:pPr>
              <a:lnSpc>
                <a:spcPct val="150000"/>
              </a:lnSpc>
            </a:pPr>
            <a:r>
              <a:rPr lang="ko-KR" altLang="en-US" sz="1600" dirty="0"/>
              <a:t>LSTML = LSTM(</a:t>
            </a:r>
            <a:r>
              <a:rPr lang="ko-KR" altLang="en-US" sz="1600" dirty="0" err="1"/>
              <a:t>Units</a:t>
            </a:r>
            <a:r>
              <a:rPr lang="ko-KR" altLang="en-US" sz="1600" dirty="0"/>
              <a:t>, </a:t>
            </a:r>
            <a:r>
              <a:rPr lang="ko-KR" altLang="en-US" sz="1600" dirty="0" err="1"/>
              <a:t>return_sequences</a:t>
            </a:r>
            <a:r>
              <a:rPr lang="ko-KR" altLang="en-US" sz="1600" dirty="0"/>
              <a:t>=</a:t>
            </a:r>
            <a:r>
              <a:rPr lang="ko-KR" altLang="en-US" sz="1600" dirty="0" err="1">
                <a:solidFill>
                  <a:schemeClr val="accent6">
                    <a:lumMod val="75000"/>
                  </a:schemeClr>
                </a:solidFill>
              </a:rPr>
              <a:t>True</a:t>
            </a:r>
            <a:r>
              <a:rPr lang="ko-KR" altLang="en-US" sz="1600" dirty="0"/>
              <a:t>)(InpL)</a:t>
            </a:r>
          </a:p>
          <a:p>
            <a:pPr>
              <a:lnSpc>
                <a:spcPct val="150000"/>
              </a:lnSpc>
            </a:pPr>
            <a:r>
              <a:rPr lang="ko-KR" altLang="en-US" sz="1600" dirty="0"/>
              <a:t>LSTML = LSTM(</a:t>
            </a:r>
            <a:r>
              <a:rPr lang="ko-KR" altLang="en-US" sz="1600" dirty="0" err="1"/>
              <a:t>Units</a:t>
            </a:r>
            <a:r>
              <a:rPr lang="ko-KR" altLang="en-US" sz="1600" dirty="0"/>
              <a:t>, </a:t>
            </a:r>
            <a:r>
              <a:rPr lang="ko-KR" altLang="en-US" sz="1600" dirty="0" err="1"/>
              <a:t>return_sequences</a:t>
            </a:r>
            <a:r>
              <a:rPr lang="ko-KR" altLang="en-US" sz="1600" dirty="0"/>
              <a:t>=</a:t>
            </a:r>
            <a:r>
              <a:rPr lang="ko-KR" altLang="en-US" sz="1600" dirty="0" err="1">
                <a:solidFill>
                  <a:schemeClr val="accent6">
                    <a:lumMod val="75000"/>
                  </a:schemeClr>
                </a:solidFill>
              </a:rPr>
              <a:t>False</a:t>
            </a:r>
            <a:r>
              <a:rPr lang="ko-KR" altLang="en-US" sz="1600" dirty="0"/>
              <a:t>)(LSTML)</a:t>
            </a:r>
          </a:p>
          <a:p>
            <a:pPr>
              <a:lnSpc>
                <a:spcPct val="150000"/>
              </a:lnSpc>
            </a:pPr>
            <a:r>
              <a:rPr lang="ko-KR" altLang="en-US" sz="1600" dirty="0" err="1"/>
              <a:t>model</a:t>
            </a:r>
            <a:r>
              <a:rPr lang="ko-KR" altLang="en-US" sz="1600" dirty="0"/>
              <a:t> = </a:t>
            </a:r>
            <a:r>
              <a:rPr lang="ko-KR" altLang="en-US" sz="1600" dirty="0" err="1"/>
              <a:t>Model</a:t>
            </a:r>
            <a:r>
              <a:rPr lang="ko-KR" altLang="en-US" sz="1600" dirty="0"/>
              <a:t>(InpL, LSTML)</a:t>
            </a:r>
          </a:p>
        </p:txBody>
      </p:sp>
      <p:sp>
        <p:nvSpPr>
          <p:cNvPr id="2" name="직사각형 1">
            <a:extLst>
              <a:ext uri="{FF2B5EF4-FFF2-40B4-BE49-F238E27FC236}">
                <a16:creationId xmlns:a16="http://schemas.microsoft.com/office/drawing/2014/main" id="{7F16A71D-FDFF-8542-BF6D-07F3DC6C7C34}"/>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3" name="화살표: 오른쪽 2">
            <a:extLst>
              <a:ext uri="{FF2B5EF4-FFF2-40B4-BE49-F238E27FC236}">
                <a16:creationId xmlns:a16="http://schemas.microsoft.com/office/drawing/2014/main" id="{1042B532-20A0-7339-6772-7EAB8F573337}"/>
              </a:ext>
            </a:extLst>
          </p:cNvPr>
          <p:cNvSpPr/>
          <p:nvPr/>
        </p:nvSpPr>
        <p:spPr>
          <a:xfrm rot="16200000">
            <a:off x="2876818" y="2939378"/>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nvGrpSpPr>
          <p:cNvPr id="4" name="그룹 3">
            <a:extLst>
              <a:ext uri="{FF2B5EF4-FFF2-40B4-BE49-F238E27FC236}">
                <a16:creationId xmlns:a16="http://schemas.microsoft.com/office/drawing/2014/main" id="{C8D2CF69-B9F4-6C4E-A673-9485C4174EFE}"/>
              </a:ext>
            </a:extLst>
          </p:cNvPr>
          <p:cNvGrpSpPr/>
          <p:nvPr/>
        </p:nvGrpSpPr>
        <p:grpSpPr>
          <a:xfrm>
            <a:off x="2784804" y="2533838"/>
            <a:ext cx="423468" cy="360000"/>
            <a:chOff x="4572000" y="2522457"/>
            <a:chExt cx="423468" cy="360000"/>
          </a:xfrm>
        </p:grpSpPr>
        <p:sp>
          <p:nvSpPr>
            <p:cNvPr id="5" name="타원 4">
              <a:extLst>
                <a:ext uri="{FF2B5EF4-FFF2-40B4-BE49-F238E27FC236}">
                  <a16:creationId xmlns:a16="http://schemas.microsoft.com/office/drawing/2014/main" id="{B2729A70-1FCD-A61F-5321-6B47C659D726}"/>
                </a:ext>
              </a:extLst>
            </p:cNvPr>
            <p:cNvSpPr/>
            <p:nvPr/>
          </p:nvSpPr>
          <p:spPr>
            <a:xfrm>
              <a:off x="4600575" y="25224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TextBox 5">
              <a:extLst>
                <a:ext uri="{FF2B5EF4-FFF2-40B4-BE49-F238E27FC236}">
                  <a16:creationId xmlns:a16="http://schemas.microsoft.com/office/drawing/2014/main" id="{BB24B95A-6002-532B-E117-71DF9ED972CB}"/>
                </a:ext>
              </a:extLst>
            </p:cNvPr>
            <p:cNvSpPr txBox="1"/>
            <p:nvPr/>
          </p:nvSpPr>
          <p:spPr>
            <a:xfrm>
              <a:off x="4572000" y="25639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spTree>
    <p:extLst>
      <p:ext uri="{BB962C8B-B14F-4D97-AF65-F5344CB8AC3E}">
        <p14:creationId xmlns:p14="http://schemas.microsoft.com/office/powerpoint/2010/main" val="4922671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 to N LSTM</a:t>
            </a:r>
          </a:p>
        </p:txBody>
      </p:sp>
      <p:sp>
        <p:nvSpPr>
          <p:cNvPr id="17" name="화살표: 오른쪽 16">
            <a:extLst>
              <a:ext uri="{FF2B5EF4-FFF2-40B4-BE49-F238E27FC236}">
                <a16:creationId xmlns:a16="http://schemas.microsoft.com/office/drawing/2014/main" id="{0E19E40E-4AD2-CBD9-7F47-1BBABFF341C6}"/>
              </a:ext>
            </a:extLst>
          </p:cNvPr>
          <p:cNvSpPr/>
          <p:nvPr/>
        </p:nvSpPr>
        <p:spPr>
          <a:xfrm>
            <a:off x="1504533" y="4161971"/>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 name="그룹 17">
            <a:extLst>
              <a:ext uri="{FF2B5EF4-FFF2-40B4-BE49-F238E27FC236}">
                <a16:creationId xmlns:a16="http://schemas.microsoft.com/office/drawing/2014/main" id="{FB55618F-7DB0-8122-462A-D84D8A0AD07E}"/>
              </a:ext>
            </a:extLst>
          </p:cNvPr>
          <p:cNvGrpSpPr/>
          <p:nvPr/>
        </p:nvGrpSpPr>
        <p:grpSpPr>
          <a:xfrm>
            <a:off x="882215" y="3961708"/>
            <a:ext cx="607582" cy="582171"/>
            <a:chOff x="2352577" y="2695993"/>
            <a:chExt cx="1946046" cy="1511439"/>
          </a:xfrm>
        </p:grpSpPr>
        <p:sp>
          <p:nvSpPr>
            <p:cNvPr id="53" name="사각형: 둥근 모서리 52">
              <a:extLst>
                <a:ext uri="{FF2B5EF4-FFF2-40B4-BE49-F238E27FC236}">
                  <a16:creationId xmlns:a16="http://schemas.microsoft.com/office/drawing/2014/main" id="{42A05EDF-7C08-9F38-D190-27448B71C1C0}"/>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TextBox 54">
              <a:extLst>
                <a:ext uri="{FF2B5EF4-FFF2-40B4-BE49-F238E27FC236}">
                  <a16:creationId xmlns:a16="http://schemas.microsoft.com/office/drawing/2014/main" id="{1382B41A-BED4-17FC-BBC8-184589EB67C7}"/>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9" name="그룹 18">
            <a:extLst>
              <a:ext uri="{FF2B5EF4-FFF2-40B4-BE49-F238E27FC236}">
                <a16:creationId xmlns:a16="http://schemas.microsoft.com/office/drawing/2014/main" id="{08A9B520-F5D0-BAF2-C226-F8CFC5A69944}"/>
              </a:ext>
            </a:extLst>
          </p:cNvPr>
          <p:cNvGrpSpPr/>
          <p:nvPr/>
        </p:nvGrpSpPr>
        <p:grpSpPr>
          <a:xfrm>
            <a:off x="983770" y="4775821"/>
            <a:ext cx="423468" cy="360000"/>
            <a:chOff x="1102837" y="4534057"/>
            <a:chExt cx="423468" cy="360000"/>
          </a:xfrm>
        </p:grpSpPr>
        <p:sp>
          <p:nvSpPr>
            <p:cNvPr id="51" name="타원 50">
              <a:extLst>
                <a:ext uri="{FF2B5EF4-FFF2-40B4-BE49-F238E27FC236}">
                  <a16:creationId xmlns:a16="http://schemas.microsoft.com/office/drawing/2014/main" id="{02725B4E-6A13-FD0D-53BE-13DAF231CFEE}"/>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TextBox 51">
              <a:extLst>
                <a:ext uri="{FF2B5EF4-FFF2-40B4-BE49-F238E27FC236}">
                  <a16:creationId xmlns:a16="http://schemas.microsoft.com/office/drawing/2014/main" id="{469C8BED-E9E0-C03A-FAFE-1BA2F22F33D4}"/>
                </a:ext>
              </a:extLst>
            </p:cNvPr>
            <p:cNvSpPr txBox="1"/>
            <p:nvPr/>
          </p:nvSpPr>
          <p:spPr>
            <a:xfrm>
              <a:off x="1102837"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21" name="화살표: 오른쪽 20">
            <a:extLst>
              <a:ext uri="{FF2B5EF4-FFF2-40B4-BE49-F238E27FC236}">
                <a16:creationId xmlns:a16="http://schemas.microsoft.com/office/drawing/2014/main" id="{5469AF55-D0C1-5A2E-D80C-9DBECFCE017F}"/>
              </a:ext>
            </a:extLst>
          </p:cNvPr>
          <p:cNvSpPr/>
          <p:nvPr/>
        </p:nvSpPr>
        <p:spPr>
          <a:xfrm rot="16200000">
            <a:off x="1069735" y="4592534"/>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화살표: 오른쪽 22">
            <a:extLst>
              <a:ext uri="{FF2B5EF4-FFF2-40B4-BE49-F238E27FC236}">
                <a16:creationId xmlns:a16="http://schemas.microsoft.com/office/drawing/2014/main" id="{708B330B-EFF1-E22E-6615-B489F064BA63}"/>
              </a:ext>
            </a:extLst>
          </p:cNvPr>
          <p:cNvSpPr/>
          <p:nvPr/>
        </p:nvSpPr>
        <p:spPr>
          <a:xfrm>
            <a:off x="2373479" y="4159034"/>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 name="그룹 23">
            <a:extLst>
              <a:ext uri="{FF2B5EF4-FFF2-40B4-BE49-F238E27FC236}">
                <a16:creationId xmlns:a16="http://schemas.microsoft.com/office/drawing/2014/main" id="{8D3445C6-735E-4C01-1965-56274D5934F8}"/>
              </a:ext>
            </a:extLst>
          </p:cNvPr>
          <p:cNvGrpSpPr/>
          <p:nvPr/>
        </p:nvGrpSpPr>
        <p:grpSpPr>
          <a:xfrm>
            <a:off x="1751161" y="3958771"/>
            <a:ext cx="607582" cy="582171"/>
            <a:chOff x="2352577" y="2695993"/>
            <a:chExt cx="1946046" cy="1511439"/>
          </a:xfrm>
        </p:grpSpPr>
        <p:sp>
          <p:nvSpPr>
            <p:cNvPr id="47" name="사각형: 둥근 모서리 46">
              <a:extLst>
                <a:ext uri="{FF2B5EF4-FFF2-40B4-BE49-F238E27FC236}">
                  <a16:creationId xmlns:a16="http://schemas.microsoft.com/office/drawing/2014/main" id="{E749A148-F5FB-4670-1454-CBF7B7EB181F}"/>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TextBox 47">
              <a:extLst>
                <a:ext uri="{FF2B5EF4-FFF2-40B4-BE49-F238E27FC236}">
                  <a16:creationId xmlns:a16="http://schemas.microsoft.com/office/drawing/2014/main" id="{7B0B1263-4C3C-210B-E890-F74125EA993C}"/>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25" name="그룹 24">
            <a:extLst>
              <a:ext uri="{FF2B5EF4-FFF2-40B4-BE49-F238E27FC236}">
                <a16:creationId xmlns:a16="http://schemas.microsoft.com/office/drawing/2014/main" id="{01A458AC-AEEA-884C-0692-A2272D0B6957}"/>
              </a:ext>
            </a:extLst>
          </p:cNvPr>
          <p:cNvGrpSpPr/>
          <p:nvPr/>
        </p:nvGrpSpPr>
        <p:grpSpPr>
          <a:xfrm>
            <a:off x="1833666" y="4772884"/>
            <a:ext cx="423468" cy="360000"/>
            <a:chOff x="1083787" y="4534057"/>
            <a:chExt cx="423468" cy="360000"/>
          </a:xfrm>
        </p:grpSpPr>
        <p:sp>
          <p:nvSpPr>
            <p:cNvPr id="45" name="타원 44">
              <a:extLst>
                <a:ext uri="{FF2B5EF4-FFF2-40B4-BE49-F238E27FC236}">
                  <a16:creationId xmlns:a16="http://schemas.microsoft.com/office/drawing/2014/main" id="{D5B65928-8F01-2D38-1074-4C1AB995D805}"/>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TextBox 45">
              <a:extLst>
                <a:ext uri="{FF2B5EF4-FFF2-40B4-BE49-F238E27FC236}">
                  <a16:creationId xmlns:a16="http://schemas.microsoft.com/office/drawing/2014/main" id="{9837AF48-1B15-C4DB-2B08-618AD8223D47}"/>
                </a:ext>
              </a:extLst>
            </p:cNvPr>
            <p:cNvSpPr txBox="1"/>
            <p:nvPr/>
          </p:nvSpPr>
          <p:spPr>
            <a:xfrm>
              <a:off x="1083787"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27" name="화살표: 오른쪽 26">
            <a:extLst>
              <a:ext uri="{FF2B5EF4-FFF2-40B4-BE49-F238E27FC236}">
                <a16:creationId xmlns:a16="http://schemas.microsoft.com/office/drawing/2014/main" id="{C589E5F9-E4DD-2CC9-A517-6946D32A32F0}"/>
              </a:ext>
            </a:extLst>
          </p:cNvPr>
          <p:cNvSpPr/>
          <p:nvPr/>
        </p:nvSpPr>
        <p:spPr>
          <a:xfrm rot="16200000">
            <a:off x="1929156" y="4589597"/>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0" name="그룹 29">
            <a:extLst>
              <a:ext uri="{FF2B5EF4-FFF2-40B4-BE49-F238E27FC236}">
                <a16:creationId xmlns:a16="http://schemas.microsoft.com/office/drawing/2014/main" id="{8E525BA4-DA76-B4FD-52F7-BEC8A5A7AB0A}"/>
              </a:ext>
            </a:extLst>
          </p:cNvPr>
          <p:cNvGrpSpPr/>
          <p:nvPr/>
        </p:nvGrpSpPr>
        <p:grpSpPr>
          <a:xfrm>
            <a:off x="2626099" y="3959247"/>
            <a:ext cx="607582" cy="582171"/>
            <a:chOff x="2352577" y="2695993"/>
            <a:chExt cx="1946046" cy="1511439"/>
          </a:xfrm>
        </p:grpSpPr>
        <p:sp>
          <p:nvSpPr>
            <p:cNvPr id="41" name="사각형: 둥근 모서리 40">
              <a:extLst>
                <a:ext uri="{FF2B5EF4-FFF2-40B4-BE49-F238E27FC236}">
                  <a16:creationId xmlns:a16="http://schemas.microsoft.com/office/drawing/2014/main" id="{40025632-01F6-7DED-35F7-4C8BDCB379B8}"/>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TextBox 41">
              <a:extLst>
                <a:ext uri="{FF2B5EF4-FFF2-40B4-BE49-F238E27FC236}">
                  <a16:creationId xmlns:a16="http://schemas.microsoft.com/office/drawing/2014/main" id="{AEE5B472-0D95-A3C0-0AB6-0A67DD6308F1}"/>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1" name="그룹 30">
            <a:extLst>
              <a:ext uri="{FF2B5EF4-FFF2-40B4-BE49-F238E27FC236}">
                <a16:creationId xmlns:a16="http://schemas.microsoft.com/office/drawing/2014/main" id="{91239B2D-2AAF-2B44-0A00-54FDC16B935F}"/>
              </a:ext>
            </a:extLst>
          </p:cNvPr>
          <p:cNvGrpSpPr/>
          <p:nvPr/>
        </p:nvGrpSpPr>
        <p:grpSpPr>
          <a:xfrm>
            <a:off x="2718129" y="4773360"/>
            <a:ext cx="423468" cy="360000"/>
            <a:chOff x="1093312" y="4534057"/>
            <a:chExt cx="423468" cy="360000"/>
          </a:xfrm>
        </p:grpSpPr>
        <p:sp>
          <p:nvSpPr>
            <p:cNvPr id="39" name="타원 38">
              <a:extLst>
                <a:ext uri="{FF2B5EF4-FFF2-40B4-BE49-F238E27FC236}">
                  <a16:creationId xmlns:a16="http://schemas.microsoft.com/office/drawing/2014/main" id="{7E2E2F78-BC7E-566F-B4E4-7964CF4742B0}"/>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TextBox 39">
              <a:extLst>
                <a:ext uri="{FF2B5EF4-FFF2-40B4-BE49-F238E27FC236}">
                  <a16:creationId xmlns:a16="http://schemas.microsoft.com/office/drawing/2014/main" id="{AAF9B173-B007-F6CD-2865-5DE2C6E7CBC7}"/>
                </a:ext>
              </a:extLst>
            </p:cNvPr>
            <p:cNvSpPr txBox="1"/>
            <p:nvPr/>
          </p:nvSpPr>
          <p:spPr>
            <a:xfrm>
              <a:off x="109331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33" name="화살표: 오른쪽 32">
            <a:extLst>
              <a:ext uri="{FF2B5EF4-FFF2-40B4-BE49-F238E27FC236}">
                <a16:creationId xmlns:a16="http://schemas.microsoft.com/office/drawing/2014/main" id="{0F592396-9905-DC66-0697-C36F134E1D2E}"/>
              </a:ext>
            </a:extLst>
          </p:cNvPr>
          <p:cNvSpPr/>
          <p:nvPr/>
        </p:nvSpPr>
        <p:spPr>
          <a:xfrm rot="16200000">
            <a:off x="2804094" y="4590073"/>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17" name="화살표: 오른쪽 116">
            <a:extLst>
              <a:ext uri="{FF2B5EF4-FFF2-40B4-BE49-F238E27FC236}">
                <a16:creationId xmlns:a16="http://schemas.microsoft.com/office/drawing/2014/main" id="{BAE7BC0C-24DC-CA22-CE50-5B3D950E281D}"/>
              </a:ext>
            </a:extLst>
          </p:cNvPr>
          <p:cNvSpPr/>
          <p:nvPr/>
        </p:nvSpPr>
        <p:spPr>
          <a:xfrm rot="16200000">
            <a:off x="2800244" y="3769951"/>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18" name="화살표: 오른쪽 117">
            <a:extLst>
              <a:ext uri="{FF2B5EF4-FFF2-40B4-BE49-F238E27FC236}">
                <a16:creationId xmlns:a16="http://schemas.microsoft.com/office/drawing/2014/main" id="{EBAE1F19-436A-B564-1530-87647179201C}"/>
              </a:ext>
            </a:extLst>
          </p:cNvPr>
          <p:cNvSpPr/>
          <p:nvPr/>
        </p:nvSpPr>
        <p:spPr>
          <a:xfrm>
            <a:off x="3276183" y="333450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9" name="그룹 118">
            <a:extLst>
              <a:ext uri="{FF2B5EF4-FFF2-40B4-BE49-F238E27FC236}">
                <a16:creationId xmlns:a16="http://schemas.microsoft.com/office/drawing/2014/main" id="{BFB51C7B-7F01-C193-7B3A-E2F2410EE0F7}"/>
              </a:ext>
            </a:extLst>
          </p:cNvPr>
          <p:cNvGrpSpPr/>
          <p:nvPr/>
        </p:nvGrpSpPr>
        <p:grpSpPr>
          <a:xfrm>
            <a:off x="2653865" y="3134239"/>
            <a:ext cx="607582" cy="582171"/>
            <a:chOff x="2352577" y="2695993"/>
            <a:chExt cx="1946046" cy="1511439"/>
          </a:xfrm>
        </p:grpSpPr>
        <p:sp>
          <p:nvSpPr>
            <p:cNvPr id="120" name="사각형: 둥근 모서리 119">
              <a:extLst>
                <a:ext uri="{FF2B5EF4-FFF2-40B4-BE49-F238E27FC236}">
                  <a16:creationId xmlns:a16="http://schemas.microsoft.com/office/drawing/2014/main" id="{923A019B-D3AE-0D1B-6BD9-0F3C7057330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1" name="TextBox 120">
              <a:extLst>
                <a:ext uri="{FF2B5EF4-FFF2-40B4-BE49-F238E27FC236}">
                  <a16:creationId xmlns:a16="http://schemas.microsoft.com/office/drawing/2014/main" id="{5DDC2A37-EEE4-9578-1E61-2B58BAB1FFB0}"/>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122" name="화살표: 오른쪽 121">
            <a:extLst>
              <a:ext uri="{FF2B5EF4-FFF2-40B4-BE49-F238E27FC236}">
                <a16:creationId xmlns:a16="http://schemas.microsoft.com/office/drawing/2014/main" id="{C213FB2B-117D-D37E-8EDD-DABDEDA340E3}"/>
              </a:ext>
            </a:extLst>
          </p:cNvPr>
          <p:cNvSpPr/>
          <p:nvPr/>
        </p:nvSpPr>
        <p:spPr>
          <a:xfrm>
            <a:off x="4145129" y="3331565"/>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3" name="그룹 122">
            <a:extLst>
              <a:ext uri="{FF2B5EF4-FFF2-40B4-BE49-F238E27FC236}">
                <a16:creationId xmlns:a16="http://schemas.microsoft.com/office/drawing/2014/main" id="{E7BBD9F6-DF23-D952-7685-1D583AFF5E7C}"/>
              </a:ext>
            </a:extLst>
          </p:cNvPr>
          <p:cNvGrpSpPr/>
          <p:nvPr/>
        </p:nvGrpSpPr>
        <p:grpSpPr>
          <a:xfrm>
            <a:off x="3522811" y="3131302"/>
            <a:ext cx="607582" cy="582171"/>
            <a:chOff x="2352577" y="2695993"/>
            <a:chExt cx="1946046" cy="1511439"/>
          </a:xfrm>
        </p:grpSpPr>
        <p:sp>
          <p:nvSpPr>
            <p:cNvPr id="124" name="사각형: 둥근 모서리 123">
              <a:extLst>
                <a:ext uri="{FF2B5EF4-FFF2-40B4-BE49-F238E27FC236}">
                  <a16:creationId xmlns:a16="http://schemas.microsoft.com/office/drawing/2014/main" id="{59DE062B-AFBC-8796-0443-A7F17656DF3E}"/>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9A2198F2-5666-9926-EC85-88EC8D318A7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26" name="그룹 125">
            <a:extLst>
              <a:ext uri="{FF2B5EF4-FFF2-40B4-BE49-F238E27FC236}">
                <a16:creationId xmlns:a16="http://schemas.microsoft.com/office/drawing/2014/main" id="{F9B31D61-AF16-727B-0FA5-92E12517FAE0}"/>
              </a:ext>
            </a:extLst>
          </p:cNvPr>
          <p:cNvGrpSpPr/>
          <p:nvPr/>
        </p:nvGrpSpPr>
        <p:grpSpPr>
          <a:xfrm>
            <a:off x="4397749" y="3131778"/>
            <a:ext cx="607582" cy="582171"/>
            <a:chOff x="2352577" y="2695993"/>
            <a:chExt cx="1946046" cy="1511439"/>
          </a:xfrm>
        </p:grpSpPr>
        <p:sp>
          <p:nvSpPr>
            <p:cNvPr id="127" name="사각형: 둥근 모서리 126">
              <a:extLst>
                <a:ext uri="{FF2B5EF4-FFF2-40B4-BE49-F238E27FC236}">
                  <a16:creationId xmlns:a16="http://schemas.microsoft.com/office/drawing/2014/main" id="{6E05FC34-D5E2-26FB-0FEE-3A9BCFE60C02}"/>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6" name="TextBox 255">
              <a:extLst>
                <a:ext uri="{FF2B5EF4-FFF2-40B4-BE49-F238E27FC236}">
                  <a16:creationId xmlns:a16="http://schemas.microsoft.com/office/drawing/2014/main" id="{ED8690AD-E539-ACC4-3554-4BC494EAA3EF}"/>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12" name="TextBox 11">
            <a:extLst>
              <a:ext uri="{FF2B5EF4-FFF2-40B4-BE49-F238E27FC236}">
                <a16:creationId xmlns:a16="http://schemas.microsoft.com/office/drawing/2014/main" id="{39FFC60B-AA7E-65DE-9FA1-BD94F5977DE0}"/>
              </a:ext>
            </a:extLst>
          </p:cNvPr>
          <p:cNvSpPr txBox="1"/>
          <p:nvPr/>
        </p:nvSpPr>
        <p:spPr>
          <a:xfrm>
            <a:off x="2440154" y="6510398"/>
            <a:ext cx="6747157" cy="276999"/>
          </a:xfrm>
          <a:prstGeom prst="rect">
            <a:avLst/>
          </a:prstGeom>
          <a:noFill/>
        </p:spPr>
        <p:txBody>
          <a:bodyPr wrap="square">
            <a:spAutoFit/>
          </a:bodyPr>
          <a:lstStyle/>
          <a:p>
            <a:r>
              <a:rPr lang="ko-KR" altLang="en-US" sz="1200" dirty="0"/>
              <a:t>https://m.blog.naver.com/PostView.naver?isHttpsRedirect=true&amp;blogId=chunjein&amp;logNo=221589624838</a:t>
            </a:r>
          </a:p>
        </p:txBody>
      </p:sp>
      <p:sp>
        <p:nvSpPr>
          <p:cNvPr id="2" name="직사각형 1">
            <a:extLst>
              <a:ext uri="{FF2B5EF4-FFF2-40B4-BE49-F238E27FC236}">
                <a16:creationId xmlns:a16="http://schemas.microsoft.com/office/drawing/2014/main" id="{158686C0-B359-B6F6-502E-2D5DB69C7967}"/>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23164358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 to N LSTM</a:t>
            </a:r>
          </a:p>
        </p:txBody>
      </p:sp>
      <p:sp>
        <p:nvSpPr>
          <p:cNvPr id="3" name="TextBox 2">
            <a:extLst>
              <a:ext uri="{FF2B5EF4-FFF2-40B4-BE49-F238E27FC236}">
                <a16:creationId xmlns:a16="http://schemas.microsoft.com/office/drawing/2014/main" id="{A6B3AFC2-2D5F-118C-3AB4-7EF565FC995A}"/>
              </a:ext>
            </a:extLst>
          </p:cNvPr>
          <p:cNvSpPr txBox="1"/>
          <p:nvPr/>
        </p:nvSpPr>
        <p:spPr>
          <a:xfrm>
            <a:off x="4052888" y="3950659"/>
            <a:ext cx="4595812" cy="792781"/>
          </a:xfrm>
          <a:prstGeom prst="rect">
            <a:avLst/>
          </a:prstGeom>
          <a:noFill/>
        </p:spPr>
        <p:txBody>
          <a:bodyPr wrap="square">
            <a:spAutoFit/>
          </a:bodyPr>
          <a:lstStyle/>
          <a:p>
            <a:pPr>
              <a:lnSpc>
                <a:spcPct val="150000"/>
              </a:lnSpc>
            </a:pPr>
            <a:r>
              <a:rPr lang="ko-KR" altLang="en-US" sz="1600" dirty="0"/>
              <a:t>InpL = </a:t>
            </a:r>
            <a:r>
              <a:rPr lang="ko-KR" altLang="en-US" sz="1600" dirty="0" err="1"/>
              <a:t>Input</a:t>
            </a:r>
            <a:r>
              <a:rPr lang="ko-KR" altLang="en-US" sz="1600" dirty="0"/>
              <a:t>(</a:t>
            </a:r>
            <a:r>
              <a:rPr lang="ko-KR" altLang="en-US" sz="1600" dirty="0" err="1"/>
              <a:t>shape</a:t>
            </a:r>
            <a:r>
              <a:rPr lang="ko-KR" altLang="en-US" sz="1600" dirty="0"/>
              <a:t>=(</a:t>
            </a:r>
            <a:r>
              <a:rPr lang="ko-KR" altLang="en-US" sz="1600" dirty="0" err="1"/>
              <a:t>TimeStep</a:t>
            </a:r>
            <a:r>
              <a:rPr lang="ko-KR" altLang="en-US" sz="1600" dirty="0"/>
              <a:t>, </a:t>
            </a:r>
            <a:r>
              <a:rPr lang="ko-KR" altLang="en-US" sz="1600" dirty="0" err="1"/>
              <a:t>VarSize</a:t>
            </a:r>
            <a:r>
              <a:rPr lang="ko-KR" altLang="en-US" sz="1600" dirty="0"/>
              <a:t>))</a:t>
            </a:r>
          </a:p>
          <a:p>
            <a:pPr>
              <a:lnSpc>
                <a:spcPct val="150000"/>
              </a:lnSpc>
            </a:pPr>
            <a:r>
              <a:rPr lang="ko-KR" altLang="en-US" sz="1600" dirty="0"/>
              <a:t>LSTML = LSTM(</a:t>
            </a:r>
            <a:r>
              <a:rPr lang="ko-KR" altLang="en-US" sz="1600" dirty="0" err="1"/>
              <a:t>Units</a:t>
            </a:r>
            <a:r>
              <a:rPr lang="ko-KR" altLang="en-US" sz="1600" dirty="0"/>
              <a:t>, </a:t>
            </a:r>
            <a:r>
              <a:rPr lang="ko-KR" altLang="en-US" sz="1600" dirty="0" err="1"/>
              <a:t>return_sequences</a:t>
            </a:r>
            <a:r>
              <a:rPr lang="ko-KR" altLang="en-US" sz="1600" dirty="0"/>
              <a:t>=</a:t>
            </a:r>
            <a:r>
              <a:rPr lang="ko-KR" altLang="en-US" sz="1600" dirty="0" err="1">
                <a:solidFill>
                  <a:schemeClr val="accent6">
                    <a:lumMod val="75000"/>
                  </a:schemeClr>
                </a:solidFill>
              </a:rPr>
              <a:t>False</a:t>
            </a:r>
            <a:r>
              <a:rPr lang="ko-KR" altLang="en-US" sz="1600" dirty="0"/>
              <a:t>)(InpL)</a:t>
            </a:r>
          </a:p>
        </p:txBody>
      </p:sp>
      <p:sp>
        <p:nvSpPr>
          <p:cNvPr id="4" name="화살표: 오른쪽 3">
            <a:extLst>
              <a:ext uri="{FF2B5EF4-FFF2-40B4-BE49-F238E27FC236}">
                <a16:creationId xmlns:a16="http://schemas.microsoft.com/office/drawing/2014/main" id="{C648A8F5-9EEA-2258-85BA-4C1CC66C8FA6}"/>
              </a:ext>
            </a:extLst>
          </p:cNvPr>
          <p:cNvSpPr/>
          <p:nvPr/>
        </p:nvSpPr>
        <p:spPr>
          <a:xfrm>
            <a:off x="1504533" y="4161971"/>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5" name="그룹 4">
            <a:extLst>
              <a:ext uri="{FF2B5EF4-FFF2-40B4-BE49-F238E27FC236}">
                <a16:creationId xmlns:a16="http://schemas.microsoft.com/office/drawing/2014/main" id="{FC9956E1-2769-E446-95CD-B5257F7473C8}"/>
              </a:ext>
            </a:extLst>
          </p:cNvPr>
          <p:cNvGrpSpPr/>
          <p:nvPr/>
        </p:nvGrpSpPr>
        <p:grpSpPr>
          <a:xfrm>
            <a:off x="882215" y="3961708"/>
            <a:ext cx="607582" cy="582171"/>
            <a:chOff x="2352577" y="2695993"/>
            <a:chExt cx="1946046" cy="1511439"/>
          </a:xfrm>
        </p:grpSpPr>
        <p:sp>
          <p:nvSpPr>
            <p:cNvPr id="11" name="사각형: 둥근 모서리 10">
              <a:extLst>
                <a:ext uri="{FF2B5EF4-FFF2-40B4-BE49-F238E27FC236}">
                  <a16:creationId xmlns:a16="http://schemas.microsoft.com/office/drawing/2014/main" id="{9F9982F1-4154-1D76-DF19-3BE173CA5F66}"/>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TextBox 12">
              <a:extLst>
                <a:ext uri="{FF2B5EF4-FFF2-40B4-BE49-F238E27FC236}">
                  <a16:creationId xmlns:a16="http://schemas.microsoft.com/office/drawing/2014/main" id="{1CA8C605-1A85-8191-F0FF-D0904F437F59}"/>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4" name="그룹 13">
            <a:extLst>
              <a:ext uri="{FF2B5EF4-FFF2-40B4-BE49-F238E27FC236}">
                <a16:creationId xmlns:a16="http://schemas.microsoft.com/office/drawing/2014/main" id="{CF596210-E5F2-103D-ECC7-30EC4AA44196}"/>
              </a:ext>
            </a:extLst>
          </p:cNvPr>
          <p:cNvGrpSpPr/>
          <p:nvPr/>
        </p:nvGrpSpPr>
        <p:grpSpPr>
          <a:xfrm>
            <a:off x="983770" y="4775821"/>
            <a:ext cx="423468" cy="360000"/>
            <a:chOff x="1102837" y="4534057"/>
            <a:chExt cx="423468" cy="360000"/>
          </a:xfrm>
        </p:grpSpPr>
        <p:sp>
          <p:nvSpPr>
            <p:cNvPr id="15" name="타원 14">
              <a:extLst>
                <a:ext uri="{FF2B5EF4-FFF2-40B4-BE49-F238E27FC236}">
                  <a16:creationId xmlns:a16="http://schemas.microsoft.com/office/drawing/2014/main" id="{9885EAC1-7BE9-6A50-2A14-280104D7593B}"/>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D4B4F920-93E2-F0AC-D3A8-2C684623A492}"/>
                </a:ext>
              </a:extLst>
            </p:cNvPr>
            <p:cNvSpPr txBox="1"/>
            <p:nvPr/>
          </p:nvSpPr>
          <p:spPr>
            <a:xfrm>
              <a:off x="1102837"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20" name="화살표: 오른쪽 19">
            <a:extLst>
              <a:ext uri="{FF2B5EF4-FFF2-40B4-BE49-F238E27FC236}">
                <a16:creationId xmlns:a16="http://schemas.microsoft.com/office/drawing/2014/main" id="{DE2A01F0-00C4-D007-3E86-D603F011AB09}"/>
              </a:ext>
            </a:extLst>
          </p:cNvPr>
          <p:cNvSpPr/>
          <p:nvPr/>
        </p:nvSpPr>
        <p:spPr>
          <a:xfrm rot="16200000">
            <a:off x="1069735" y="4592534"/>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화살표: 오른쪽 21">
            <a:extLst>
              <a:ext uri="{FF2B5EF4-FFF2-40B4-BE49-F238E27FC236}">
                <a16:creationId xmlns:a16="http://schemas.microsoft.com/office/drawing/2014/main" id="{148D82CE-1056-2201-59D3-8625481EB892}"/>
              </a:ext>
            </a:extLst>
          </p:cNvPr>
          <p:cNvSpPr/>
          <p:nvPr/>
        </p:nvSpPr>
        <p:spPr>
          <a:xfrm>
            <a:off x="2373479" y="4159034"/>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 name="그룹 25">
            <a:extLst>
              <a:ext uri="{FF2B5EF4-FFF2-40B4-BE49-F238E27FC236}">
                <a16:creationId xmlns:a16="http://schemas.microsoft.com/office/drawing/2014/main" id="{56F87DC2-AD70-2DBB-ED49-906FF8EAF043}"/>
              </a:ext>
            </a:extLst>
          </p:cNvPr>
          <p:cNvGrpSpPr/>
          <p:nvPr/>
        </p:nvGrpSpPr>
        <p:grpSpPr>
          <a:xfrm>
            <a:off x="1751161" y="3958771"/>
            <a:ext cx="607582" cy="582171"/>
            <a:chOff x="2352577" y="2695993"/>
            <a:chExt cx="1946046" cy="1511439"/>
          </a:xfrm>
        </p:grpSpPr>
        <p:sp>
          <p:nvSpPr>
            <p:cNvPr id="28" name="사각형: 둥근 모서리 27">
              <a:extLst>
                <a:ext uri="{FF2B5EF4-FFF2-40B4-BE49-F238E27FC236}">
                  <a16:creationId xmlns:a16="http://schemas.microsoft.com/office/drawing/2014/main" id="{1C4A3A0C-CE0A-C82E-D970-05481A3E8CCC}"/>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TextBox 28">
              <a:extLst>
                <a:ext uri="{FF2B5EF4-FFF2-40B4-BE49-F238E27FC236}">
                  <a16:creationId xmlns:a16="http://schemas.microsoft.com/office/drawing/2014/main" id="{FC533D0F-FD89-2610-1B08-15330F81DA61}"/>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2" name="그룹 31">
            <a:extLst>
              <a:ext uri="{FF2B5EF4-FFF2-40B4-BE49-F238E27FC236}">
                <a16:creationId xmlns:a16="http://schemas.microsoft.com/office/drawing/2014/main" id="{21BF94A6-141F-C3AC-7FEF-B0D71379A6E0}"/>
              </a:ext>
            </a:extLst>
          </p:cNvPr>
          <p:cNvGrpSpPr/>
          <p:nvPr/>
        </p:nvGrpSpPr>
        <p:grpSpPr>
          <a:xfrm>
            <a:off x="1833666" y="4772884"/>
            <a:ext cx="423468" cy="360000"/>
            <a:chOff x="1083787" y="4534057"/>
            <a:chExt cx="423468" cy="360000"/>
          </a:xfrm>
        </p:grpSpPr>
        <p:sp>
          <p:nvSpPr>
            <p:cNvPr id="34" name="타원 33">
              <a:extLst>
                <a:ext uri="{FF2B5EF4-FFF2-40B4-BE49-F238E27FC236}">
                  <a16:creationId xmlns:a16="http://schemas.microsoft.com/office/drawing/2014/main" id="{F50AF347-D5B0-1A4B-11E7-755A45055373}"/>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TextBox 34">
              <a:extLst>
                <a:ext uri="{FF2B5EF4-FFF2-40B4-BE49-F238E27FC236}">
                  <a16:creationId xmlns:a16="http://schemas.microsoft.com/office/drawing/2014/main" id="{57526DCC-8CD9-E502-62E3-46F916A9CA31}"/>
                </a:ext>
              </a:extLst>
            </p:cNvPr>
            <p:cNvSpPr txBox="1"/>
            <p:nvPr/>
          </p:nvSpPr>
          <p:spPr>
            <a:xfrm>
              <a:off x="1083787"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38" name="화살표: 오른쪽 37">
            <a:extLst>
              <a:ext uri="{FF2B5EF4-FFF2-40B4-BE49-F238E27FC236}">
                <a16:creationId xmlns:a16="http://schemas.microsoft.com/office/drawing/2014/main" id="{F1A55DD3-FC5D-0893-7978-885F6E3A0CDB}"/>
              </a:ext>
            </a:extLst>
          </p:cNvPr>
          <p:cNvSpPr/>
          <p:nvPr/>
        </p:nvSpPr>
        <p:spPr>
          <a:xfrm rot="16200000">
            <a:off x="1929156" y="4589597"/>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43" name="그룹 42">
            <a:extLst>
              <a:ext uri="{FF2B5EF4-FFF2-40B4-BE49-F238E27FC236}">
                <a16:creationId xmlns:a16="http://schemas.microsoft.com/office/drawing/2014/main" id="{FFF713DD-CB58-F58F-B010-DCEEA32D1AC3}"/>
              </a:ext>
            </a:extLst>
          </p:cNvPr>
          <p:cNvGrpSpPr/>
          <p:nvPr/>
        </p:nvGrpSpPr>
        <p:grpSpPr>
          <a:xfrm>
            <a:off x="2626099" y="3959247"/>
            <a:ext cx="607582" cy="582171"/>
            <a:chOff x="2352577" y="2695993"/>
            <a:chExt cx="1946046" cy="1511439"/>
          </a:xfrm>
        </p:grpSpPr>
        <p:sp>
          <p:nvSpPr>
            <p:cNvPr id="44" name="사각형: 둥근 모서리 43">
              <a:extLst>
                <a:ext uri="{FF2B5EF4-FFF2-40B4-BE49-F238E27FC236}">
                  <a16:creationId xmlns:a16="http://schemas.microsoft.com/office/drawing/2014/main" id="{CB4DDFAC-AE74-9107-4B08-4E1419ED9DF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TextBox 48">
              <a:extLst>
                <a:ext uri="{FF2B5EF4-FFF2-40B4-BE49-F238E27FC236}">
                  <a16:creationId xmlns:a16="http://schemas.microsoft.com/office/drawing/2014/main" id="{4A5BBF92-D312-FC0A-4DF1-576000248E8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50" name="그룹 49">
            <a:extLst>
              <a:ext uri="{FF2B5EF4-FFF2-40B4-BE49-F238E27FC236}">
                <a16:creationId xmlns:a16="http://schemas.microsoft.com/office/drawing/2014/main" id="{692B50E4-4FAE-DF4C-5015-953914C8BBC9}"/>
              </a:ext>
            </a:extLst>
          </p:cNvPr>
          <p:cNvGrpSpPr/>
          <p:nvPr/>
        </p:nvGrpSpPr>
        <p:grpSpPr>
          <a:xfrm>
            <a:off x="2718129" y="4773360"/>
            <a:ext cx="423468" cy="360000"/>
            <a:chOff x="1093312" y="4534057"/>
            <a:chExt cx="423468" cy="360000"/>
          </a:xfrm>
        </p:grpSpPr>
        <p:sp>
          <p:nvSpPr>
            <p:cNvPr id="54" name="타원 53">
              <a:extLst>
                <a:ext uri="{FF2B5EF4-FFF2-40B4-BE49-F238E27FC236}">
                  <a16:creationId xmlns:a16="http://schemas.microsoft.com/office/drawing/2014/main" id="{52490991-547A-3819-A28E-B5483A350757}"/>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TextBox 55">
              <a:extLst>
                <a:ext uri="{FF2B5EF4-FFF2-40B4-BE49-F238E27FC236}">
                  <a16:creationId xmlns:a16="http://schemas.microsoft.com/office/drawing/2014/main" id="{48516270-098F-3DF4-1E3E-7707AD9ED65D}"/>
                </a:ext>
              </a:extLst>
            </p:cNvPr>
            <p:cNvSpPr txBox="1"/>
            <p:nvPr/>
          </p:nvSpPr>
          <p:spPr>
            <a:xfrm>
              <a:off x="109331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57" name="화살표: 오른쪽 56">
            <a:extLst>
              <a:ext uri="{FF2B5EF4-FFF2-40B4-BE49-F238E27FC236}">
                <a16:creationId xmlns:a16="http://schemas.microsoft.com/office/drawing/2014/main" id="{ACDBF817-EAF6-7EE7-602C-6E52F6DE56D9}"/>
              </a:ext>
            </a:extLst>
          </p:cNvPr>
          <p:cNvSpPr/>
          <p:nvPr/>
        </p:nvSpPr>
        <p:spPr>
          <a:xfrm rot="16200000">
            <a:off x="2804094" y="4590073"/>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8" name="화살표: 오른쪽 57">
            <a:extLst>
              <a:ext uri="{FF2B5EF4-FFF2-40B4-BE49-F238E27FC236}">
                <a16:creationId xmlns:a16="http://schemas.microsoft.com/office/drawing/2014/main" id="{E543E214-987D-CD8C-86A1-0CD072809445}"/>
              </a:ext>
            </a:extLst>
          </p:cNvPr>
          <p:cNvSpPr/>
          <p:nvPr/>
        </p:nvSpPr>
        <p:spPr>
          <a:xfrm rot="16200000">
            <a:off x="2800244" y="3769951"/>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9" name="화살표: 오른쪽 58">
            <a:extLst>
              <a:ext uri="{FF2B5EF4-FFF2-40B4-BE49-F238E27FC236}">
                <a16:creationId xmlns:a16="http://schemas.microsoft.com/office/drawing/2014/main" id="{51E4BF9A-C8B1-C44E-9B3B-E973AB22136B}"/>
              </a:ext>
            </a:extLst>
          </p:cNvPr>
          <p:cNvSpPr/>
          <p:nvPr/>
        </p:nvSpPr>
        <p:spPr>
          <a:xfrm>
            <a:off x="3276183" y="333450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0" name="그룹 59">
            <a:extLst>
              <a:ext uri="{FF2B5EF4-FFF2-40B4-BE49-F238E27FC236}">
                <a16:creationId xmlns:a16="http://schemas.microsoft.com/office/drawing/2014/main" id="{2BC146BE-ACF2-5977-4980-E9FAD744A2EC}"/>
              </a:ext>
            </a:extLst>
          </p:cNvPr>
          <p:cNvGrpSpPr/>
          <p:nvPr/>
        </p:nvGrpSpPr>
        <p:grpSpPr>
          <a:xfrm>
            <a:off x="2653865" y="3134239"/>
            <a:ext cx="607582" cy="582171"/>
            <a:chOff x="2352577" y="2695993"/>
            <a:chExt cx="1946046" cy="1511439"/>
          </a:xfrm>
        </p:grpSpPr>
        <p:sp>
          <p:nvSpPr>
            <p:cNvPr id="61" name="사각형: 둥근 모서리 60">
              <a:extLst>
                <a:ext uri="{FF2B5EF4-FFF2-40B4-BE49-F238E27FC236}">
                  <a16:creationId xmlns:a16="http://schemas.microsoft.com/office/drawing/2014/main" id="{C9C30E44-BBC4-F1FE-7B8B-0FC8745A0BA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TextBox 61">
              <a:extLst>
                <a:ext uri="{FF2B5EF4-FFF2-40B4-BE49-F238E27FC236}">
                  <a16:creationId xmlns:a16="http://schemas.microsoft.com/office/drawing/2014/main" id="{F112F649-02C1-F7B2-8218-CF652ACC9A7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63" name="화살표: 오른쪽 62">
            <a:extLst>
              <a:ext uri="{FF2B5EF4-FFF2-40B4-BE49-F238E27FC236}">
                <a16:creationId xmlns:a16="http://schemas.microsoft.com/office/drawing/2014/main" id="{FBA7F352-639D-D06B-0E9D-B2D822E00E10}"/>
              </a:ext>
            </a:extLst>
          </p:cNvPr>
          <p:cNvSpPr/>
          <p:nvPr/>
        </p:nvSpPr>
        <p:spPr>
          <a:xfrm>
            <a:off x="4145129" y="3331565"/>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4" name="그룹 63">
            <a:extLst>
              <a:ext uri="{FF2B5EF4-FFF2-40B4-BE49-F238E27FC236}">
                <a16:creationId xmlns:a16="http://schemas.microsoft.com/office/drawing/2014/main" id="{92CE80F1-0181-78A8-58A3-0567096EB17A}"/>
              </a:ext>
            </a:extLst>
          </p:cNvPr>
          <p:cNvGrpSpPr/>
          <p:nvPr/>
        </p:nvGrpSpPr>
        <p:grpSpPr>
          <a:xfrm>
            <a:off x="3522811" y="3131302"/>
            <a:ext cx="607582" cy="582171"/>
            <a:chOff x="2352577" y="2695993"/>
            <a:chExt cx="1946046" cy="1511439"/>
          </a:xfrm>
        </p:grpSpPr>
        <p:sp>
          <p:nvSpPr>
            <p:cNvPr id="65" name="사각형: 둥근 모서리 64">
              <a:extLst>
                <a:ext uri="{FF2B5EF4-FFF2-40B4-BE49-F238E27FC236}">
                  <a16:creationId xmlns:a16="http://schemas.microsoft.com/office/drawing/2014/main" id="{79D8BF5D-F083-09D4-2F73-B89BA0E55D76}"/>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6" name="TextBox 65">
              <a:extLst>
                <a:ext uri="{FF2B5EF4-FFF2-40B4-BE49-F238E27FC236}">
                  <a16:creationId xmlns:a16="http://schemas.microsoft.com/office/drawing/2014/main" id="{F7E96B0A-3AB2-7C9B-EC10-6FD7D7EDB25D}"/>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67" name="그룹 66">
            <a:extLst>
              <a:ext uri="{FF2B5EF4-FFF2-40B4-BE49-F238E27FC236}">
                <a16:creationId xmlns:a16="http://schemas.microsoft.com/office/drawing/2014/main" id="{55CBD777-7824-E0F9-6FF1-E6D4FFE6DAC2}"/>
              </a:ext>
            </a:extLst>
          </p:cNvPr>
          <p:cNvGrpSpPr/>
          <p:nvPr/>
        </p:nvGrpSpPr>
        <p:grpSpPr>
          <a:xfrm>
            <a:off x="4397749" y="3131778"/>
            <a:ext cx="607582" cy="582171"/>
            <a:chOff x="2352577" y="2695993"/>
            <a:chExt cx="1946046" cy="1511439"/>
          </a:xfrm>
        </p:grpSpPr>
        <p:sp>
          <p:nvSpPr>
            <p:cNvPr id="68" name="사각형: 둥근 모서리 67">
              <a:extLst>
                <a:ext uri="{FF2B5EF4-FFF2-40B4-BE49-F238E27FC236}">
                  <a16:creationId xmlns:a16="http://schemas.microsoft.com/office/drawing/2014/main" id="{0ED806D2-6F9C-34EE-1C1D-23066AC8BBBD}"/>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TextBox 68">
              <a:extLst>
                <a:ext uri="{FF2B5EF4-FFF2-40B4-BE49-F238E27FC236}">
                  <a16:creationId xmlns:a16="http://schemas.microsoft.com/office/drawing/2014/main" id="{3BCC45C9-4B01-D06F-AE25-B183C6516B1E}"/>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2" name="직사각형 1">
            <a:extLst>
              <a:ext uri="{FF2B5EF4-FFF2-40B4-BE49-F238E27FC236}">
                <a16:creationId xmlns:a16="http://schemas.microsoft.com/office/drawing/2014/main" id="{7EF0AA1C-15CA-8F3A-8728-648B26ABC74D}"/>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6" name="사각형: 둥근 모서리 5">
            <a:extLst>
              <a:ext uri="{FF2B5EF4-FFF2-40B4-BE49-F238E27FC236}">
                <a16:creationId xmlns:a16="http://schemas.microsoft.com/office/drawing/2014/main" id="{7E86EEB2-DEE6-AEC9-3652-D47E58BAB183}"/>
              </a:ext>
            </a:extLst>
          </p:cNvPr>
          <p:cNvSpPr/>
          <p:nvPr/>
        </p:nvSpPr>
        <p:spPr>
          <a:xfrm>
            <a:off x="570368" y="3811509"/>
            <a:ext cx="2952443" cy="1502875"/>
          </a:xfrm>
          <a:prstGeom prst="roundRect">
            <a:avLst/>
          </a:prstGeom>
          <a:solidFill>
            <a:srgbClr val="CC3300">
              <a:alpha val="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2902789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 to N LSTM</a:t>
            </a:r>
          </a:p>
        </p:txBody>
      </p:sp>
      <p:sp>
        <p:nvSpPr>
          <p:cNvPr id="12" name="TextBox 11">
            <a:extLst>
              <a:ext uri="{FF2B5EF4-FFF2-40B4-BE49-F238E27FC236}">
                <a16:creationId xmlns:a16="http://schemas.microsoft.com/office/drawing/2014/main" id="{39FFC60B-AA7E-65DE-9FA1-BD94F5977DE0}"/>
              </a:ext>
            </a:extLst>
          </p:cNvPr>
          <p:cNvSpPr txBox="1"/>
          <p:nvPr/>
        </p:nvSpPr>
        <p:spPr>
          <a:xfrm>
            <a:off x="2440154" y="6510398"/>
            <a:ext cx="6747157" cy="276999"/>
          </a:xfrm>
          <a:prstGeom prst="rect">
            <a:avLst/>
          </a:prstGeom>
          <a:noFill/>
        </p:spPr>
        <p:txBody>
          <a:bodyPr wrap="square">
            <a:spAutoFit/>
          </a:bodyPr>
          <a:lstStyle/>
          <a:p>
            <a:r>
              <a:rPr lang="ko-KR" altLang="en-US" sz="1200" dirty="0"/>
              <a:t>https://m.blog.naver.com/PostView.naver?isHttpsRedirect=true&amp;blogId=chunjein&amp;logNo=221589624838</a:t>
            </a:r>
          </a:p>
        </p:txBody>
      </p:sp>
      <p:sp>
        <p:nvSpPr>
          <p:cNvPr id="3" name="TextBox 2">
            <a:extLst>
              <a:ext uri="{FF2B5EF4-FFF2-40B4-BE49-F238E27FC236}">
                <a16:creationId xmlns:a16="http://schemas.microsoft.com/office/drawing/2014/main" id="{A6B3AFC2-2D5F-118C-3AB4-7EF565FC995A}"/>
              </a:ext>
            </a:extLst>
          </p:cNvPr>
          <p:cNvSpPr txBox="1"/>
          <p:nvPr/>
        </p:nvSpPr>
        <p:spPr>
          <a:xfrm>
            <a:off x="4052888" y="3950659"/>
            <a:ext cx="4595812" cy="792781"/>
          </a:xfrm>
          <a:prstGeom prst="rect">
            <a:avLst/>
          </a:prstGeom>
          <a:noFill/>
        </p:spPr>
        <p:txBody>
          <a:bodyPr wrap="square">
            <a:spAutoFit/>
          </a:bodyPr>
          <a:lstStyle/>
          <a:p>
            <a:pPr>
              <a:lnSpc>
                <a:spcPct val="150000"/>
              </a:lnSpc>
            </a:pPr>
            <a:r>
              <a:rPr lang="en-US" altLang="ko-KR" sz="1600" dirty="0"/>
              <a:t>LSTML = </a:t>
            </a:r>
            <a:r>
              <a:rPr lang="en-US" altLang="ko-KR" sz="1600" dirty="0" err="1"/>
              <a:t>RepeatVector</a:t>
            </a:r>
            <a:r>
              <a:rPr lang="en-US" altLang="ko-KR" sz="1600" dirty="0"/>
              <a:t>(Units)(LSTML)</a:t>
            </a:r>
          </a:p>
          <a:p>
            <a:pPr>
              <a:lnSpc>
                <a:spcPct val="150000"/>
              </a:lnSpc>
            </a:pPr>
            <a:r>
              <a:rPr lang="en-US" altLang="ko-KR" sz="1600" dirty="0"/>
              <a:t>LSTML = </a:t>
            </a:r>
            <a:r>
              <a:rPr lang="en-US" altLang="ko-KR" sz="1600" dirty="0" err="1"/>
              <a:t>TimeDistributed</a:t>
            </a:r>
            <a:r>
              <a:rPr lang="en-US" altLang="ko-KR" sz="1600" dirty="0"/>
              <a:t>(Dense(</a:t>
            </a:r>
            <a:r>
              <a:rPr lang="en-US" altLang="ko-KR" sz="1600" dirty="0">
                <a:solidFill>
                  <a:schemeClr val="accent6">
                    <a:lumMod val="75000"/>
                  </a:schemeClr>
                </a:solidFill>
              </a:rPr>
              <a:t>10</a:t>
            </a:r>
            <a:r>
              <a:rPr lang="en-US" altLang="ko-KR" sz="1600" dirty="0"/>
              <a:t>))(LSTML)</a:t>
            </a:r>
            <a:endParaRPr lang="ko-KR" altLang="en-US" sz="1600" dirty="0"/>
          </a:p>
        </p:txBody>
      </p:sp>
      <p:sp>
        <p:nvSpPr>
          <p:cNvPr id="4" name="화살표: 오른쪽 3">
            <a:extLst>
              <a:ext uri="{FF2B5EF4-FFF2-40B4-BE49-F238E27FC236}">
                <a16:creationId xmlns:a16="http://schemas.microsoft.com/office/drawing/2014/main" id="{C648A8F5-9EEA-2258-85BA-4C1CC66C8FA6}"/>
              </a:ext>
            </a:extLst>
          </p:cNvPr>
          <p:cNvSpPr/>
          <p:nvPr/>
        </p:nvSpPr>
        <p:spPr>
          <a:xfrm>
            <a:off x="1504533" y="4161971"/>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5" name="그룹 4">
            <a:extLst>
              <a:ext uri="{FF2B5EF4-FFF2-40B4-BE49-F238E27FC236}">
                <a16:creationId xmlns:a16="http://schemas.microsoft.com/office/drawing/2014/main" id="{FC9956E1-2769-E446-95CD-B5257F7473C8}"/>
              </a:ext>
            </a:extLst>
          </p:cNvPr>
          <p:cNvGrpSpPr/>
          <p:nvPr/>
        </p:nvGrpSpPr>
        <p:grpSpPr>
          <a:xfrm>
            <a:off x="882215" y="3961708"/>
            <a:ext cx="607582" cy="582171"/>
            <a:chOff x="2352577" y="2695993"/>
            <a:chExt cx="1946046" cy="1511439"/>
          </a:xfrm>
        </p:grpSpPr>
        <p:sp>
          <p:nvSpPr>
            <p:cNvPr id="11" name="사각형: 둥근 모서리 10">
              <a:extLst>
                <a:ext uri="{FF2B5EF4-FFF2-40B4-BE49-F238E27FC236}">
                  <a16:creationId xmlns:a16="http://schemas.microsoft.com/office/drawing/2014/main" id="{9F9982F1-4154-1D76-DF19-3BE173CA5F66}"/>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TextBox 12">
              <a:extLst>
                <a:ext uri="{FF2B5EF4-FFF2-40B4-BE49-F238E27FC236}">
                  <a16:creationId xmlns:a16="http://schemas.microsoft.com/office/drawing/2014/main" id="{1CA8C605-1A85-8191-F0FF-D0904F437F59}"/>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4" name="그룹 13">
            <a:extLst>
              <a:ext uri="{FF2B5EF4-FFF2-40B4-BE49-F238E27FC236}">
                <a16:creationId xmlns:a16="http://schemas.microsoft.com/office/drawing/2014/main" id="{CF596210-E5F2-103D-ECC7-30EC4AA44196}"/>
              </a:ext>
            </a:extLst>
          </p:cNvPr>
          <p:cNvGrpSpPr/>
          <p:nvPr/>
        </p:nvGrpSpPr>
        <p:grpSpPr>
          <a:xfrm>
            <a:off x="983770" y="4775821"/>
            <a:ext cx="423468" cy="360000"/>
            <a:chOff x="1102837" y="4534057"/>
            <a:chExt cx="423468" cy="360000"/>
          </a:xfrm>
        </p:grpSpPr>
        <p:sp>
          <p:nvSpPr>
            <p:cNvPr id="15" name="타원 14">
              <a:extLst>
                <a:ext uri="{FF2B5EF4-FFF2-40B4-BE49-F238E27FC236}">
                  <a16:creationId xmlns:a16="http://schemas.microsoft.com/office/drawing/2014/main" id="{9885EAC1-7BE9-6A50-2A14-280104D7593B}"/>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D4B4F920-93E2-F0AC-D3A8-2C684623A492}"/>
                </a:ext>
              </a:extLst>
            </p:cNvPr>
            <p:cNvSpPr txBox="1"/>
            <p:nvPr/>
          </p:nvSpPr>
          <p:spPr>
            <a:xfrm>
              <a:off x="1102837"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20" name="화살표: 오른쪽 19">
            <a:extLst>
              <a:ext uri="{FF2B5EF4-FFF2-40B4-BE49-F238E27FC236}">
                <a16:creationId xmlns:a16="http://schemas.microsoft.com/office/drawing/2014/main" id="{DE2A01F0-00C4-D007-3E86-D603F011AB09}"/>
              </a:ext>
            </a:extLst>
          </p:cNvPr>
          <p:cNvSpPr/>
          <p:nvPr/>
        </p:nvSpPr>
        <p:spPr>
          <a:xfrm rot="16200000">
            <a:off x="1069735" y="4592534"/>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화살표: 오른쪽 21">
            <a:extLst>
              <a:ext uri="{FF2B5EF4-FFF2-40B4-BE49-F238E27FC236}">
                <a16:creationId xmlns:a16="http://schemas.microsoft.com/office/drawing/2014/main" id="{148D82CE-1056-2201-59D3-8625481EB892}"/>
              </a:ext>
            </a:extLst>
          </p:cNvPr>
          <p:cNvSpPr/>
          <p:nvPr/>
        </p:nvSpPr>
        <p:spPr>
          <a:xfrm>
            <a:off x="2373479" y="4159034"/>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 name="그룹 25">
            <a:extLst>
              <a:ext uri="{FF2B5EF4-FFF2-40B4-BE49-F238E27FC236}">
                <a16:creationId xmlns:a16="http://schemas.microsoft.com/office/drawing/2014/main" id="{56F87DC2-AD70-2DBB-ED49-906FF8EAF043}"/>
              </a:ext>
            </a:extLst>
          </p:cNvPr>
          <p:cNvGrpSpPr/>
          <p:nvPr/>
        </p:nvGrpSpPr>
        <p:grpSpPr>
          <a:xfrm>
            <a:off x="1751161" y="3958771"/>
            <a:ext cx="607582" cy="582171"/>
            <a:chOff x="2352577" y="2695993"/>
            <a:chExt cx="1946046" cy="1511439"/>
          </a:xfrm>
        </p:grpSpPr>
        <p:sp>
          <p:nvSpPr>
            <p:cNvPr id="28" name="사각형: 둥근 모서리 27">
              <a:extLst>
                <a:ext uri="{FF2B5EF4-FFF2-40B4-BE49-F238E27FC236}">
                  <a16:creationId xmlns:a16="http://schemas.microsoft.com/office/drawing/2014/main" id="{1C4A3A0C-CE0A-C82E-D970-05481A3E8CCC}"/>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TextBox 28">
              <a:extLst>
                <a:ext uri="{FF2B5EF4-FFF2-40B4-BE49-F238E27FC236}">
                  <a16:creationId xmlns:a16="http://schemas.microsoft.com/office/drawing/2014/main" id="{FC533D0F-FD89-2610-1B08-15330F81DA61}"/>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2" name="그룹 31">
            <a:extLst>
              <a:ext uri="{FF2B5EF4-FFF2-40B4-BE49-F238E27FC236}">
                <a16:creationId xmlns:a16="http://schemas.microsoft.com/office/drawing/2014/main" id="{21BF94A6-141F-C3AC-7FEF-B0D71379A6E0}"/>
              </a:ext>
            </a:extLst>
          </p:cNvPr>
          <p:cNvGrpSpPr/>
          <p:nvPr/>
        </p:nvGrpSpPr>
        <p:grpSpPr>
          <a:xfrm>
            <a:off x="1833666" y="4772884"/>
            <a:ext cx="423468" cy="360000"/>
            <a:chOff x="1083787" y="4534057"/>
            <a:chExt cx="423468" cy="360000"/>
          </a:xfrm>
        </p:grpSpPr>
        <p:sp>
          <p:nvSpPr>
            <p:cNvPr id="34" name="타원 33">
              <a:extLst>
                <a:ext uri="{FF2B5EF4-FFF2-40B4-BE49-F238E27FC236}">
                  <a16:creationId xmlns:a16="http://schemas.microsoft.com/office/drawing/2014/main" id="{F50AF347-D5B0-1A4B-11E7-755A45055373}"/>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TextBox 34">
              <a:extLst>
                <a:ext uri="{FF2B5EF4-FFF2-40B4-BE49-F238E27FC236}">
                  <a16:creationId xmlns:a16="http://schemas.microsoft.com/office/drawing/2014/main" id="{57526DCC-8CD9-E502-62E3-46F916A9CA31}"/>
                </a:ext>
              </a:extLst>
            </p:cNvPr>
            <p:cNvSpPr txBox="1"/>
            <p:nvPr/>
          </p:nvSpPr>
          <p:spPr>
            <a:xfrm>
              <a:off x="1083787"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38" name="화살표: 오른쪽 37">
            <a:extLst>
              <a:ext uri="{FF2B5EF4-FFF2-40B4-BE49-F238E27FC236}">
                <a16:creationId xmlns:a16="http://schemas.microsoft.com/office/drawing/2014/main" id="{F1A55DD3-FC5D-0893-7978-885F6E3A0CDB}"/>
              </a:ext>
            </a:extLst>
          </p:cNvPr>
          <p:cNvSpPr/>
          <p:nvPr/>
        </p:nvSpPr>
        <p:spPr>
          <a:xfrm rot="16200000">
            <a:off x="1929156" y="4589597"/>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43" name="그룹 42">
            <a:extLst>
              <a:ext uri="{FF2B5EF4-FFF2-40B4-BE49-F238E27FC236}">
                <a16:creationId xmlns:a16="http://schemas.microsoft.com/office/drawing/2014/main" id="{FFF713DD-CB58-F58F-B010-DCEEA32D1AC3}"/>
              </a:ext>
            </a:extLst>
          </p:cNvPr>
          <p:cNvGrpSpPr/>
          <p:nvPr/>
        </p:nvGrpSpPr>
        <p:grpSpPr>
          <a:xfrm>
            <a:off x="2626099" y="3959247"/>
            <a:ext cx="607582" cy="582171"/>
            <a:chOff x="2352577" y="2695993"/>
            <a:chExt cx="1946046" cy="1511439"/>
          </a:xfrm>
        </p:grpSpPr>
        <p:sp>
          <p:nvSpPr>
            <p:cNvPr id="44" name="사각형: 둥근 모서리 43">
              <a:extLst>
                <a:ext uri="{FF2B5EF4-FFF2-40B4-BE49-F238E27FC236}">
                  <a16:creationId xmlns:a16="http://schemas.microsoft.com/office/drawing/2014/main" id="{CB4DDFAC-AE74-9107-4B08-4E1419ED9DF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TextBox 48">
              <a:extLst>
                <a:ext uri="{FF2B5EF4-FFF2-40B4-BE49-F238E27FC236}">
                  <a16:creationId xmlns:a16="http://schemas.microsoft.com/office/drawing/2014/main" id="{4A5BBF92-D312-FC0A-4DF1-576000248E8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50" name="그룹 49">
            <a:extLst>
              <a:ext uri="{FF2B5EF4-FFF2-40B4-BE49-F238E27FC236}">
                <a16:creationId xmlns:a16="http://schemas.microsoft.com/office/drawing/2014/main" id="{692B50E4-4FAE-DF4C-5015-953914C8BBC9}"/>
              </a:ext>
            </a:extLst>
          </p:cNvPr>
          <p:cNvGrpSpPr/>
          <p:nvPr/>
        </p:nvGrpSpPr>
        <p:grpSpPr>
          <a:xfrm>
            <a:off x="2718129" y="4773360"/>
            <a:ext cx="423468" cy="360000"/>
            <a:chOff x="1093312" y="4534057"/>
            <a:chExt cx="423468" cy="360000"/>
          </a:xfrm>
        </p:grpSpPr>
        <p:sp>
          <p:nvSpPr>
            <p:cNvPr id="54" name="타원 53">
              <a:extLst>
                <a:ext uri="{FF2B5EF4-FFF2-40B4-BE49-F238E27FC236}">
                  <a16:creationId xmlns:a16="http://schemas.microsoft.com/office/drawing/2014/main" id="{52490991-547A-3819-A28E-B5483A350757}"/>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TextBox 55">
              <a:extLst>
                <a:ext uri="{FF2B5EF4-FFF2-40B4-BE49-F238E27FC236}">
                  <a16:creationId xmlns:a16="http://schemas.microsoft.com/office/drawing/2014/main" id="{48516270-098F-3DF4-1E3E-7707AD9ED65D}"/>
                </a:ext>
              </a:extLst>
            </p:cNvPr>
            <p:cNvSpPr txBox="1"/>
            <p:nvPr/>
          </p:nvSpPr>
          <p:spPr>
            <a:xfrm>
              <a:off x="109331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57" name="화살표: 오른쪽 56">
            <a:extLst>
              <a:ext uri="{FF2B5EF4-FFF2-40B4-BE49-F238E27FC236}">
                <a16:creationId xmlns:a16="http://schemas.microsoft.com/office/drawing/2014/main" id="{ACDBF817-EAF6-7EE7-602C-6E52F6DE56D9}"/>
              </a:ext>
            </a:extLst>
          </p:cNvPr>
          <p:cNvSpPr/>
          <p:nvPr/>
        </p:nvSpPr>
        <p:spPr>
          <a:xfrm rot="16200000">
            <a:off x="2804094" y="4590073"/>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8" name="화살표: 오른쪽 57">
            <a:extLst>
              <a:ext uri="{FF2B5EF4-FFF2-40B4-BE49-F238E27FC236}">
                <a16:creationId xmlns:a16="http://schemas.microsoft.com/office/drawing/2014/main" id="{E543E214-987D-CD8C-86A1-0CD072809445}"/>
              </a:ext>
            </a:extLst>
          </p:cNvPr>
          <p:cNvSpPr/>
          <p:nvPr/>
        </p:nvSpPr>
        <p:spPr>
          <a:xfrm rot="16200000">
            <a:off x="2800244" y="3769951"/>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9" name="화살표: 오른쪽 58">
            <a:extLst>
              <a:ext uri="{FF2B5EF4-FFF2-40B4-BE49-F238E27FC236}">
                <a16:creationId xmlns:a16="http://schemas.microsoft.com/office/drawing/2014/main" id="{51E4BF9A-C8B1-C44E-9B3B-E973AB22136B}"/>
              </a:ext>
            </a:extLst>
          </p:cNvPr>
          <p:cNvSpPr/>
          <p:nvPr/>
        </p:nvSpPr>
        <p:spPr>
          <a:xfrm>
            <a:off x="3276183" y="333450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0" name="그룹 59">
            <a:extLst>
              <a:ext uri="{FF2B5EF4-FFF2-40B4-BE49-F238E27FC236}">
                <a16:creationId xmlns:a16="http://schemas.microsoft.com/office/drawing/2014/main" id="{2BC146BE-ACF2-5977-4980-E9FAD744A2EC}"/>
              </a:ext>
            </a:extLst>
          </p:cNvPr>
          <p:cNvGrpSpPr/>
          <p:nvPr/>
        </p:nvGrpSpPr>
        <p:grpSpPr>
          <a:xfrm>
            <a:off x="2653865" y="3134239"/>
            <a:ext cx="607582" cy="582171"/>
            <a:chOff x="2352577" y="2695993"/>
            <a:chExt cx="1946046" cy="1511439"/>
          </a:xfrm>
        </p:grpSpPr>
        <p:sp>
          <p:nvSpPr>
            <p:cNvPr id="61" name="사각형: 둥근 모서리 60">
              <a:extLst>
                <a:ext uri="{FF2B5EF4-FFF2-40B4-BE49-F238E27FC236}">
                  <a16:creationId xmlns:a16="http://schemas.microsoft.com/office/drawing/2014/main" id="{C9C30E44-BBC4-F1FE-7B8B-0FC8745A0BA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TextBox 61">
              <a:extLst>
                <a:ext uri="{FF2B5EF4-FFF2-40B4-BE49-F238E27FC236}">
                  <a16:creationId xmlns:a16="http://schemas.microsoft.com/office/drawing/2014/main" id="{F112F649-02C1-F7B2-8218-CF652ACC9A7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63" name="화살표: 오른쪽 62">
            <a:extLst>
              <a:ext uri="{FF2B5EF4-FFF2-40B4-BE49-F238E27FC236}">
                <a16:creationId xmlns:a16="http://schemas.microsoft.com/office/drawing/2014/main" id="{FBA7F352-639D-D06B-0E9D-B2D822E00E10}"/>
              </a:ext>
            </a:extLst>
          </p:cNvPr>
          <p:cNvSpPr/>
          <p:nvPr/>
        </p:nvSpPr>
        <p:spPr>
          <a:xfrm>
            <a:off x="4145129" y="3331565"/>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4" name="그룹 63">
            <a:extLst>
              <a:ext uri="{FF2B5EF4-FFF2-40B4-BE49-F238E27FC236}">
                <a16:creationId xmlns:a16="http://schemas.microsoft.com/office/drawing/2014/main" id="{92CE80F1-0181-78A8-58A3-0567096EB17A}"/>
              </a:ext>
            </a:extLst>
          </p:cNvPr>
          <p:cNvGrpSpPr/>
          <p:nvPr/>
        </p:nvGrpSpPr>
        <p:grpSpPr>
          <a:xfrm>
            <a:off x="3522811" y="3131302"/>
            <a:ext cx="607582" cy="582171"/>
            <a:chOff x="2352577" y="2695993"/>
            <a:chExt cx="1946046" cy="1511439"/>
          </a:xfrm>
        </p:grpSpPr>
        <p:sp>
          <p:nvSpPr>
            <p:cNvPr id="65" name="사각형: 둥근 모서리 64">
              <a:extLst>
                <a:ext uri="{FF2B5EF4-FFF2-40B4-BE49-F238E27FC236}">
                  <a16:creationId xmlns:a16="http://schemas.microsoft.com/office/drawing/2014/main" id="{79D8BF5D-F083-09D4-2F73-B89BA0E55D76}"/>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6" name="TextBox 65">
              <a:extLst>
                <a:ext uri="{FF2B5EF4-FFF2-40B4-BE49-F238E27FC236}">
                  <a16:creationId xmlns:a16="http://schemas.microsoft.com/office/drawing/2014/main" id="{F7E96B0A-3AB2-7C9B-EC10-6FD7D7EDB25D}"/>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67" name="그룹 66">
            <a:extLst>
              <a:ext uri="{FF2B5EF4-FFF2-40B4-BE49-F238E27FC236}">
                <a16:creationId xmlns:a16="http://schemas.microsoft.com/office/drawing/2014/main" id="{55CBD777-7824-E0F9-6FF1-E6D4FFE6DAC2}"/>
              </a:ext>
            </a:extLst>
          </p:cNvPr>
          <p:cNvGrpSpPr/>
          <p:nvPr/>
        </p:nvGrpSpPr>
        <p:grpSpPr>
          <a:xfrm>
            <a:off x="4397749" y="3131778"/>
            <a:ext cx="607582" cy="582171"/>
            <a:chOff x="2352577" y="2695993"/>
            <a:chExt cx="1946046" cy="1511439"/>
          </a:xfrm>
        </p:grpSpPr>
        <p:sp>
          <p:nvSpPr>
            <p:cNvPr id="68" name="사각형: 둥근 모서리 67">
              <a:extLst>
                <a:ext uri="{FF2B5EF4-FFF2-40B4-BE49-F238E27FC236}">
                  <a16:creationId xmlns:a16="http://schemas.microsoft.com/office/drawing/2014/main" id="{0ED806D2-6F9C-34EE-1C1D-23066AC8BBBD}"/>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TextBox 68">
              <a:extLst>
                <a:ext uri="{FF2B5EF4-FFF2-40B4-BE49-F238E27FC236}">
                  <a16:creationId xmlns:a16="http://schemas.microsoft.com/office/drawing/2014/main" id="{3BCC45C9-4B01-D06F-AE25-B183C6516B1E}"/>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2" name="직사각형 1">
            <a:extLst>
              <a:ext uri="{FF2B5EF4-FFF2-40B4-BE49-F238E27FC236}">
                <a16:creationId xmlns:a16="http://schemas.microsoft.com/office/drawing/2014/main" id="{C1A29B23-46E2-4266-A9F0-400E163A26D1}"/>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6" name="사각형: 둥근 모서리 5">
            <a:extLst>
              <a:ext uri="{FF2B5EF4-FFF2-40B4-BE49-F238E27FC236}">
                <a16:creationId xmlns:a16="http://schemas.microsoft.com/office/drawing/2014/main" id="{76DFE085-98D2-D6DC-0812-0E950AF4FC68}"/>
              </a:ext>
            </a:extLst>
          </p:cNvPr>
          <p:cNvSpPr/>
          <p:nvPr/>
        </p:nvSpPr>
        <p:spPr>
          <a:xfrm>
            <a:off x="2373479" y="3023652"/>
            <a:ext cx="2952443" cy="843508"/>
          </a:xfrm>
          <a:prstGeom prst="roundRect">
            <a:avLst/>
          </a:prstGeom>
          <a:solidFill>
            <a:srgbClr val="CC3300">
              <a:alpha val="5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9985225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511439"/>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a:p>
            <a:pPr marL="741600" lvl="1" indent="-284400">
              <a:lnSpc>
                <a:spcPct val="150000"/>
              </a:lnSpc>
              <a:buFont typeface="Arial" panose="020B0604020202020204" pitchFamily="34" charset="0"/>
              <a:buChar char="•"/>
            </a:pPr>
            <a:r>
              <a:rPr lang="en-US" altLang="ko-KR" sz="2000" dirty="0" err="1">
                <a:latin typeface="Arial Narrow" panose="020B0606020202030204" pitchFamily="34" charset="0"/>
              </a:rPr>
              <a:t>RepeatVector</a:t>
            </a:r>
            <a:endParaRPr lang="en-US" altLang="ko-KR" sz="2000" dirty="0">
              <a:latin typeface="Arial Narrow" panose="020B0606020202030204" pitchFamily="34" charset="0"/>
            </a:endParaRPr>
          </a:p>
          <a:p>
            <a:pPr marL="1198800" lvl="2"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Repeats the input n times.</a:t>
            </a:r>
          </a:p>
        </p:txBody>
      </p:sp>
      <p:sp>
        <p:nvSpPr>
          <p:cNvPr id="4" name="화살표: 오른쪽 3">
            <a:extLst>
              <a:ext uri="{FF2B5EF4-FFF2-40B4-BE49-F238E27FC236}">
                <a16:creationId xmlns:a16="http://schemas.microsoft.com/office/drawing/2014/main" id="{C648A8F5-9EEA-2258-85BA-4C1CC66C8FA6}"/>
              </a:ext>
            </a:extLst>
          </p:cNvPr>
          <p:cNvSpPr/>
          <p:nvPr/>
        </p:nvSpPr>
        <p:spPr>
          <a:xfrm>
            <a:off x="1504533" y="4161971"/>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5" name="그룹 4">
            <a:extLst>
              <a:ext uri="{FF2B5EF4-FFF2-40B4-BE49-F238E27FC236}">
                <a16:creationId xmlns:a16="http://schemas.microsoft.com/office/drawing/2014/main" id="{FC9956E1-2769-E446-95CD-B5257F7473C8}"/>
              </a:ext>
            </a:extLst>
          </p:cNvPr>
          <p:cNvGrpSpPr/>
          <p:nvPr/>
        </p:nvGrpSpPr>
        <p:grpSpPr>
          <a:xfrm>
            <a:off x="882215" y="3961708"/>
            <a:ext cx="607582" cy="582171"/>
            <a:chOff x="2352577" y="2695993"/>
            <a:chExt cx="1946046" cy="1511439"/>
          </a:xfrm>
        </p:grpSpPr>
        <p:sp>
          <p:nvSpPr>
            <p:cNvPr id="11" name="사각형: 둥근 모서리 10">
              <a:extLst>
                <a:ext uri="{FF2B5EF4-FFF2-40B4-BE49-F238E27FC236}">
                  <a16:creationId xmlns:a16="http://schemas.microsoft.com/office/drawing/2014/main" id="{9F9982F1-4154-1D76-DF19-3BE173CA5F66}"/>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TextBox 12">
              <a:extLst>
                <a:ext uri="{FF2B5EF4-FFF2-40B4-BE49-F238E27FC236}">
                  <a16:creationId xmlns:a16="http://schemas.microsoft.com/office/drawing/2014/main" id="{1CA8C605-1A85-8191-F0FF-D0904F437F59}"/>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4" name="그룹 13">
            <a:extLst>
              <a:ext uri="{FF2B5EF4-FFF2-40B4-BE49-F238E27FC236}">
                <a16:creationId xmlns:a16="http://schemas.microsoft.com/office/drawing/2014/main" id="{CF596210-E5F2-103D-ECC7-30EC4AA44196}"/>
              </a:ext>
            </a:extLst>
          </p:cNvPr>
          <p:cNvGrpSpPr/>
          <p:nvPr/>
        </p:nvGrpSpPr>
        <p:grpSpPr>
          <a:xfrm>
            <a:off x="983770" y="4775821"/>
            <a:ext cx="423468" cy="360000"/>
            <a:chOff x="1102837" y="4534057"/>
            <a:chExt cx="423468" cy="360000"/>
          </a:xfrm>
        </p:grpSpPr>
        <p:sp>
          <p:nvSpPr>
            <p:cNvPr id="15" name="타원 14">
              <a:extLst>
                <a:ext uri="{FF2B5EF4-FFF2-40B4-BE49-F238E27FC236}">
                  <a16:creationId xmlns:a16="http://schemas.microsoft.com/office/drawing/2014/main" id="{9885EAC1-7BE9-6A50-2A14-280104D7593B}"/>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D4B4F920-93E2-F0AC-D3A8-2C684623A492}"/>
                </a:ext>
              </a:extLst>
            </p:cNvPr>
            <p:cNvSpPr txBox="1"/>
            <p:nvPr/>
          </p:nvSpPr>
          <p:spPr>
            <a:xfrm>
              <a:off x="1102837"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20" name="화살표: 오른쪽 19">
            <a:extLst>
              <a:ext uri="{FF2B5EF4-FFF2-40B4-BE49-F238E27FC236}">
                <a16:creationId xmlns:a16="http://schemas.microsoft.com/office/drawing/2014/main" id="{DE2A01F0-00C4-D007-3E86-D603F011AB09}"/>
              </a:ext>
            </a:extLst>
          </p:cNvPr>
          <p:cNvSpPr/>
          <p:nvPr/>
        </p:nvSpPr>
        <p:spPr>
          <a:xfrm rot="16200000">
            <a:off x="1069735" y="4592534"/>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화살표: 오른쪽 21">
            <a:extLst>
              <a:ext uri="{FF2B5EF4-FFF2-40B4-BE49-F238E27FC236}">
                <a16:creationId xmlns:a16="http://schemas.microsoft.com/office/drawing/2014/main" id="{148D82CE-1056-2201-59D3-8625481EB892}"/>
              </a:ext>
            </a:extLst>
          </p:cNvPr>
          <p:cNvSpPr/>
          <p:nvPr/>
        </p:nvSpPr>
        <p:spPr>
          <a:xfrm>
            <a:off x="2373479" y="4159034"/>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 name="그룹 25">
            <a:extLst>
              <a:ext uri="{FF2B5EF4-FFF2-40B4-BE49-F238E27FC236}">
                <a16:creationId xmlns:a16="http://schemas.microsoft.com/office/drawing/2014/main" id="{56F87DC2-AD70-2DBB-ED49-906FF8EAF043}"/>
              </a:ext>
            </a:extLst>
          </p:cNvPr>
          <p:cNvGrpSpPr/>
          <p:nvPr/>
        </p:nvGrpSpPr>
        <p:grpSpPr>
          <a:xfrm>
            <a:off x="1751161" y="3958771"/>
            <a:ext cx="607582" cy="582171"/>
            <a:chOff x="2352577" y="2695993"/>
            <a:chExt cx="1946046" cy="1511439"/>
          </a:xfrm>
        </p:grpSpPr>
        <p:sp>
          <p:nvSpPr>
            <p:cNvPr id="28" name="사각형: 둥근 모서리 27">
              <a:extLst>
                <a:ext uri="{FF2B5EF4-FFF2-40B4-BE49-F238E27FC236}">
                  <a16:creationId xmlns:a16="http://schemas.microsoft.com/office/drawing/2014/main" id="{1C4A3A0C-CE0A-C82E-D970-05481A3E8CCC}"/>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TextBox 28">
              <a:extLst>
                <a:ext uri="{FF2B5EF4-FFF2-40B4-BE49-F238E27FC236}">
                  <a16:creationId xmlns:a16="http://schemas.microsoft.com/office/drawing/2014/main" id="{FC533D0F-FD89-2610-1B08-15330F81DA61}"/>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2" name="그룹 31">
            <a:extLst>
              <a:ext uri="{FF2B5EF4-FFF2-40B4-BE49-F238E27FC236}">
                <a16:creationId xmlns:a16="http://schemas.microsoft.com/office/drawing/2014/main" id="{21BF94A6-141F-C3AC-7FEF-B0D71379A6E0}"/>
              </a:ext>
            </a:extLst>
          </p:cNvPr>
          <p:cNvGrpSpPr/>
          <p:nvPr/>
        </p:nvGrpSpPr>
        <p:grpSpPr>
          <a:xfrm>
            <a:off x="1833666" y="4772884"/>
            <a:ext cx="423468" cy="360000"/>
            <a:chOff x="1083787" y="4534057"/>
            <a:chExt cx="423468" cy="360000"/>
          </a:xfrm>
        </p:grpSpPr>
        <p:sp>
          <p:nvSpPr>
            <p:cNvPr id="34" name="타원 33">
              <a:extLst>
                <a:ext uri="{FF2B5EF4-FFF2-40B4-BE49-F238E27FC236}">
                  <a16:creationId xmlns:a16="http://schemas.microsoft.com/office/drawing/2014/main" id="{F50AF347-D5B0-1A4B-11E7-755A45055373}"/>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TextBox 34">
              <a:extLst>
                <a:ext uri="{FF2B5EF4-FFF2-40B4-BE49-F238E27FC236}">
                  <a16:creationId xmlns:a16="http://schemas.microsoft.com/office/drawing/2014/main" id="{57526DCC-8CD9-E502-62E3-46F916A9CA31}"/>
                </a:ext>
              </a:extLst>
            </p:cNvPr>
            <p:cNvSpPr txBox="1"/>
            <p:nvPr/>
          </p:nvSpPr>
          <p:spPr>
            <a:xfrm>
              <a:off x="1083787"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38" name="화살표: 오른쪽 37">
            <a:extLst>
              <a:ext uri="{FF2B5EF4-FFF2-40B4-BE49-F238E27FC236}">
                <a16:creationId xmlns:a16="http://schemas.microsoft.com/office/drawing/2014/main" id="{F1A55DD3-FC5D-0893-7978-885F6E3A0CDB}"/>
              </a:ext>
            </a:extLst>
          </p:cNvPr>
          <p:cNvSpPr/>
          <p:nvPr/>
        </p:nvSpPr>
        <p:spPr>
          <a:xfrm rot="16200000">
            <a:off x="1929156" y="4589597"/>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43" name="그룹 42">
            <a:extLst>
              <a:ext uri="{FF2B5EF4-FFF2-40B4-BE49-F238E27FC236}">
                <a16:creationId xmlns:a16="http://schemas.microsoft.com/office/drawing/2014/main" id="{FFF713DD-CB58-F58F-B010-DCEEA32D1AC3}"/>
              </a:ext>
            </a:extLst>
          </p:cNvPr>
          <p:cNvGrpSpPr/>
          <p:nvPr/>
        </p:nvGrpSpPr>
        <p:grpSpPr>
          <a:xfrm>
            <a:off x="2626099" y="3959247"/>
            <a:ext cx="607582" cy="582171"/>
            <a:chOff x="2352577" y="2695993"/>
            <a:chExt cx="1946046" cy="1511439"/>
          </a:xfrm>
        </p:grpSpPr>
        <p:sp>
          <p:nvSpPr>
            <p:cNvPr id="44" name="사각형: 둥근 모서리 43">
              <a:extLst>
                <a:ext uri="{FF2B5EF4-FFF2-40B4-BE49-F238E27FC236}">
                  <a16:creationId xmlns:a16="http://schemas.microsoft.com/office/drawing/2014/main" id="{CB4DDFAC-AE74-9107-4B08-4E1419ED9DF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TextBox 48">
              <a:extLst>
                <a:ext uri="{FF2B5EF4-FFF2-40B4-BE49-F238E27FC236}">
                  <a16:creationId xmlns:a16="http://schemas.microsoft.com/office/drawing/2014/main" id="{4A5BBF92-D312-FC0A-4DF1-576000248E8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50" name="그룹 49">
            <a:extLst>
              <a:ext uri="{FF2B5EF4-FFF2-40B4-BE49-F238E27FC236}">
                <a16:creationId xmlns:a16="http://schemas.microsoft.com/office/drawing/2014/main" id="{692B50E4-4FAE-DF4C-5015-953914C8BBC9}"/>
              </a:ext>
            </a:extLst>
          </p:cNvPr>
          <p:cNvGrpSpPr/>
          <p:nvPr/>
        </p:nvGrpSpPr>
        <p:grpSpPr>
          <a:xfrm>
            <a:off x="2718129" y="4773360"/>
            <a:ext cx="423468" cy="360000"/>
            <a:chOff x="1093312" y="4534057"/>
            <a:chExt cx="423468" cy="360000"/>
          </a:xfrm>
        </p:grpSpPr>
        <p:sp>
          <p:nvSpPr>
            <p:cNvPr id="54" name="타원 53">
              <a:extLst>
                <a:ext uri="{FF2B5EF4-FFF2-40B4-BE49-F238E27FC236}">
                  <a16:creationId xmlns:a16="http://schemas.microsoft.com/office/drawing/2014/main" id="{52490991-547A-3819-A28E-B5483A350757}"/>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TextBox 55">
              <a:extLst>
                <a:ext uri="{FF2B5EF4-FFF2-40B4-BE49-F238E27FC236}">
                  <a16:creationId xmlns:a16="http://schemas.microsoft.com/office/drawing/2014/main" id="{48516270-098F-3DF4-1E3E-7707AD9ED65D}"/>
                </a:ext>
              </a:extLst>
            </p:cNvPr>
            <p:cNvSpPr txBox="1"/>
            <p:nvPr/>
          </p:nvSpPr>
          <p:spPr>
            <a:xfrm>
              <a:off x="109331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57" name="화살표: 오른쪽 56">
            <a:extLst>
              <a:ext uri="{FF2B5EF4-FFF2-40B4-BE49-F238E27FC236}">
                <a16:creationId xmlns:a16="http://schemas.microsoft.com/office/drawing/2014/main" id="{ACDBF817-EAF6-7EE7-602C-6E52F6DE56D9}"/>
              </a:ext>
            </a:extLst>
          </p:cNvPr>
          <p:cNvSpPr/>
          <p:nvPr/>
        </p:nvSpPr>
        <p:spPr>
          <a:xfrm rot="16200000">
            <a:off x="2804094" y="4590073"/>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8" name="화살표: 오른쪽 57">
            <a:extLst>
              <a:ext uri="{FF2B5EF4-FFF2-40B4-BE49-F238E27FC236}">
                <a16:creationId xmlns:a16="http://schemas.microsoft.com/office/drawing/2014/main" id="{E543E214-987D-CD8C-86A1-0CD072809445}"/>
              </a:ext>
            </a:extLst>
          </p:cNvPr>
          <p:cNvSpPr/>
          <p:nvPr/>
        </p:nvSpPr>
        <p:spPr>
          <a:xfrm rot="16200000">
            <a:off x="2800244" y="3769951"/>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9" name="화살표: 오른쪽 58">
            <a:extLst>
              <a:ext uri="{FF2B5EF4-FFF2-40B4-BE49-F238E27FC236}">
                <a16:creationId xmlns:a16="http://schemas.microsoft.com/office/drawing/2014/main" id="{51E4BF9A-C8B1-C44E-9B3B-E973AB22136B}"/>
              </a:ext>
            </a:extLst>
          </p:cNvPr>
          <p:cNvSpPr/>
          <p:nvPr/>
        </p:nvSpPr>
        <p:spPr>
          <a:xfrm>
            <a:off x="3276183" y="333450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0" name="그룹 59">
            <a:extLst>
              <a:ext uri="{FF2B5EF4-FFF2-40B4-BE49-F238E27FC236}">
                <a16:creationId xmlns:a16="http://schemas.microsoft.com/office/drawing/2014/main" id="{2BC146BE-ACF2-5977-4980-E9FAD744A2EC}"/>
              </a:ext>
            </a:extLst>
          </p:cNvPr>
          <p:cNvGrpSpPr/>
          <p:nvPr/>
        </p:nvGrpSpPr>
        <p:grpSpPr>
          <a:xfrm>
            <a:off x="2653865" y="3134239"/>
            <a:ext cx="607582" cy="582171"/>
            <a:chOff x="2352577" y="2695993"/>
            <a:chExt cx="1946046" cy="1511439"/>
          </a:xfrm>
        </p:grpSpPr>
        <p:sp>
          <p:nvSpPr>
            <p:cNvPr id="61" name="사각형: 둥근 모서리 60">
              <a:extLst>
                <a:ext uri="{FF2B5EF4-FFF2-40B4-BE49-F238E27FC236}">
                  <a16:creationId xmlns:a16="http://schemas.microsoft.com/office/drawing/2014/main" id="{C9C30E44-BBC4-F1FE-7B8B-0FC8745A0BA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TextBox 61">
              <a:extLst>
                <a:ext uri="{FF2B5EF4-FFF2-40B4-BE49-F238E27FC236}">
                  <a16:creationId xmlns:a16="http://schemas.microsoft.com/office/drawing/2014/main" id="{F112F649-02C1-F7B2-8218-CF652ACC9A7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63" name="화살표: 오른쪽 62">
            <a:extLst>
              <a:ext uri="{FF2B5EF4-FFF2-40B4-BE49-F238E27FC236}">
                <a16:creationId xmlns:a16="http://schemas.microsoft.com/office/drawing/2014/main" id="{FBA7F352-639D-D06B-0E9D-B2D822E00E10}"/>
              </a:ext>
            </a:extLst>
          </p:cNvPr>
          <p:cNvSpPr/>
          <p:nvPr/>
        </p:nvSpPr>
        <p:spPr>
          <a:xfrm>
            <a:off x="4145129" y="3331565"/>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4" name="그룹 63">
            <a:extLst>
              <a:ext uri="{FF2B5EF4-FFF2-40B4-BE49-F238E27FC236}">
                <a16:creationId xmlns:a16="http://schemas.microsoft.com/office/drawing/2014/main" id="{92CE80F1-0181-78A8-58A3-0567096EB17A}"/>
              </a:ext>
            </a:extLst>
          </p:cNvPr>
          <p:cNvGrpSpPr/>
          <p:nvPr/>
        </p:nvGrpSpPr>
        <p:grpSpPr>
          <a:xfrm>
            <a:off x="3522811" y="3131302"/>
            <a:ext cx="607582" cy="582171"/>
            <a:chOff x="2352577" y="2695993"/>
            <a:chExt cx="1946046" cy="1511439"/>
          </a:xfrm>
        </p:grpSpPr>
        <p:sp>
          <p:nvSpPr>
            <p:cNvPr id="65" name="사각형: 둥근 모서리 64">
              <a:extLst>
                <a:ext uri="{FF2B5EF4-FFF2-40B4-BE49-F238E27FC236}">
                  <a16:creationId xmlns:a16="http://schemas.microsoft.com/office/drawing/2014/main" id="{79D8BF5D-F083-09D4-2F73-B89BA0E55D76}"/>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6" name="TextBox 65">
              <a:extLst>
                <a:ext uri="{FF2B5EF4-FFF2-40B4-BE49-F238E27FC236}">
                  <a16:creationId xmlns:a16="http://schemas.microsoft.com/office/drawing/2014/main" id="{F7E96B0A-3AB2-7C9B-EC10-6FD7D7EDB25D}"/>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67" name="그룹 66">
            <a:extLst>
              <a:ext uri="{FF2B5EF4-FFF2-40B4-BE49-F238E27FC236}">
                <a16:creationId xmlns:a16="http://schemas.microsoft.com/office/drawing/2014/main" id="{55CBD777-7824-E0F9-6FF1-E6D4FFE6DAC2}"/>
              </a:ext>
            </a:extLst>
          </p:cNvPr>
          <p:cNvGrpSpPr/>
          <p:nvPr/>
        </p:nvGrpSpPr>
        <p:grpSpPr>
          <a:xfrm>
            <a:off x="4397749" y="3131778"/>
            <a:ext cx="607582" cy="582171"/>
            <a:chOff x="2352577" y="2695993"/>
            <a:chExt cx="1946046" cy="1511439"/>
          </a:xfrm>
        </p:grpSpPr>
        <p:sp>
          <p:nvSpPr>
            <p:cNvPr id="68" name="사각형: 둥근 모서리 67">
              <a:extLst>
                <a:ext uri="{FF2B5EF4-FFF2-40B4-BE49-F238E27FC236}">
                  <a16:creationId xmlns:a16="http://schemas.microsoft.com/office/drawing/2014/main" id="{0ED806D2-6F9C-34EE-1C1D-23066AC8BBBD}"/>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TextBox 68">
              <a:extLst>
                <a:ext uri="{FF2B5EF4-FFF2-40B4-BE49-F238E27FC236}">
                  <a16:creationId xmlns:a16="http://schemas.microsoft.com/office/drawing/2014/main" id="{3BCC45C9-4B01-D06F-AE25-B183C6516B1E}"/>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2" name="화살표: U자형 1">
            <a:extLst>
              <a:ext uri="{FF2B5EF4-FFF2-40B4-BE49-F238E27FC236}">
                <a16:creationId xmlns:a16="http://schemas.microsoft.com/office/drawing/2014/main" id="{49150151-1E1A-CA82-247D-0FE5E1CBD827}"/>
              </a:ext>
            </a:extLst>
          </p:cNvPr>
          <p:cNvSpPr/>
          <p:nvPr/>
        </p:nvSpPr>
        <p:spPr>
          <a:xfrm>
            <a:off x="3094861" y="2880310"/>
            <a:ext cx="705614" cy="237516"/>
          </a:xfrm>
          <a:prstGeom prst="uturnArrow">
            <a:avLst>
              <a:gd name="adj1" fmla="val 25000"/>
              <a:gd name="adj2" fmla="val 25000"/>
              <a:gd name="adj3" fmla="val 18671"/>
              <a:gd name="adj4" fmla="val 50000"/>
              <a:gd name="adj5" fmla="val 100000"/>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 name="화살표: U자형 6">
            <a:extLst>
              <a:ext uri="{FF2B5EF4-FFF2-40B4-BE49-F238E27FC236}">
                <a16:creationId xmlns:a16="http://schemas.microsoft.com/office/drawing/2014/main" id="{6C371C63-B25C-E988-3B78-E03D8876AF54}"/>
              </a:ext>
            </a:extLst>
          </p:cNvPr>
          <p:cNvSpPr/>
          <p:nvPr/>
        </p:nvSpPr>
        <p:spPr>
          <a:xfrm>
            <a:off x="4019438" y="2881433"/>
            <a:ext cx="705614" cy="237516"/>
          </a:xfrm>
          <a:prstGeom prst="uturnArrow">
            <a:avLst>
              <a:gd name="adj1" fmla="val 25000"/>
              <a:gd name="adj2" fmla="val 25000"/>
              <a:gd name="adj3" fmla="val 18671"/>
              <a:gd name="adj4" fmla="val 50000"/>
              <a:gd name="adj5" fmla="val 100000"/>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9" name="TextBox 8">
            <a:extLst>
              <a:ext uri="{FF2B5EF4-FFF2-40B4-BE49-F238E27FC236}">
                <a16:creationId xmlns:a16="http://schemas.microsoft.com/office/drawing/2014/main" id="{50D073D1-2879-7D4B-8EE7-0DF92CA556F1}"/>
              </a:ext>
            </a:extLst>
          </p:cNvPr>
          <p:cNvSpPr txBox="1"/>
          <p:nvPr/>
        </p:nvSpPr>
        <p:spPr>
          <a:xfrm>
            <a:off x="3202623" y="2614970"/>
            <a:ext cx="607582" cy="307777"/>
          </a:xfrm>
          <a:prstGeom prst="rect">
            <a:avLst/>
          </a:prstGeom>
          <a:noFill/>
        </p:spPr>
        <p:txBody>
          <a:bodyPr wrap="square">
            <a:spAutoFit/>
          </a:bodyPr>
          <a:lstStyle/>
          <a:p>
            <a:r>
              <a:rPr lang="en-US" altLang="ko-KR" sz="1400" b="1" i="1">
                <a:solidFill>
                  <a:srgbClr val="CC3300"/>
                </a:solidFill>
                <a:latin typeface="Arial Narrow" panose="020B0606020202030204" pitchFamily="34" charset="0"/>
              </a:rPr>
              <a:t>Copy</a:t>
            </a:r>
            <a:endParaRPr lang="ko-KR" altLang="en-US" sz="1400" b="1" i="1" dirty="0">
              <a:solidFill>
                <a:srgbClr val="CC3300"/>
              </a:solidFill>
            </a:endParaRPr>
          </a:p>
        </p:txBody>
      </p:sp>
      <p:sp>
        <p:nvSpPr>
          <p:cNvPr id="17" name="TextBox 16">
            <a:extLst>
              <a:ext uri="{FF2B5EF4-FFF2-40B4-BE49-F238E27FC236}">
                <a16:creationId xmlns:a16="http://schemas.microsoft.com/office/drawing/2014/main" id="{88669B47-343F-308D-3044-37CB4D9087F0}"/>
              </a:ext>
            </a:extLst>
          </p:cNvPr>
          <p:cNvSpPr txBox="1"/>
          <p:nvPr/>
        </p:nvSpPr>
        <p:spPr>
          <a:xfrm>
            <a:off x="4060525" y="2614970"/>
            <a:ext cx="607582" cy="307777"/>
          </a:xfrm>
          <a:prstGeom prst="rect">
            <a:avLst/>
          </a:prstGeom>
          <a:noFill/>
        </p:spPr>
        <p:txBody>
          <a:bodyPr wrap="square">
            <a:spAutoFit/>
          </a:bodyPr>
          <a:lstStyle/>
          <a:p>
            <a:r>
              <a:rPr lang="en-US" altLang="ko-KR" sz="1400" b="1" i="1">
                <a:solidFill>
                  <a:srgbClr val="CC3300"/>
                </a:solidFill>
                <a:latin typeface="Arial Narrow" panose="020B0606020202030204" pitchFamily="34" charset="0"/>
              </a:rPr>
              <a:t>Copy</a:t>
            </a:r>
            <a:endParaRPr lang="ko-KR" altLang="en-US" sz="1400" b="1" i="1" dirty="0">
              <a:solidFill>
                <a:srgbClr val="CC3300"/>
              </a:solidFill>
            </a:endParaRPr>
          </a:p>
        </p:txBody>
      </p:sp>
      <p:sp>
        <p:nvSpPr>
          <p:cNvPr id="3" name="직사각형 2">
            <a:extLst>
              <a:ext uri="{FF2B5EF4-FFF2-40B4-BE49-F238E27FC236}">
                <a16:creationId xmlns:a16="http://schemas.microsoft.com/office/drawing/2014/main" id="{617F4F7A-0F02-885C-BCE9-68F1285164C8}"/>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10886565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98362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a:p>
            <a:pPr marL="741600" lvl="1" indent="-284400">
              <a:lnSpc>
                <a:spcPct val="150000"/>
              </a:lnSpc>
              <a:buFont typeface="Arial" panose="020B0604020202020204" pitchFamily="34" charset="0"/>
              <a:buChar char="•"/>
            </a:pPr>
            <a:r>
              <a:rPr lang="en-US" altLang="ko-KR" sz="2000" dirty="0" err="1">
                <a:latin typeface="Arial Narrow" panose="020B0606020202030204" pitchFamily="34" charset="0"/>
              </a:rPr>
              <a:t>TimeDistributed</a:t>
            </a:r>
            <a:endParaRPr lang="en-US" altLang="ko-KR" sz="2000" dirty="0">
              <a:latin typeface="Arial Narrow" panose="020B0606020202030204" pitchFamily="34" charset="0"/>
            </a:endParaRPr>
          </a:p>
          <a:p>
            <a:pPr marL="1198800" lvl="2" indent="-284400">
              <a:lnSpc>
                <a:spcPct val="150000"/>
              </a:lnSpc>
              <a:buFont typeface="Arial" panose="020B0604020202020204" pitchFamily="34" charset="0"/>
              <a:buChar char="•"/>
            </a:pPr>
            <a:r>
              <a:rPr lang="en-US" altLang="ko-KR" sz="2000" dirty="0">
                <a:latin typeface="Arial Narrow" panose="020B0606020202030204" pitchFamily="34" charset="0"/>
              </a:rPr>
              <a:t>This wrapper allows to apply a layer to every temporal slice of an input.</a:t>
            </a:r>
          </a:p>
          <a:p>
            <a:pPr marL="1198800" lvl="2" indent="-284400">
              <a:lnSpc>
                <a:spcPct val="150000"/>
              </a:lnSpc>
              <a:buFont typeface="Arial" panose="020B0604020202020204" pitchFamily="34" charset="0"/>
              <a:buChar char="•"/>
            </a:pPr>
            <a:endParaRPr lang="en-US" altLang="ko-KR" sz="2000" dirty="0"/>
          </a:p>
        </p:txBody>
      </p:sp>
      <p:sp>
        <p:nvSpPr>
          <p:cNvPr id="12" name="TextBox 11">
            <a:extLst>
              <a:ext uri="{FF2B5EF4-FFF2-40B4-BE49-F238E27FC236}">
                <a16:creationId xmlns:a16="http://schemas.microsoft.com/office/drawing/2014/main" id="{39FFC60B-AA7E-65DE-9FA1-BD94F5977DE0}"/>
              </a:ext>
            </a:extLst>
          </p:cNvPr>
          <p:cNvSpPr txBox="1"/>
          <p:nvPr/>
        </p:nvSpPr>
        <p:spPr>
          <a:xfrm>
            <a:off x="2440154" y="6510398"/>
            <a:ext cx="6747157" cy="276999"/>
          </a:xfrm>
          <a:prstGeom prst="rect">
            <a:avLst/>
          </a:prstGeom>
          <a:noFill/>
        </p:spPr>
        <p:txBody>
          <a:bodyPr wrap="square">
            <a:spAutoFit/>
          </a:bodyPr>
          <a:lstStyle/>
          <a:p>
            <a:r>
              <a:rPr lang="ko-KR" altLang="en-US" sz="1200" dirty="0"/>
              <a:t>https://m.blog.naver.com/PostView.naver?isHttpsRedirect=true&amp;blogId=chunjein&amp;logNo=221589624838</a:t>
            </a:r>
          </a:p>
        </p:txBody>
      </p:sp>
      <p:pic>
        <p:nvPicPr>
          <p:cNvPr id="7170" name="Picture 2">
            <a:extLst>
              <a:ext uri="{FF2B5EF4-FFF2-40B4-BE49-F238E27FC236}">
                <a16:creationId xmlns:a16="http://schemas.microsoft.com/office/drawing/2014/main" id="{9737A513-2D2B-16DC-3000-ADF5250DB66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269"/>
          <a:stretch/>
        </p:blipFill>
        <p:spPr bwMode="auto">
          <a:xfrm>
            <a:off x="971550" y="3075682"/>
            <a:ext cx="5105400" cy="264318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3230F2B-E73B-559A-9173-7DC805257029}"/>
              </a:ext>
            </a:extLst>
          </p:cNvPr>
          <p:cNvSpPr txBox="1"/>
          <p:nvPr/>
        </p:nvSpPr>
        <p:spPr>
          <a:xfrm>
            <a:off x="2186864" y="5831473"/>
            <a:ext cx="2674771" cy="338554"/>
          </a:xfrm>
          <a:prstGeom prst="rect">
            <a:avLst/>
          </a:prstGeom>
          <a:noFill/>
        </p:spPr>
        <p:txBody>
          <a:bodyPr wrap="square">
            <a:spAutoFit/>
          </a:bodyPr>
          <a:lstStyle/>
          <a:p>
            <a:r>
              <a:rPr lang="en-US" altLang="ko-KR" sz="1600" dirty="0">
                <a:latin typeface="Arial Narrow" panose="020B0606020202030204" pitchFamily="34" charset="0"/>
              </a:rPr>
              <a:t>When </a:t>
            </a:r>
            <a:r>
              <a:rPr lang="en-US" altLang="ko-KR" sz="1600" dirty="0" err="1">
                <a:latin typeface="Arial Narrow" panose="020B0606020202030204" pitchFamily="34" charset="0"/>
              </a:rPr>
              <a:t>TimeDistributed</a:t>
            </a:r>
            <a:r>
              <a:rPr lang="en-US" altLang="ko-KR" sz="1600" dirty="0">
                <a:latin typeface="Arial Narrow" panose="020B0606020202030204" pitchFamily="34" charset="0"/>
              </a:rPr>
              <a:t> is applied. </a:t>
            </a:r>
            <a:endParaRPr lang="ko-KR" altLang="en-US" sz="1600" dirty="0">
              <a:latin typeface="Arial Narrow" panose="020B0606020202030204" pitchFamily="34" charset="0"/>
            </a:endParaRPr>
          </a:p>
        </p:txBody>
      </p:sp>
      <p:grpSp>
        <p:nvGrpSpPr>
          <p:cNvPr id="9" name="그룹 8">
            <a:extLst>
              <a:ext uri="{FF2B5EF4-FFF2-40B4-BE49-F238E27FC236}">
                <a16:creationId xmlns:a16="http://schemas.microsoft.com/office/drawing/2014/main" id="{818F8212-A7AB-4E0F-E228-7703E9F53246}"/>
              </a:ext>
            </a:extLst>
          </p:cNvPr>
          <p:cNvGrpSpPr/>
          <p:nvPr/>
        </p:nvGrpSpPr>
        <p:grpSpPr>
          <a:xfrm>
            <a:off x="6524267" y="3734761"/>
            <a:ext cx="2124433" cy="1372098"/>
            <a:chOff x="6719728" y="3914278"/>
            <a:chExt cx="2124433" cy="1372098"/>
          </a:xfrm>
        </p:grpSpPr>
        <p:sp>
          <p:nvSpPr>
            <p:cNvPr id="7" name="사각형: 둥근 모서리 6">
              <a:extLst>
                <a:ext uri="{FF2B5EF4-FFF2-40B4-BE49-F238E27FC236}">
                  <a16:creationId xmlns:a16="http://schemas.microsoft.com/office/drawing/2014/main" id="{0258980D-D257-1056-704F-3BD56B39FD53}"/>
                </a:ext>
              </a:extLst>
            </p:cNvPr>
            <p:cNvSpPr/>
            <p:nvPr/>
          </p:nvSpPr>
          <p:spPr>
            <a:xfrm>
              <a:off x="6719728" y="3914278"/>
              <a:ext cx="2124433" cy="1372098"/>
            </a:xfrm>
            <a:prstGeom prst="roundRect">
              <a:avLst>
                <a:gd name="adj" fmla="val 12345"/>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TextBox 3">
              <a:extLst>
                <a:ext uri="{FF2B5EF4-FFF2-40B4-BE49-F238E27FC236}">
                  <a16:creationId xmlns:a16="http://schemas.microsoft.com/office/drawing/2014/main" id="{12313D8D-9841-3C3E-0693-B3493CAF0BC7}"/>
                </a:ext>
              </a:extLst>
            </p:cNvPr>
            <p:cNvSpPr txBox="1"/>
            <p:nvPr/>
          </p:nvSpPr>
          <p:spPr>
            <a:xfrm>
              <a:off x="6879371" y="3932831"/>
              <a:ext cx="1964790" cy="1200329"/>
            </a:xfrm>
            <a:prstGeom prst="rect">
              <a:avLst/>
            </a:prstGeom>
            <a:noFill/>
          </p:spPr>
          <p:txBody>
            <a:bodyPr wrap="square">
              <a:spAutoFit/>
            </a:bodyPr>
            <a:lstStyle/>
            <a:p>
              <a:r>
                <a:rPr lang="en-US" altLang="ko-KR" dirty="0">
                  <a:latin typeface="Arial Narrow" panose="020B0606020202030204" pitchFamily="34" charset="0"/>
                </a:rPr>
                <a:t>The errors calculated at each step is propagated through backpropagation.</a:t>
              </a:r>
            </a:p>
          </p:txBody>
        </p:sp>
      </p:grpSp>
      <p:sp>
        <p:nvSpPr>
          <p:cNvPr id="2" name="직사각형 1">
            <a:extLst>
              <a:ext uri="{FF2B5EF4-FFF2-40B4-BE49-F238E27FC236}">
                <a16:creationId xmlns:a16="http://schemas.microsoft.com/office/drawing/2014/main" id="{D457C1EC-0D3A-ED42-035B-44E071E46631}"/>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38923542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98362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a:p>
            <a:pPr marL="741600" lvl="1" indent="-284400">
              <a:lnSpc>
                <a:spcPct val="150000"/>
              </a:lnSpc>
              <a:buFont typeface="Arial" panose="020B0604020202020204" pitchFamily="34" charset="0"/>
              <a:buChar char="•"/>
            </a:pPr>
            <a:r>
              <a:rPr lang="en-US" altLang="ko-KR" sz="2000" dirty="0" err="1">
                <a:latin typeface="Arial Narrow" panose="020B0606020202030204" pitchFamily="34" charset="0"/>
              </a:rPr>
              <a:t>TimeDistributed</a:t>
            </a:r>
            <a:endParaRPr lang="en-US" altLang="ko-KR" sz="2000" dirty="0">
              <a:latin typeface="Arial Narrow" panose="020B0606020202030204" pitchFamily="34" charset="0"/>
            </a:endParaRPr>
          </a:p>
          <a:p>
            <a:pPr marL="1198800" lvl="2" indent="-284400">
              <a:lnSpc>
                <a:spcPct val="150000"/>
              </a:lnSpc>
              <a:buFont typeface="Arial" panose="020B0604020202020204" pitchFamily="34" charset="0"/>
              <a:buChar char="•"/>
            </a:pPr>
            <a:r>
              <a:rPr lang="en-US" altLang="ko-KR" sz="2000" dirty="0">
                <a:latin typeface="Arial Narrow" panose="020B0606020202030204" pitchFamily="34" charset="0"/>
              </a:rPr>
              <a:t>This wrapper allows to apply a layer to every temporal slice of an input.</a:t>
            </a:r>
          </a:p>
          <a:p>
            <a:pPr marL="1198800" lvl="2" indent="-284400">
              <a:lnSpc>
                <a:spcPct val="150000"/>
              </a:lnSpc>
              <a:buFont typeface="Arial" panose="020B0604020202020204" pitchFamily="34" charset="0"/>
              <a:buChar char="•"/>
            </a:pPr>
            <a:endParaRPr lang="en-US" altLang="ko-KR" sz="2000" dirty="0"/>
          </a:p>
        </p:txBody>
      </p:sp>
      <p:sp>
        <p:nvSpPr>
          <p:cNvPr id="12" name="TextBox 11">
            <a:extLst>
              <a:ext uri="{FF2B5EF4-FFF2-40B4-BE49-F238E27FC236}">
                <a16:creationId xmlns:a16="http://schemas.microsoft.com/office/drawing/2014/main" id="{39FFC60B-AA7E-65DE-9FA1-BD94F5977DE0}"/>
              </a:ext>
            </a:extLst>
          </p:cNvPr>
          <p:cNvSpPr txBox="1"/>
          <p:nvPr/>
        </p:nvSpPr>
        <p:spPr>
          <a:xfrm>
            <a:off x="2440154" y="6510398"/>
            <a:ext cx="6747157" cy="276999"/>
          </a:xfrm>
          <a:prstGeom prst="rect">
            <a:avLst/>
          </a:prstGeom>
          <a:noFill/>
        </p:spPr>
        <p:txBody>
          <a:bodyPr wrap="square">
            <a:spAutoFit/>
          </a:bodyPr>
          <a:lstStyle/>
          <a:p>
            <a:r>
              <a:rPr lang="ko-KR" altLang="en-US" sz="1200" dirty="0"/>
              <a:t>https://m.blog.naver.com/PostView.naver?isHttpsRedirect=true&amp;blogId=chunjein&amp;logNo=221589624838</a:t>
            </a:r>
          </a:p>
        </p:txBody>
      </p:sp>
      <p:pic>
        <p:nvPicPr>
          <p:cNvPr id="27" name="그림 26">
            <a:extLst>
              <a:ext uri="{FF2B5EF4-FFF2-40B4-BE49-F238E27FC236}">
                <a16:creationId xmlns:a16="http://schemas.microsoft.com/office/drawing/2014/main" id="{048789F2-F2CD-232C-2F84-C2E73CD2B01A}"/>
              </a:ext>
            </a:extLst>
          </p:cNvPr>
          <p:cNvPicPr>
            <a:picLocks noChangeAspect="1"/>
          </p:cNvPicPr>
          <p:nvPr/>
        </p:nvPicPr>
        <p:blipFill>
          <a:blip r:embed="rId3"/>
          <a:stretch>
            <a:fillRect/>
          </a:stretch>
        </p:blipFill>
        <p:spPr>
          <a:xfrm>
            <a:off x="1704589" y="2839501"/>
            <a:ext cx="4096136" cy="3027899"/>
          </a:xfrm>
          <a:prstGeom prst="rect">
            <a:avLst/>
          </a:prstGeom>
        </p:spPr>
      </p:pic>
      <p:sp>
        <p:nvSpPr>
          <p:cNvPr id="30" name="TextBox 29">
            <a:extLst>
              <a:ext uri="{FF2B5EF4-FFF2-40B4-BE49-F238E27FC236}">
                <a16:creationId xmlns:a16="http://schemas.microsoft.com/office/drawing/2014/main" id="{3EF22B52-B87C-7D39-DF72-94E5288D44EC}"/>
              </a:ext>
            </a:extLst>
          </p:cNvPr>
          <p:cNvSpPr txBox="1"/>
          <p:nvPr/>
        </p:nvSpPr>
        <p:spPr>
          <a:xfrm>
            <a:off x="2276834" y="5838647"/>
            <a:ext cx="3094908" cy="338554"/>
          </a:xfrm>
          <a:prstGeom prst="rect">
            <a:avLst/>
          </a:prstGeom>
          <a:noFill/>
        </p:spPr>
        <p:txBody>
          <a:bodyPr wrap="square">
            <a:spAutoFit/>
          </a:bodyPr>
          <a:lstStyle/>
          <a:p>
            <a:r>
              <a:rPr lang="en-US" altLang="ko-KR" sz="1600" dirty="0">
                <a:latin typeface="Arial Narrow" panose="020B0606020202030204" pitchFamily="34" charset="0"/>
              </a:rPr>
              <a:t>When </a:t>
            </a:r>
            <a:r>
              <a:rPr lang="en-US" altLang="ko-KR" sz="1600" dirty="0" err="1">
                <a:latin typeface="Arial Narrow" panose="020B0606020202030204" pitchFamily="34" charset="0"/>
              </a:rPr>
              <a:t>TimeDistributed</a:t>
            </a:r>
            <a:r>
              <a:rPr lang="en-US" altLang="ko-KR" sz="1600" dirty="0">
                <a:latin typeface="Arial Narrow" panose="020B0606020202030204" pitchFamily="34" charset="0"/>
              </a:rPr>
              <a:t> is not applied. </a:t>
            </a:r>
            <a:endParaRPr lang="ko-KR" altLang="en-US" sz="1600" dirty="0">
              <a:latin typeface="Arial Narrow" panose="020B0606020202030204" pitchFamily="34" charset="0"/>
            </a:endParaRPr>
          </a:p>
        </p:txBody>
      </p:sp>
      <p:grpSp>
        <p:nvGrpSpPr>
          <p:cNvPr id="31" name="그룹 30">
            <a:extLst>
              <a:ext uri="{FF2B5EF4-FFF2-40B4-BE49-F238E27FC236}">
                <a16:creationId xmlns:a16="http://schemas.microsoft.com/office/drawing/2014/main" id="{47857832-99BE-A9C4-E9C5-79BC5F256316}"/>
              </a:ext>
            </a:extLst>
          </p:cNvPr>
          <p:cNvGrpSpPr/>
          <p:nvPr/>
        </p:nvGrpSpPr>
        <p:grpSpPr>
          <a:xfrm>
            <a:off x="6524267" y="3734761"/>
            <a:ext cx="2319893" cy="1495882"/>
            <a:chOff x="6719728" y="3914278"/>
            <a:chExt cx="2319893" cy="1495882"/>
          </a:xfrm>
        </p:grpSpPr>
        <p:sp>
          <p:nvSpPr>
            <p:cNvPr id="33" name="사각형: 둥근 모서리 32">
              <a:extLst>
                <a:ext uri="{FF2B5EF4-FFF2-40B4-BE49-F238E27FC236}">
                  <a16:creationId xmlns:a16="http://schemas.microsoft.com/office/drawing/2014/main" id="{47870154-A869-ECC3-8202-868190794626}"/>
                </a:ext>
              </a:extLst>
            </p:cNvPr>
            <p:cNvSpPr/>
            <p:nvPr/>
          </p:nvSpPr>
          <p:spPr>
            <a:xfrm>
              <a:off x="6719728" y="3914278"/>
              <a:ext cx="2319893" cy="1495882"/>
            </a:xfrm>
            <a:prstGeom prst="roundRect">
              <a:avLst>
                <a:gd name="adj" fmla="val 12345"/>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TextBox 38">
              <a:extLst>
                <a:ext uri="{FF2B5EF4-FFF2-40B4-BE49-F238E27FC236}">
                  <a16:creationId xmlns:a16="http://schemas.microsoft.com/office/drawing/2014/main" id="{7522BDBC-B024-B815-3BD4-0E13F86F1D36}"/>
                </a:ext>
              </a:extLst>
            </p:cNvPr>
            <p:cNvSpPr txBox="1"/>
            <p:nvPr/>
          </p:nvSpPr>
          <p:spPr>
            <a:xfrm>
              <a:off x="6719728" y="3932831"/>
              <a:ext cx="2319893" cy="1477328"/>
            </a:xfrm>
            <a:prstGeom prst="rect">
              <a:avLst/>
            </a:prstGeom>
            <a:noFill/>
          </p:spPr>
          <p:txBody>
            <a:bodyPr wrap="square">
              <a:spAutoFit/>
            </a:bodyPr>
            <a:lstStyle/>
            <a:p>
              <a:r>
                <a:rPr lang="en-US" altLang="ko-KR" dirty="0">
                  <a:latin typeface="Arial Narrow" panose="020B0606020202030204" pitchFamily="34" charset="0"/>
                </a:rPr>
                <a:t>Errors in the intermediate output values ​​stacked in the last step are propagated through backpropagation.</a:t>
              </a:r>
            </a:p>
          </p:txBody>
        </p:sp>
      </p:grpSp>
      <p:sp>
        <p:nvSpPr>
          <p:cNvPr id="2" name="직사각형 1">
            <a:extLst>
              <a:ext uri="{FF2B5EF4-FFF2-40B4-BE49-F238E27FC236}">
                <a16:creationId xmlns:a16="http://schemas.microsoft.com/office/drawing/2014/main" id="{1834ADB9-1C24-C780-210E-A4EBD1005937}"/>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37834703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1049775"/>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a:p>
            <a:pPr marL="741600" lvl="1" indent="-284400">
              <a:lnSpc>
                <a:spcPct val="150000"/>
              </a:lnSpc>
              <a:buFont typeface="Arial" panose="020B0604020202020204" pitchFamily="34" charset="0"/>
              <a:buChar char="•"/>
            </a:pPr>
            <a:r>
              <a:rPr lang="en-US" altLang="ko-KR" sz="2000" dirty="0">
                <a:solidFill>
                  <a:srgbClr val="222222"/>
                </a:solidFill>
                <a:latin typeface="Arial Narrow" panose="020B0606020202030204" pitchFamily="34" charset="0"/>
              </a:rPr>
              <a:t>M to N LSTM</a:t>
            </a:r>
          </a:p>
        </p:txBody>
      </p:sp>
      <p:sp>
        <p:nvSpPr>
          <p:cNvPr id="17" name="화살표: 오른쪽 16">
            <a:extLst>
              <a:ext uri="{FF2B5EF4-FFF2-40B4-BE49-F238E27FC236}">
                <a16:creationId xmlns:a16="http://schemas.microsoft.com/office/drawing/2014/main" id="{0E19E40E-4AD2-CBD9-7F47-1BBABFF341C6}"/>
              </a:ext>
            </a:extLst>
          </p:cNvPr>
          <p:cNvSpPr/>
          <p:nvPr/>
        </p:nvSpPr>
        <p:spPr>
          <a:xfrm>
            <a:off x="1504533" y="4161971"/>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 name="그룹 17">
            <a:extLst>
              <a:ext uri="{FF2B5EF4-FFF2-40B4-BE49-F238E27FC236}">
                <a16:creationId xmlns:a16="http://schemas.microsoft.com/office/drawing/2014/main" id="{FB55618F-7DB0-8122-462A-D84D8A0AD07E}"/>
              </a:ext>
            </a:extLst>
          </p:cNvPr>
          <p:cNvGrpSpPr/>
          <p:nvPr/>
        </p:nvGrpSpPr>
        <p:grpSpPr>
          <a:xfrm>
            <a:off x="882215" y="3961708"/>
            <a:ext cx="607582" cy="582171"/>
            <a:chOff x="2352577" y="2695993"/>
            <a:chExt cx="1946046" cy="1511439"/>
          </a:xfrm>
        </p:grpSpPr>
        <p:sp>
          <p:nvSpPr>
            <p:cNvPr id="53" name="사각형: 둥근 모서리 52">
              <a:extLst>
                <a:ext uri="{FF2B5EF4-FFF2-40B4-BE49-F238E27FC236}">
                  <a16:creationId xmlns:a16="http://schemas.microsoft.com/office/drawing/2014/main" id="{42A05EDF-7C08-9F38-D190-27448B71C1C0}"/>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TextBox 54">
              <a:extLst>
                <a:ext uri="{FF2B5EF4-FFF2-40B4-BE49-F238E27FC236}">
                  <a16:creationId xmlns:a16="http://schemas.microsoft.com/office/drawing/2014/main" id="{1382B41A-BED4-17FC-BBC8-184589EB67C7}"/>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9" name="그룹 18">
            <a:extLst>
              <a:ext uri="{FF2B5EF4-FFF2-40B4-BE49-F238E27FC236}">
                <a16:creationId xmlns:a16="http://schemas.microsoft.com/office/drawing/2014/main" id="{08A9B520-F5D0-BAF2-C226-F8CFC5A69944}"/>
              </a:ext>
            </a:extLst>
          </p:cNvPr>
          <p:cNvGrpSpPr/>
          <p:nvPr/>
        </p:nvGrpSpPr>
        <p:grpSpPr>
          <a:xfrm>
            <a:off x="983770" y="4775821"/>
            <a:ext cx="423468" cy="360000"/>
            <a:chOff x="1102837" y="4534057"/>
            <a:chExt cx="423468" cy="360000"/>
          </a:xfrm>
        </p:grpSpPr>
        <p:sp>
          <p:nvSpPr>
            <p:cNvPr id="51" name="타원 50">
              <a:extLst>
                <a:ext uri="{FF2B5EF4-FFF2-40B4-BE49-F238E27FC236}">
                  <a16:creationId xmlns:a16="http://schemas.microsoft.com/office/drawing/2014/main" id="{02725B4E-6A13-FD0D-53BE-13DAF231CFEE}"/>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TextBox 51">
              <a:extLst>
                <a:ext uri="{FF2B5EF4-FFF2-40B4-BE49-F238E27FC236}">
                  <a16:creationId xmlns:a16="http://schemas.microsoft.com/office/drawing/2014/main" id="{469C8BED-E9E0-C03A-FAFE-1BA2F22F33D4}"/>
                </a:ext>
              </a:extLst>
            </p:cNvPr>
            <p:cNvSpPr txBox="1"/>
            <p:nvPr/>
          </p:nvSpPr>
          <p:spPr>
            <a:xfrm>
              <a:off x="1102837"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21" name="화살표: 오른쪽 20">
            <a:extLst>
              <a:ext uri="{FF2B5EF4-FFF2-40B4-BE49-F238E27FC236}">
                <a16:creationId xmlns:a16="http://schemas.microsoft.com/office/drawing/2014/main" id="{5469AF55-D0C1-5A2E-D80C-9DBECFCE017F}"/>
              </a:ext>
            </a:extLst>
          </p:cNvPr>
          <p:cNvSpPr/>
          <p:nvPr/>
        </p:nvSpPr>
        <p:spPr>
          <a:xfrm rot="16200000">
            <a:off x="1069735" y="4592534"/>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화살표: 오른쪽 22">
            <a:extLst>
              <a:ext uri="{FF2B5EF4-FFF2-40B4-BE49-F238E27FC236}">
                <a16:creationId xmlns:a16="http://schemas.microsoft.com/office/drawing/2014/main" id="{708B330B-EFF1-E22E-6615-B489F064BA63}"/>
              </a:ext>
            </a:extLst>
          </p:cNvPr>
          <p:cNvSpPr/>
          <p:nvPr/>
        </p:nvSpPr>
        <p:spPr>
          <a:xfrm>
            <a:off x="2373479" y="4159034"/>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 name="그룹 23">
            <a:extLst>
              <a:ext uri="{FF2B5EF4-FFF2-40B4-BE49-F238E27FC236}">
                <a16:creationId xmlns:a16="http://schemas.microsoft.com/office/drawing/2014/main" id="{8D3445C6-735E-4C01-1965-56274D5934F8}"/>
              </a:ext>
            </a:extLst>
          </p:cNvPr>
          <p:cNvGrpSpPr/>
          <p:nvPr/>
        </p:nvGrpSpPr>
        <p:grpSpPr>
          <a:xfrm>
            <a:off x="1751161" y="3958771"/>
            <a:ext cx="607582" cy="582171"/>
            <a:chOff x="2352577" y="2695993"/>
            <a:chExt cx="1946046" cy="1511439"/>
          </a:xfrm>
        </p:grpSpPr>
        <p:sp>
          <p:nvSpPr>
            <p:cNvPr id="47" name="사각형: 둥근 모서리 46">
              <a:extLst>
                <a:ext uri="{FF2B5EF4-FFF2-40B4-BE49-F238E27FC236}">
                  <a16:creationId xmlns:a16="http://schemas.microsoft.com/office/drawing/2014/main" id="{E749A148-F5FB-4670-1454-CBF7B7EB181F}"/>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TextBox 47">
              <a:extLst>
                <a:ext uri="{FF2B5EF4-FFF2-40B4-BE49-F238E27FC236}">
                  <a16:creationId xmlns:a16="http://schemas.microsoft.com/office/drawing/2014/main" id="{7B0B1263-4C3C-210B-E890-F74125EA993C}"/>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25" name="그룹 24">
            <a:extLst>
              <a:ext uri="{FF2B5EF4-FFF2-40B4-BE49-F238E27FC236}">
                <a16:creationId xmlns:a16="http://schemas.microsoft.com/office/drawing/2014/main" id="{01A458AC-AEEA-884C-0692-A2272D0B6957}"/>
              </a:ext>
            </a:extLst>
          </p:cNvPr>
          <p:cNvGrpSpPr/>
          <p:nvPr/>
        </p:nvGrpSpPr>
        <p:grpSpPr>
          <a:xfrm>
            <a:off x="1833666" y="4772884"/>
            <a:ext cx="423468" cy="360000"/>
            <a:chOff x="1083787" y="4534057"/>
            <a:chExt cx="423468" cy="360000"/>
          </a:xfrm>
        </p:grpSpPr>
        <p:sp>
          <p:nvSpPr>
            <p:cNvPr id="45" name="타원 44">
              <a:extLst>
                <a:ext uri="{FF2B5EF4-FFF2-40B4-BE49-F238E27FC236}">
                  <a16:creationId xmlns:a16="http://schemas.microsoft.com/office/drawing/2014/main" id="{D5B65928-8F01-2D38-1074-4C1AB995D805}"/>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TextBox 45">
              <a:extLst>
                <a:ext uri="{FF2B5EF4-FFF2-40B4-BE49-F238E27FC236}">
                  <a16:creationId xmlns:a16="http://schemas.microsoft.com/office/drawing/2014/main" id="{9837AF48-1B15-C4DB-2B08-618AD8223D47}"/>
                </a:ext>
              </a:extLst>
            </p:cNvPr>
            <p:cNvSpPr txBox="1"/>
            <p:nvPr/>
          </p:nvSpPr>
          <p:spPr>
            <a:xfrm>
              <a:off x="1083787" y="4575557"/>
              <a:ext cx="423468" cy="276999"/>
            </a:xfrm>
            <a:prstGeom prst="rect">
              <a:avLst/>
            </a:prstGeom>
            <a:noFill/>
          </p:spPr>
          <p:txBody>
            <a:bodyPr wrap="square">
              <a:spAutoFit/>
            </a:bodyPr>
            <a:lstStyle/>
            <a:p>
              <a:pPr algn="ctr"/>
              <a:r>
                <a:rPr lang="en-US" altLang="ko-KR" sz="1200" b="1" dirty="0" err="1">
                  <a:solidFill>
                    <a:srgbClr val="222222"/>
                  </a:solidFill>
                  <a:latin typeface="Arial Narrow" panose="020B0606020202030204" pitchFamily="34" charset="0"/>
                </a:rPr>
                <a:t>X</a:t>
              </a:r>
              <a:r>
                <a:rPr lang="en-US" altLang="ko-KR" sz="1200" b="1" baseline="-25000" dirty="0" err="1">
                  <a:solidFill>
                    <a:srgbClr val="222222"/>
                  </a:solidFill>
                  <a:latin typeface="Arial Narrow" panose="020B0606020202030204" pitchFamily="34" charset="0"/>
                </a:rPr>
                <a:t>t</a:t>
              </a:r>
              <a:endParaRPr lang="ko-KR" altLang="en-US" sz="1200" b="1" dirty="0"/>
            </a:p>
          </p:txBody>
        </p:sp>
      </p:grpSp>
      <p:sp>
        <p:nvSpPr>
          <p:cNvPr id="27" name="화살표: 오른쪽 26">
            <a:extLst>
              <a:ext uri="{FF2B5EF4-FFF2-40B4-BE49-F238E27FC236}">
                <a16:creationId xmlns:a16="http://schemas.microsoft.com/office/drawing/2014/main" id="{C589E5F9-E4DD-2CC9-A517-6946D32A32F0}"/>
              </a:ext>
            </a:extLst>
          </p:cNvPr>
          <p:cNvSpPr/>
          <p:nvPr/>
        </p:nvSpPr>
        <p:spPr>
          <a:xfrm rot="16200000">
            <a:off x="1929156" y="4589597"/>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0" name="그룹 29">
            <a:extLst>
              <a:ext uri="{FF2B5EF4-FFF2-40B4-BE49-F238E27FC236}">
                <a16:creationId xmlns:a16="http://schemas.microsoft.com/office/drawing/2014/main" id="{8E525BA4-DA76-B4FD-52F7-BEC8A5A7AB0A}"/>
              </a:ext>
            </a:extLst>
          </p:cNvPr>
          <p:cNvGrpSpPr/>
          <p:nvPr/>
        </p:nvGrpSpPr>
        <p:grpSpPr>
          <a:xfrm>
            <a:off x="2626099" y="3959247"/>
            <a:ext cx="607582" cy="582171"/>
            <a:chOff x="2352577" y="2695993"/>
            <a:chExt cx="1946046" cy="1511439"/>
          </a:xfrm>
        </p:grpSpPr>
        <p:sp>
          <p:nvSpPr>
            <p:cNvPr id="41" name="사각형: 둥근 모서리 40">
              <a:extLst>
                <a:ext uri="{FF2B5EF4-FFF2-40B4-BE49-F238E27FC236}">
                  <a16:creationId xmlns:a16="http://schemas.microsoft.com/office/drawing/2014/main" id="{40025632-01F6-7DED-35F7-4C8BDCB379B8}"/>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TextBox 41">
              <a:extLst>
                <a:ext uri="{FF2B5EF4-FFF2-40B4-BE49-F238E27FC236}">
                  <a16:creationId xmlns:a16="http://schemas.microsoft.com/office/drawing/2014/main" id="{AEE5B472-0D95-A3C0-0AB6-0A67DD6308F1}"/>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31" name="그룹 30">
            <a:extLst>
              <a:ext uri="{FF2B5EF4-FFF2-40B4-BE49-F238E27FC236}">
                <a16:creationId xmlns:a16="http://schemas.microsoft.com/office/drawing/2014/main" id="{91239B2D-2AAF-2B44-0A00-54FDC16B935F}"/>
              </a:ext>
            </a:extLst>
          </p:cNvPr>
          <p:cNvGrpSpPr/>
          <p:nvPr/>
        </p:nvGrpSpPr>
        <p:grpSpPr>
          <a:xfrm>
            <a:off x="2718129" y="4773360"/>
            <a:ext cx="423468" cy="360000"/>
            <a:chOff x="1093312" y="4534057"/>
            <a:chExt cx="423468" cy="360000"/>
          </a:xfrm>
        </p:grpSpPr>
        <p:sp>
          <p:nvSpPr>
            <p:cNvPr id="39" name="타원 38">
              <a:extLst>
                <a:ext uri="{FF2B5EF4-FFF2-40B4-BE49-F238E27FC236}">
                  <a16:creationId xmlns:a16="http://schemas.microsoft.com/office/drawing/2014/main" id="{7E2E2F78-BC7E-566F-B4E4-7964CF4742B0}"/>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TextBox 39">
              <a:extLst>
                <a:ext uri="{FF2B5EF4-FFF2-40B4-BE49-F238E27FC236}">
                  <a16:creationId xmlns:a16="http://schemas.microsoft.com/office/drawing/2014/main" id="{AAF9B173-B007-F6CD-2865-5DE2C6E7CBC7}"/>
                </a:ext>
              </a:extLst>
            </p:cNvPr>
            <p:cNvSpPr txBox="1"/>
            <p:nvPr/>
          </p:nvSpPr>
          <p:spPr>
            <a:xfrm>
              <a:off x="1093312" y="45755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X</a:t>
              </a:r>
              <a:r>
                <a:rPr lang="en-US" altLang="ko-KR" sz="1200" b="1" baseline="-25000" dirty="0">
                  <a:solidFill>
                    <a:srgbClr val="222222"/>
                  </a:solidFill>
                  <a:latin typeface="Arial Narrow" panose="020B0606020202030204" pitchFamily="34" charset="0"/>
                </a:rPr>
                <a:t>t+1</a:t>
              </a:r>
              <a:r>
                <a:rPr lang="en-US" altLang="ko-KR" sz="1200" b="1" dirty="0">
                  <a:solidFill>
                    <a:srgbClr val="222222"/>
                  </a:solidFill>
                  <a:latin typeface="Arial Narrow" panose="020B0606020202030204" pitchFamily="34" charset="0"/>
                </a:rPr>
                <a:t> </a:t>
              </a:r>
              <a:endParaRPr lang="ko-KR" altLang="en-US" sz="1200" b="1" dirty="0"/>
            </a:p>
          </p:txBody>
        </p:sp>
      </p:grpSp>
      <p:sp>
        <p:nvSpPr>
          <p:cNvPr id="33" name="화살표: 오른쪽 32">
            <a:extLst>
              <a:ext uri="{FF2B5EF4-FFF2-40B4-BE49-F238E27FC236}">
                <a16:creationId xmlns:a16="http://schemas.microsoft.com/office/drawing/2014/main" id="{0F592396-9905-DC66-0697-C36F134E1D2E}"/>
              </a:ext>
            </a:extLst>
          </p:cNvPr>
          <p:cNvSpPr/>
          <p:nvPr/>
        </p:nvSpPr>
        <p:spPr>
          <a:xfrm rot="16200000">
            <a:off x="2804094" y="4590073"/>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17" name="화살표: 오른쪽 116">
            <a:extLst>
              <a:ext uri="{FF2B5EF4-FFF2-40B4-BE49-F238E27FC236}">
                <a16:creationId xmlns:a16="http://schemas.microsoft.com/office/drawing/2014/main" id="{BAE7BC0C-24DC-CA22-CE50-5B3D950E281D}"/>
              </a:ext>
            </a:extLst>
          </p:cNvPr>
          <p:cNvSpPr/>
          <p:nvPr/>
        </p:nvSpPr>
        <p:spPr>
          <a:xfrm rot="16200000">
            <a:off x="2800244" y="3769951"/>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18" name="화살표: 오른쪽 117">
            <a:extLst>
              <a:ext uri="{FF2B5EF4-FFF2-40B4-BE49-F238E27FC236}">
                <a16:creationId xmlns:a16="http://schemas.microsoft.com/office/drawing/2014/main" id="{EBAE1F19-436A-B564-1530-87647179201C}"/>
              </a:ext>
            </a:extLst>
          </p:cNvPr>
          <p:cNvSpPr/>
          <p:nvPr/>
        </p:nvSpPr>
        <p:spPr>
          <a:xfrm>
            <a:off x="3276183" y="3334502"/>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9" name="그룹 118">
            <a:extLst>
              <a:ext uri="{FF2B5EF4-FFF2-40B4-BE49-F238E27FC236}">
                <a16:creationId xmlns:a16="http://schemas.microsoft.com/office/drawing/2014/main" id="{BFB51C7B-7F01-C193-7B3A-E2F2410EE0F7}"/>
              </a:ext>
            </a:extLst>
          </p:cNvPr>
          <p:cNvGrpSpPr/>
          <p:nvPr/>
        </p:nvGrpSpPr>
        <p:grpSpPr>
          <a:xfrm>
            <a:off x="2653865" y="3134239"/>
            <a:ext cx="607582" cy="582171"/>
            <a:chOff x="2352577" y="2695993"/>
            <a:chExt cx="1946046" cy="1511439"/>
          </a:xfrm>
        </p:grpSpPr>
        <p:sp>
          <p:nvSpPr>
            <p:cNvPr id="120" name="사각형: 둥근 모서리 119">
              <a:extLst>
                <a:ext uri="{FF2B5EF4-FFF2-40B4-BE49-F238E27FC236}">
                  <a16:creationId xmlns:a16="http://schemas.microsoft.com/office/drawing/2014/main" id="{923A019B-D3AE-0D1B-6BD9-0F3C70573309}"/>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1" name="TextBox 120">
              <a:extLst>
                <a:ext uri="{FF2B5EF4-FFF2-40B4-BE49-F238E27FC236}">
                  <a16:creationId xmlns:a16="http://schemas.microsoft.com/office/drawing/2014/main" id="{5DDC2A37-EEE4-9578-1E61-2B58BAB1FFB0}"/>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122" name="화살표: 오른쪽 121">
            <a:extLst>
              <a:ext uri="{FF2B5EF4-FFF2-40B4-BE49-F238E27FC236}">
                <a16:creationId xmlns:a16="http://schemas.microsoft.com/office/drawing/2014/main" id="{C213FB2B-117D-D37E-8EDD-DABDEDA340E3}"/>
              </a:ext>
            </a:extLst>
          </p:cNvPr>
          <p:cNvSpPr/>
          <p:nvPr/>
        </p:nvSpPr>
        <p:spPr>
          <a:xfrm>
            <a:off x="4145129" y="3331565"/>
            <a:ext cx="247583" cy="184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3" name="그룹 122">
            <a:extLst>
              <a:ext uri="{FF2B5EF4-FFF2-40B4-BE49-F238E27FC236}">
                <a16:creationId xmlns:a16="http://schemas.microsoft.com/office/drawing/2014/main" id="{E7BBD9F6-DF23-D952-7685-1D583AFF5E7C}"/>
              </a:ext>
            </a:extLst>
          </p:cNvPr>
          <p:cNvGrpSpPr/>
          <p:nvPr/>
        </p:nvGrpSpPr>
        <p:grpSpPr>
          <a:xfrm>
            <a:off x="3522811" y="3131302"/>
            <a:ext cx="607582" cy="582171"/>
            <a:chOff x="2352577" y="2695993"/>
            <a:chExt cx="1946046" cy="1511439"/>
          </a:xfrm>
        </p:grpSpPr>
        <p:sp>
          <p:nvSpPr>
            <p:cNvPr id="124" name="사각형: 둥근 모서리 123">
              <a:extLst>
                <a:ext uri="{FF2B5EF4-FFF2-40B4-BE49-F238E27FC236}">
                  <a16:creationId xmlns:a16="http://schemas.microsoft.com/office/drawing/2014/main" id="{59DE062B-AFBC-8796-0443-A7F17656DF3E}"/>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9A2198F2-5666-9926-EC85-88EC8D318A76}"/>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grpSp>
        <p:nvGrpSpPr>
          <p:cNvPr id="126" name="그룹 125">
            <a:extLst>
              <a:ext uri="{FF2B5EF4-FFF2-40B4-BE49-F238E27FC236}">
                <a16:creationId xmlns:a16="http://schemas.microsoft.com/office/drawing/2014/main" id="{F9B31D61-AF16-727B-0FA5-92E12517FAE0}"/>
              </a:ext>
            </a:extLst>
          </p:cNvPr>
          <p:cNvGrpSpPr/>
          <p:nvPr/>
        </p:nvGrpSpPr>
        <p:grpSpPr>
          <a:xfrm>
            <a:off x="4397749" y="3131778"/>
            <a:ext cx="607582" cy="582171"/>
            <a:chOff x="2352577" y="2695993"/>
            <a:chExt cx="1946046" cy="1511439"/>
          </a:xfrm>
        </p:grpSpPr>
        <p:sp>
          <p:nvSpPr>
            <p:cNvPr id="127" name="사각형: 둥근 모서리 126">
              <a:extLst>
                <a:ext uri="{FF2B5EF4-FFF2-40B4-BE49-F238E27FC236}">
                  <a16:creationId xmlns:a16="http://schemas.microsoft.com/office/drawing/2014/main" id="{6E05FC34-D5E2-26FB-0FEE-3A9BCFE60C02}"/>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6" name="TextBox 255">
              <a:extLst>
                <a:ext uri="{FF2B5EF4-FFF2-40B4-BE49-F238E27FC236}">
                  <a16:creationId xmlns:a16="http://schemas.microsoft.com/office/drawing/2014/main" id="{ED8690AD-E539-ACC4-3554-4BC494EAA3EF}"/>
                </a:ext>
              </a:extLst>
            </p:cNvPr>
            <p:cNvSpPr txBox="1"/>
            <p:nvPr/>
          </p:nvSpPr>
          <p:spPr>
            <a:xfrm>
              <a:off x="2707959" y="2756711"/>
              <a:ext cx="1235283" cy="1358390"/>
            </a:xfrm>
            <a:prstGeom prst="rect">
              <a:avLst/>
            </a:prstGeom>
            <a:noFill/>
          </p:spPr>
          <p:txBody>
            <a:bodyPr wrap="square">
              <a:spAutoFit/>
            </a:bodyPr>
            <a:lstStyle/>
            <a:p>
              <a:r>
                <a:rPr lang="en-US" altLang="ko-KR" sz="2800" b="1" dirty="0">
                  <a:solidFill>
                    <a:srgbClr val="222222"/>
                  </a:solidFill>
                  <a:latin typeface="Arial Narrow" panose="020B0606020202030204" pitchFamily="34" charset="0"/>
                </a:rPr>
                <a:t>A</a:t>
              </a:r>
              <a:endParaRPr lang="ko-KR" altLang="en-US" sz="2800" b="1" dirty="0"/>
            </a:p>
          </p:txBody>
        </p:sp>
      </p:grpSp>
      <p:sp>
        <p:nvSpPr>
          <p:cNvPr id="258" name="화살표: 오른쪽 257">
            <a:extLst>
              <a:ext uri="{FF2B5EF4-FFF2-40B4-BE49-F238E27FC236}">
                <a16:creationId xmlns:a16="http://schemas.microsoft.com/office/drawing/2014/main" id="{D58B37B1-BA2F-DB10-0A68-E8FB8109E298}"/>
              </a:ext>
            </a:extLst>
          </p:cNvPr>
          <p:cNvSpPr/>
          <p:nvPr/>
        </p:nvSpPr>
        <p:spPr>
          <a:xfrm rot="16200000">
            <a:off x="4586859" y="2939378"/>
            <a:ext cx="229362" cy="132052"/>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nvGrpSpPr>
          <p:cNvPr id="9" name="그룹 8">
            <a:extLst>
              <a:ext uri="{FF2B5EF4-FFF2-40B4-BE49-F238E27FC236}">
                <a16:creationId xmlns:a16="http://schemas.microsoft.com/office/drawing/2014/main" id="{EC92E231-C903-4503-641C-B9A9F7063851}"/>
              </a:ext>
            </a:extLst>
          </p:cNvPr>
          <p:cNvGrpSpPr/>
          <p:nvPr/>
        </p:nvGrpSpPr>
        <p:grpSpPr>
          <a:xfrm>
            <a:off x="4505325" y="2522457"/>
            <a:ext cx="423468" cy="360000"/>
            <a:chOff x="4572000" y="2522457"/>
            <a:chExt cx="423468" cy="360000"/>
          </a:xfrm>
        </p:grpSpPr>
        <p:sp>
          <p:nvSpPr>
            <p:cNvPr id="7" name="타원 6">
              <a:extLst>
                <a:ext uri="{FF2B5EF4-FFF2-40B4-BE49-F238E27FC236}">
                  <a16:creationId xmlns:a16="http://schemas.microsoft.com/office/drawing/2014/main" id="{5F8A9888-7C11-E443-36DF-375132BA8D7C}"/>
                </a:ext>
              </a:extLst>
            </p:cNvPr>
            <p:cNvSpPr/>
            <p:nvPr/>
          </p:nvSpPr>
          <p:spPr>
            <a:xfrm>
              <a:off x="4600575" y="25224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a:extLst>
                <a:ext uri="{FF2B5EF4-FFF2-40B4-BE49-F238E27FC236}">
                  <a16:creationId xmlns:a16="http://schemas.microsoft.com/office/drawing/2014/main" id="{E3BCD7BD-238F-DA6C-3971-C5D181F8797C}"/>
                </a:ext>
              </a:extLst>
            </p:cNvPr>
            <p:cNvSpPr txBox="1"/>
            <p:nvPr/>
          </p:nvSpPr>
          <p:spPr>
            <a:xfrm>
              <a:off x="4572000" y="2563957"/>
              <a:ext cx="423468" cy="276999"/>
            </a:xfrm>
            <a:prstGeom prst="rect">
              <a:avLst/>
            </a:prstGeom>
            <a:noFill/>
          </p:spPr>
          <p:txBody>
            <a:bodyPr wrap="square">
              <a:spAutoFit/>
            </a:bodyPr>
            <a:lstStyle/>
            <a:p>
              <a:pPr algn="ctr"/>
              <a:r>
                <a:rPr lang="en-US" altLang="ko-KR" sz="1200" b="1" dirty="0">
                  <a:solidFill>
                    <a:srgbClr val="222222"/>
                  </a:solidFill>
                  <a:latin typeface="Arial Narrow" panose="020B0606020202030204" pitchFamily="34" charset="0"/>
                </a:rPr>
                <a:t>H</a:t>
              </a:r>
              <a:r>
                <a:rPr lang="en-US" altLang="ko-KR" sz="1200" b="1" baseline="-25000" dirty="0">
                  <a:solidFill>
                    <a:srgbClr val="222222"/>
                  </a:solidFill>
                  <a:latin typeface="Arial Narrow" panose="020B0606020202030204" pitchFamily="34" charset="0"/>
                </a:rPr>
                <a:t>T</a:t>
              </a:r>
              <a:r>
                <a:rPr lang="en-US" altLang="ko-KR" sz="1200" b="1" dirty="0">
                  <a:solidFill>
                    <a:srgbClr val="222222"/>
                  </a:solidFill>
                  <a:latin typeface="Arial Narrow" panose="020B0606020202030204" pitchFamily="34" charset="0"/>
                </a:rPr>
                <a:t> </a:t>
              </a:r>
              <a:endParaRPr lang="ko-KR" altLang="en-US" sz="1200" b="1" dirty="0"/>
            </a:p>
          </p:txBody>
        </p:sp>
      </p:grpSp>
      <p:sp>
        <p:nvSpPr>
          <p:cNvPr id="2" name="TextBox 1">
            <a:extLst>
              <a:ext uri="{FF2B5EF4-FFF2-40B4-BE49-F238E27FC236}">
                <a16:creationId xmlns:a16="http://schemas.microsoft.com/office/drawing/2014/main" id="{B5F708A6-E645-717B-C4CB-4D4C26C69CBB}"/>
              </a:ext>
            </a:extLst>
          </p:cNvPr>
          <p:cNvSpPr txBox="1"/>
          <p:nvPr/>
        </p:nvSpPr>
        <p:spPr>
          <a:xfrm>
            <a:off x="4052888" y="3950659"/>
            <a:ext cx="4595812" cy="423449"/>
          </a:xfrm>
          <a:prstGeom prst="rect">
            <a:avLst/>
          </a:prstGeom>
          <a:noFill/>
        </p:spPr>
        <p:txBody>
          <a:bodyPr wrap="square">
            <a:spAutoFit/>
          </a:bodyPr>
          <a:lstStyle/>
          <a:p>
            <a:pPr>
              <a:lnSpc>
                <a:spcPct val="150000"/>
              </a:lnSpc>
            </a:pPr>
            <a:r>
              <a:rPr lang="en-US" altLang="ko-KR" sz="1600" dirty="0"/>
              <a:t>Output = LSTM(1, </a:t>
            </a:r>
            <a:r>
              <a:rPr lang="en-US" altLang="ko-KR" sz="1600" dirty="0" err="1"/>
              <a:t>return_sequences</a:t>
            </a:r>
            <a:r>
              <a:rPr lang="en-US" altLang="ko-KR" sz="1600" dirty="0"/>
              <a:t>=</a:t>
            </a:r>
            <a:r>
              <a:rPr lang="en-US" altLang="ko-KR" sz="1600" dirty="0">
                <a:solidFill>
                  <a:schemeClr val="accent6">
                    <a:lumMod val="75000"/>
                  </a:schemeClr>
                </a:solidFill>
              </a:rPr>
              <a:t>False</a:t>
            </a:r>
            <a:r>
              <a:rPr lang="en-US" altLang="ko-KR" sz="1600" dirty="0"/>
              <a:t>)(LSTML)</a:t>
            </a:r>
            <a:endParaRPr lang="ko-KR" altLang="en-US" sz="1600" dirty="0"/>
          </a:p>
        </p:txBody>
      </p:sp>
      <p:sp>
        <p:nvSpPr>
          <p:cNvPr id="3" name="직사각형 2">
            <a:extLst>
              <a:ext uri="{FF2B5EF4-FFF2-40B4-BE49-F238E27FC236}">
                <a16:creationId xmlns:a16="http://schemas.microsoft.com/office/drawing/2014/main" id="{29EDE8EE-F659-F117-98C3-A896F18A26BA}"/>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Tree>
    <p:extLst>
      <p:ext uri="{BB962C8B-B14F-4D97-AF65-F5344CB8AC3E}">
        <p14:creationId xmlns:p14="http://schemas.microsoft.com/office/powerpoint/2010/main" val="40158032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Techniques for building various LSTM models</a:t>
            </a:r>
          </a:p>
        </p:txBody>
      </p:sp>
      <p:sp>
        <p:nvSpPr>
          <p:cNvPr id="3" name="직사각형 2">
            <a:extLst>
              <a:ext uri="{FF2B5EF4-FFF2-40B4-BE49-F238E27FC236}">
                <a16:creationId xmlns:a16="http://schemas.microsoft.com/office/drawing/2014/main" id="{8B3309B0-9FAF-B08A-2228-DB5B26F7E72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4EF9461D-45EB-3571-370D-B1A30988101B}"/>
              </a:ext>
            </a:extLst>
          </p:cNvPr>
          <p:cNvSpPr txBox="1"/>
          <p:nvPr/>
        </p:nvSpPr>
        <p:spPr>
          <a:xfrm>
            <a:off x="2193090" y="3282394"/>
            <a:ext cx="4572000" cy="923330"/>
          </a:xfrm>
          <a:prstGeom prst="rect">
            <a:avLst/>
          </a:prstGeom>
          <a:noFill/>
        </p:spPr>
        <p:txBody>
          <a:bodyPr wrap="square">
            <a:spAutoFit/>
          </a:bodyPr>
          <a:lstStyle/>
          <a:p>
            <a:r>
              <a:rPr lang="en-US" altLang="ko-KR" dirty="0">
                <a:hlinkClick r:id="rId3"/>
              </a:rPr>
              <a:t>https://colab.research.google.com/github/JunetaeKim/DeepLearningClass/blob/main/Week13/</a:t>
            </a:r>
            <a:r>
              <a:rPr lang="en-US" altLang="ko-KR" b="0" i="0" u="none" strike="noStrike" dirty="0">
                <a:effectLst/>
                <a:latin typeface="-apple-system"/>
                <a:hlinkClick r:id="rId3"/>
              </a:rPr>
              <a:t>LSTM</a:t>
            </a:r>
            <a:r>
              <a:rPr lang="en-US" altLang="ko-KR" dirty="0">
                <a:hlinkClick r:id="rId3"/>
              </a:rPr>
              <a:t>.ipynb</a:t>
            </a:r>
            <a:endParaRPr lang="ko-KR" altLang="en-US" dirty="0"/>
          </a:p>
        </p:txBody>
      </p:sp>
    </p:spTree>
    <p:extLst>
      <p:ext uri="{BB962C8B-B14F-4D97-AF65-F5344CB8AC3E}">
        <p14:creationId xmlns:p14="http://schemas.microsoft.com/office/powerpoint/2010/main" val="25679723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211978" cy="2192267"/>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Exercise1</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m to n regression prediction of household energy use</a:t>
            </a:r>
          </a:p>
          <a:p>
            <a:pPr marL="1198800" lvl="2"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Predicting energy use of appliances and light fixtures in </a:t>
            </a:r>
            <a:r>
              <a:rPr lang="en-US" altLang="ko-KR" sz="1400" dirty="0" err="1">
                <a:solidFill>
                  <a:srgbClr val="222222"/>
                </a:solidFill>
                <a:latin typeface="Arial Narrow" panose="020B0606020202030204" pitchFamily="34" charset="0"/>
              </a:rPr>
              <a:t>Wh</a:t>
            </a:r>
            <a:r>
              <a:rPr lang="en-US" altLang="ko-KR" sz="1400" dirty="0">
                <a:solidFill>
                  <a:srgbClr val="222222"/>
                </a:solidFill>
                <a:latin typeface="Arial Narrow" panose="020B0606020202030204" pitchFamily="34" charset="0"/>
              </a:rPr>
              <a:t> over an hour using 28 features over the previous 3 hours.</a:t>
            </a:r>
          </a:p>
          <a:p>
            <a:pPr marL="741600" lvl="1" indent="-284400">
              <a:lnSpc>
                <a:spcPct val="150000"/>
              </a:lnSpc>
              <a:buFont typeface="Arial" panose="020B0604020202020204" pitchFamily="34" charset="0"/>
              <a:buChar char="•"/>
            </a:pPr>
            <a:endParaRPr lang="en-US" altLang="ko-KR" sz="2400" dirty="0">
              <a:solidFill>
                <a:srgbClr val="222222"/>
              </a:solidFill>
              <a:latin typeface="Arial Narrow" panose="020B0606020202030204" pitchFamily="34" charset="0"/>
            </a:endParaRPr>
          </a:p>
        </p:txBody>
      </p:sp>
      <p:sp>
        <p:nvSpPr>
          <p:cNvPr id="3" name="직사각형 2">
            <a:extLst>
              <a:ext uri="{FF2B5EF4-FFF2-40B4-BE49-F238E27FC236}">
                <a16:creationId xmlns:a16="http://schemas.microsoft.com/office/drawing/2014/main" id="{8B3309B0-9FAF-B08A-2228-DB5B26F7E72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2" name="화살표: 오른쪽 1">
            <a:extLst>
              <a:ext uri="{FF2B5EF4-FFF2-40B4-BE49-F238E27FC236}">
                <a16:creationId xmlns:a16="http://schemas.microsoft.com/office/drawing/2014/main" id="{ACE0EB37-AF66-DC2C-E632-902A72C290B4}"/>
              </a:ext>
            </a:extLst>
          </p:cNvPr>
          <p:cNvSpPr/>
          <p:nvPr/>
        </p:nvSpPr>
        <p:spPr>
          <a:xfrm>
            <a:off x="3175323" y="5248647"/>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5" name="그룹 4">
            <a:extLst>
              <a:ext uri="{FF2B5EF4-FFF2-40B4-BE49-F238E27FC236}">
                <a16:creationId xmlns:a16="http://schemas.microsoft.com/office/drawing/2014/main" id="{20519456-53E7-28C3-3409-8B3082091047}"/>
              </a:ext>
            </a:extLst>
          </p:cNvPr>
          <p:cNvGrpSpPr/>
          <p:nvPr/>
        </p:nvGrpSpPr>
        <p:grpSpPr>
          <a:xfrm>
            <a:off x="2670375" y="5100384"/>
            <a:ext cx="492991" cy="431003"/>
            <a:chOff x="2352577" y="2695993"/>
            <a:chExt cx="1946046" cy="1511439"/>
          </a:xfrm>
        </p:grpSpPr>
        <p:sp>
          <p:nvSpPr>
            <p:cNvPr id="6" name="사각형: 둥근 모서리 5">
              <a:extLst>
                <a:ext uri="{FF2B5EF4-FFF2-40B4-BE49-F238E27FC236}">
                  <a16:creationId xmlns:a16="http://schemas.microsoft.com/office/drawing/2014/main" id="{268C9194-27E7-00DC-05CD-39D8B4A7659D}"/>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 name="TextBox 6">
              <a:extLst>
                <a:ext uri="{FF2B5EF4-FFF2-40B4-BE49-F238E27FC236}">
                  <a16:creationId xmlns:a16="http://schemas.microsoft.com/office/drawing/2014/main" id="{0C44B941-58DE-4284-5AA8-22FAF66A4288}"/>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8" name="그룹 7">
            <a:extLst>
              <a:ext uri="{FF2B5EF4-FFF2-40B4-BE49-F238E27FC236}">
                <a16:creationId xmlns:a16="http://schemas.microsoft.com/office/drawing/2014/main" id="{AA098E7C-AF1A-BA00-2AFE-BCEFCEE18692}"/>
              </a:ext>
            </a:extLst>
          </p:cNvPr>
          <p:cNvGrpSpPr/>
          <p:nvPr/>
        </p:nvGrpSpPr>
        <p:grpSpPr>
          <a:xfrm>
            <a:off x="2733765" y="5703103"/>
            <a:ext cx="343601" cy="266522"/>
            <a:chOff x="1079407" y="4534057"/>
            <a:chExt cx="423468" cy="360000"/>
          </a:xfrm>
        </p:grpSpPr>
        <p:sp>
          <p:nvSpPr>
            <p:cNvPr id="9" name="타원 8">
              <a:extLst>
                <a:ext uri="{FF2B5EF4-FFF2-40B4-BE49-F238E27FC236}">
                  <a16:creationId xmlns:a16="http://schemas.microsoft.com/office/drawing/2014/main" id="{343EDAD2-50A7-B7C0-E143-8D51D868B457}"/>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1" name="TextBox 10">
              <a:extLst>
                <a:ext uri="{FF2B5EF4-FFF2-40B4-BE49-F238E27FC236}">
                  <a16:creationId xmlns:a16="http://schemas.microsoft.com/office/drawing/2014/main" id="{4246C3A3-8C95-0DBC-7868-1D6642A0EE32}"/>
                </a:ext>
              </a:extLst>
            </p:cNvPr>
            <p:cNvSpPr txBox="1"/>
            <p:nvPr/>
          </p:nvSpPr>
          <p:spPr>
            <a:xfrm>
              <a:off x="1079407" y="4548148"/>
              <a:ext cx="423468" cy="332579"/>
            </a:xfrm>
            <a:prstGeom prst="rect">
              <a:avLst/>
            </a:prstGeom>
            <a:noFill/>
          </p:spPr>
          <p:txBody>
            <a:bodyPr wrap="square">
              <a:spAutoFit/>
            </a:bodyPr>
            <a:lstStyle/>
            <a:p>
              <a:pPr algn="ctr"/>
              <a:r>
                <a:rPr lang="en-US" altLang="ko-KR" sz="1000" b="1" dirty="0">
                  <a:solidFill>
                    <a:srgbClr val="222222"/>
                  </a:solidFill>
                  <a:latin typeface="Arial Narrow" panose="020B0606020202030204" pitchFamily="34" charset="0"/>
                </a:rPr>
                <a:t>X</a:t>
              </a:r>
              <a:r>
                <a:rPr lang="en-US" altLang="ko-KR" sz="1000" b="1" baseline="-25000" dirty="0">
                  <a:solidFill>
                    <a:srgbClr val="222222"/>
                  </a:solidFill>
                  <a:latin typeface="Arial Narrow" panose="020B0606020202030204" pitchFamily="34" charset="0"/>
                </a:rPr>
                <a:t>t-2</a:t>
              </a:r>
              <a:r>
                <a:rPr lang="en-US" altLang="ko-KR" sz="1000" b="1" dirty="0">
                  <a:solidFill>
                    <a:srgbClr val="222222"/>
                  </a:solidFill>
                  <a:latin typeface="Arial Narrow" panose="020B0606020202030204" pitchFamily="34" charset="0"/>
                </a:rPr>
                <a:t> </a:t>
              </a:r>
              <a:endParaRPr lang="ko-KR" altLang="en-US" sz="1000" b="1" dirty="0"/>
            </a:p>
          </p:txBody>
        </p:sp>
      </p:grpSp>
      <p:sp>
        <p:nvSpPr>
          <p:cNvPr id="12" name="화살표: 오른쪽 11">
            <a:extLst>
              <a:ext uri="{FF2B5EF4-FFF2-40B4-BE49-F238E27FC236}">
                <a16:creationId xmlns:a16="http://schemas.microsoft.com/office/drawing/2014/main" id="{C6598335-4B8E-F1A0-06A2-E4415320A9D4}"/>
              </a:ext>
            </a:extLst>
          </p:cNvPr>
          <p:cNvSpPr/>
          <p:nvPr/>
        </p:nvSpPr>
        <p:spPr>
          <a:xfrm rot="16200000">
            <a:off x="2830678" y="5562717"/>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3" name="화살표: 오른쪽 12">
            <a:extLst>
              <a:ext uri="{FF2B5EF4-FFF2-40B4-BE49-F238E27FC236}">
                <a16:creationId xmlns:a16="http://schemas.microsoft.com/office/drawing/2014/main" id="{03C28399-5B32-9926-4421-D3721F353140}"/>
              </a:ext>
            </a:extLst>
          </p:cNvPr>
          <p:cNvSpPr/>
          <p:nvPr/>
        </p:nvSpPr>
        <p:spPr>
          <a:xfrm>
            <a:off x="3880384" y="5246472"/>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14" name="그룹 13">
            <a:extLst>
              <a:ext uri="{FF2B5EF4-FFF2-40B4-BE49-F238E27FC236}">
                <a16:creationId xmlns:a16="http://schemas.microsoft.com/office/drawing/2014/main" id="{A5E5764C-E7DA-3CA6-DA85-A5F6871DB8C6}"/>
              </a:ext>
            </a:extLst>
          </p:cNvPr>
          <p:cNvGrpSpPr/>
          <p:nvPr/>
        </p:nvGrpSpPr>
        <p:grpSpPr>
          <a:xfrm>
            <a:off x="3375436" y="5098210"/>
            <a:ext cx="492991" cy="431003"/>
            <a:chOff x="2352577" y="2695993"/>
            <a:chExt cx="1946046" cy="1511439"/>
          </a:xfrm>
        </p:grpSpPr>
        <p:sp>
          <p:nvSpPr>
            <p:cNvPr id="15" name="사각형: 둥근 모서리 14">
              <a:extLst>
                <a:ext uri="{FF2B5EF4-FFF2-40B4-BE49-F238E27FC236}">
                  <a16:creationId xmlns:a16="http://schemas.microsoft.com/office/drawing/2014/main" id="{5E915DDC-5A3F-EADD-C81C-4893A122908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6" name="TextBox 15">
              <a:extLst>
                <a:ext uri="{FF2B5EF4-FFF2-40B4-BE49-F238E27FC236}">
                  <a16:creationId xmlns:a16="http://schemas.microsoft.com/office/drawing/2014/main" id="{6D7E1F47-5777-B5F3-7672-E1D360E24908}"/>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17" name="그룹 16">
            <a:extLst>
              <a:ext uri="{FF2B5EF4-FFF2-40B4-BE49-F238E27FC236}">
                <a16:creationId xmlns:a16="http://schemas.microsoft.com/office/drawing/2014/main" id="{F8872CFD-5FB2-D4D4-A632-8A67A1F21768}"/>
              </a:ext>
            </a:extLst>
          </p:cNvPr>
          <p:cNvGrpSpPr/>
          <p:nvPr/>
        </p:nvGrpSpPr>
        <p:grpSpPr>
          <a:xfrm>
            <a:off x="3433332" y="5698494"/>
            <a:ext cx="370534" cy="268957"/>
            <a:chOff x="1072634" y="4530768"/>
            <a:chExt cx="456661" cy="363289"/>
          </a:xfrm>
        </p:grpSpPr>
        <p:sp>
          <p:nvSpPr>
            <p:cNvPr id="18" name="타원 17">
              <a:extLst>
                <a:ext uri="{FF2B5EF4-FFF2-40B4-BE49-F238E27FC236}">
                  <a16:creationId xmlns:a16="http://schemas.microsoft.com/office/drawing/2014/main" id="{789D3F11-E6ED-06BE-C1DD-DCC9BDCC0C4E}"/>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9" name="TextBox 18">
              <a:extLst>
                <a:ext uri="{FF2B5EF4-FFF2-40B4-BE49-F238E27FC236}">
                  <a16:creationId xmlns:a16="http://schemas.microsoft.com/office/drawing/2014/main" id="{921ADEF9-124F-2886-B66A-9622A21A94C6}"/>
                </a:ext>
              </a:extLst>
            </p:cNvPr>
            <p:cNvSpPr txBox="1"/>
            <p:nvPr/>
          </p:nvSpPr>
          <p:spPr>
            <a:xfrm>
              <a:off x="1072634" y="4530768"/>
              <a:ext cx="456661" cy="342973"/>
            </a:xfrm>
            <a:prstGeom prst="rect">
              <a:avLst/>
            </a:prstGeom>
            <a:noFill/>
          </p:spPr>
          <p:txBody>
            <a:bodyPr wrap="square">
              <a:spAutoFit/>
            </a:bodyPr>
            <a:lstStyle/>
            <a:p>
              <a:pPr algn="ctr"/>
              <a:r>
                <a:rPr lang="en-US" altLang="ko-KR" sz="1050" b="1" dirty="0">
                  <a:solidFill>
                    <a:srgbClr val="222222"/>
                  </a:solidFill>
                  <a:latin typeface="Arial Narrow" panose="020B0606020202030204" pitchFamily="34" charset="0"/>
                </a:rPr>
                <a:t>X</a:t>
              </a:r>
              <a:r>
                <a:rPr lang="en-US" altLang="ko-KR" sz="1050" b="1" baseline="-25000" dirty="0">
                  <a:solidFill>
                    <a:srgbClr val="222222"/>
                  </a:solidFill>
                  <a:latin typeface="Arial Narrow" panose="020B0606020202030204" pitchFamily="34" charset="0"/>
                </a:rPr>
                <a:t>t-1</a:t>
              </a:r>
              <a:endParaRPr lang="ko-KR" altLang="en-US" sz="1050" b="1" dirty="0"/>
            </a:p>
          </p:txBody>
        </p:sp>
      </p:grpSp>
      <p:sp>
        <p:nvSpPr>
          <p:cNvPr id="20" name="화살표: 오른쪽 19">
            <a:extLst>
              <a:ext uri="{FF2B5EF4-FFF2-40B4-BE49-F238E27FC236}">
                <a16:creationId xmlns:a16="http://schemas.microsoft.com/office/drawing/2014/main" id="{AF50340B-DF18-1517-FCBC-F5829297DCC3}"/>
              </a:ext>
            </a:extLst>
          </p:cNvPr>
          <p:cNvSpPr/>
          <p:nvPr/>
        </p:nvSpPr>
        <p:spPr>
          <a:xfrm rot="16200000">
            <a:off x="3528010" y="5560543"/>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21" name="그룹 20">
            <a:extLst>
              <a:ext uri="{FF2B5EF4-FFF2-40B4-BE49-F238E27FC236}">
                <a16:creationId xmlns:a16="http://schemas.microsoft.com/office/drawing/2014/main" id="{14C4222F-F970-806C-7CE5-AA309E6B667A}"/>
              </a:ext>
            </a:extLst>
          </p:cNvPr>
          <p:cNvGrpSpPr/>
          <p:nvPr/>
        </p:nvGrpSpPr>
        <p:grpSpPr>
          <a:xfrm>
            <a:off x="4085359" y="5098562"/>
            <a:ext cx="492991" cy="431003"/>
            <a:chOff x="2352577" y="2695993"/>
            <a:chExt cx="1946046" cy="1511439"/>
          </a:xfrm>
        </p:grpSpPr>
        <p:sp>
          <p:nvSpPr>
            <p:cNvPr id="22" name="사각형: 둥근 모서리 21">
              <a:extLst>
                <a:ext uri="{FF2B5EF4-FFF2-40B4-BE49-F238E27FC236}">
                  <a16:creationId xmlns:a16="http://schemas.microsoft.com/office/drawing/2014/main" id="{C7C4C1D3-417D-3961-D4DC-B42A4E6A3C88}"/>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3" name="TextBox 22">
              <a:extLst>
                <a:ext uri="{FF2B5EF4-FFF2-40B4-BE49-F238E27FC236}">
                  <a16:creationId xmlns:a16="http://schemas.microsoft.com/office/drawing/2014/main" id="{ADB353E2-A22A-B7A9-65F0-4CE4FF08B576}"/>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24" name="그룹 23">
            <a:extLst>
              <a:ext uri="{FF2B5EF4-FFF2-40B4-BE49-F238E27FC236}">
                <a16:creationId xmlns:a16="http://schemas.microsoft.com/office/drawing/2014/main" id="{AF8ED8B7-379F-0ACF-7402-4B4F0E8D8315}"/>
              </a:ext>
            </a:extLst>
          </p:cNvPr>
          <p:cNvGrpSpPr/>
          <p:nvPr/>
        </p:nvGrpSpPr>
        <p:grpSpPr>
          <a:xfrm>
            <a:off x="4112991" y="5701281"/>
            <a:ext cx="423179" cy="266522"/>
            <a:chOff x="1035337" y="4534057"/>
            <a:chExt cx="521543" cy="360000"/>
          </a:xfrm>
        </p:grpSpPr>
        <p:sp>
          <p:nvSpPr>
            <p:cNvPr id="25" name="타원 24">
              <a:extLst>
                <a:ext uri="{FF2B5EF4-FFF2-40B4-BE49-F238E27FC236}">
                  <a16:creationId xmlns:a16="http://schemas.microsoft.com/office/drawing/2014/main" id="{60A9B16F-A939-2C02-0CC9-A86BDF789441}"/>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6" name="TextBox 25">
              <a:extLst>
                <a:ext uri="{FF2B5EF4-FFF2-40B4-BE49-F238E27FC236}">
                  <a16:creationId xmlns:a16="http://schemas.microsoft.com/office/drawing/2014/main" id="{23C4B805-9D02-5B2B-EBCC-87299F1E40C1}"/>
                </a:ext>
              </a:extLst>
            </p:cNvPr>
            <p:cNvSpPr txBox="1"/>
            <p:nvPr/>
          </p:nvSpPr>
          <p:spPr>
            <a:xfrm>
              <a:off x="1035337" y="4550609"/>
              <a:ext cx="521543" cy="342973"/>
            </a:xfrm>
            <a:prstGeom prst="rect">
              <a:avLst/>
            </a:prstGeom>
            <a:noFill/>
          </p:spPr>
          <p:txBody>
            <a:bodyPr wrap="square">
              <a:spAutoFit/>
            </a:bodyPr>
            <a:lstStyle/>
            <a:p>
              <a:pPr algn="ctr"/>
              <a:r>
                <a:rPr lang="en-US" altLang="ko-KR" sz="1000" b="1" dirty="0" err="1">
                  <a:solidFill>
                    <a:srgbClr val="222222"/>
                  </a:solidFill>
                  <a:latin typeface="Arial Narrow" panose="020B0606020202030204" pitchFamily="34" charset="0"/>
                </a:rPr>
                <a:t>X</a:t>
              </a:r>
              <a:r>
                <a:rPr lang="en-US" altLang="ko-KR" sz="1000" b="1" baseline="-25000" dirty="0" err="1">
                  <a:solidFill>
                    <a:srgbClr val="222222"/>
                  </a:solidFill>
                  <a:latin typeface="Arial Narrow" panose="020B0606020202030204" pitchFamily="34" charset="0"/>
                </a:rPr>
                <a:t>t</a:t>
              </a:r>
              <a:endParaRPr lang="ko-KR" altLang="en-US" sz="1000" b="1" dirty="0"/>
            </a:p>
          </p:txBody>
        </p:sp>
      </p:grpSp>
      <p:sp>
        <p:nvSpPr>
          <p:cNvPr id="27" name="화살표: 오른쪽 26">
            <a:extLst>
              <a:ext uri="{FF2B5EF4-FFF2-40B4-BE49-F238E27FC236}">
                <a16:creationId xmlns:a16="http://schemas.microsoft.com/office/drawing/2014/main" id="{1E71A771-D049-8B49-83C7-8B30A5E1ABA7}"/>
              </a:ext>
            </a:extLst>
          </p:cNvPr>
          <p:cNvSpPr/>
          <p:nvPr/>
        </p:nvSpPr>
        <p:spPr>
          <a:xfrm rot="16200000">
            <a:off x="4237933" y="5560895"/>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28" name="화살표: 오른쪽 27">
            <a:extLst>
              <a:ext uri="{FF2B5EF4-FFF2-40B4-BE49-F238E27FC236}">
                <a16:creationId xmlns:a16="http://schemas.microsoft.com/office/drawing/2014/main" id="{5D562619-F24F-D78C-C48F-32369ED48B1A}"/>
              </a:ext>
            </a:extLst>
          </p:cNvPr>
          <p:cNvSpPr/>
          <p:nvPr/>
        </p:nvSpPr>
        <p:spPr>
          <a:xfrm rot="16200000">
            <a:off x="4234809" y="4953727"/>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29" name="화살표: 오른쪽 28">
            <a:extLst>
              <a:ext uri="{FF2B5EF4-FFF2-40B4-BE49-F238E27FC236}">
                <a16:creationId xmlns:a16="http://schemas.microsoft.com/office/drawing/2014/main" id="{C963DE1A-470B-8B8D-8AD3-6B25A03E9367}"/>
              </a:ext>
            </a:extLst>
          </p:cNvPr>
          <p:cNvSpPr/>
          <p:nvPr/>
        </p:nvSpPr>
        <p:spPr>
          <a:xfrm>
            <a:off x="3175323" y="4636040"/>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30" name="그룹 29">
            <a:extLst>
              <a:ext uri="{FF2B5EF4-FFF2-40B4-BE49-F238E27FC236}">
                <a16:creationId xmlns:a16="http://schemas.microsoft.com/office/drawing/2014/main" id="{41BFD1AC-9396-E724-D15D-996EBFFABC55}"/>
              </a:ext>
            </a:extLst>
          </p:cNvPr>
          <p:cNvGrpSpPr/>
          <p:nvPr/>
        </p:nvGrpSpPr>
        <p:grpSpPr>
          <a:xfrm>
            <a:off x="2670375" y="4487777"/>
            <a:ext cx="492991" cy="431003"/>
            <a:chOff x="2352577" y="2695993"/>
            <a:chExt cx="1946046" cy="1511439"/>
          </a:xfrm>
        </p:grpSpPr>
        <p:sp>
          <p:nvSpPr>
            <p:cNvPr id="31" name="사각형: 둥근 모서리 30">
              <a:extLst>
                <a:ext uri="{FF2B5EF4-FFF2-40B4-BE49-F238E27FC236}">
                  <a16:creationId xmlns:a16="http://schemas.microsoft.com/office/drawing/2014/main" id="{5A11105E-C209-5EAE-6E14-54738E3C14A4}"/>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2" name="TextBox 31">
              <a:extLst>
                <a:ext uri="{FF2B5EF4-FFF2-40B4-BE49-F238E27FC236}">
                  <a16:creationId xmlns:a16="http://schemas.microsoft.com/office/drawing/2014/main" id="{D81171A7-BB23-017D-FF3B-92FF970B5BEE}"/>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sp>
        <p:nvSpPr>
          <p:cNvPr id="33" name="화살표: 오른쪽 32">
            <a:extLst>
              <a:ext uri="{FF2B5EF4-FFF2-40B4-BE49-F238E27FC236}">
                <a16:creationId xmlns:a16="http://schemas.microsoft.com/office/drawing/2014/main" id="{68755C28-9BD8-3DCC-16D3-410D23AA262E}"/>
              </a:ext>
            </a:extLst>
          </p:cNvPr>
          <p:cNvSpPr/>
          <p:nvPr/>
        </p:nvSpPr>
        <p:spPr>
          <a:xfrm>
            <a:off x="3880384" y="4633865"/>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34" name="그룹 33">
            <a:extLst>
              <a:ext uri="{FF2B5EF4-FFF2-40B4-BE49-F238E27FC236}">
                <a16:creationId xmlns:a16="http://schemas.microsoft.com/office/drawing/2014/main" id="{2F0416FE-DAC3-4771-C5D7-D76657657E1A}"/>
              </a:ext>
            </a:extLst>
          </p:cNvPr>
          <p:cNvGrpSpPr/>
          <p:nvPr/>
        </p:nvGrpSpPr>
        <p:grpSpPr>
          <a:xfrm>
            <a:off x="3375436" y="4485603"/>
            <a:ext cx="492991" cy="431003"/>
            <a:chOff x="2352577" y="2695993"/>
            <a:chExt cx="1946046" cy="1511439"/>
          </a:xfrm>
        </p:grpSpPr>
        <p:sp>
          <p:nvSpPr>
            <p:cNvPr id="35" name="사각형: 둥근 모서리 34">
              <a:extLst>
                <a:ext uri="{FF2B5EF4-FFF2-40B4-BE49-F238E27FC236}">
                  <a16:creationId xmlns:a16="http://schemas.microsoft.com/office/drawing/2014/main" id="{6BAA7791-8709-4142-AE7C-54B7D992ECB7}"/>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8" name="TextBox 37">
              <a:extLst>
                <a:ext uri="{FF2B5EF4-FFF2-40B4-BE49-F238E27FC236}">
                  <a16:creationId xmlns:a16="http://schemas.microsoft.com/office/drawing/2014/main" id="{BF1C1E06-0075-D3B4-7944-F462C85ECD42}"/>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39" name="그룹 38">
            <a:extLst>
              <a:ext uri="{FF2B5EF4-FFF2-40B4-BE49-F238E27FC236}">
                <a16:creationId xmlns:a16="http://schemas.microsoft.com/office/drawing/2014/main" id="{AFAD98CF-8996-7373-963A-1CF8659B8D45}"/>
              </a:ext>
            </a:extLst>
          </p:cNvPr>
          <p:cNvGrpSpPr/>
          <p:nvPr/>
        </p:nvGrpSpPr>
        <p:grpSpPr>
          <a:xfrm>
            <a:off x="4085359" y="4485955"/>
            <a:ext cx="492991" cy="431003"/>
            <a:chOff x="2352577" y="2695993"/>
            <a:chExt cx="1946046" cy="1511439"/>
          </a:xfrm>
        </p:grpSpPr>
        <p:sp>
          <p:nvSpPr>
            <p:cNvPr id="40" name="사각형: 둥근 모서리 39">
              <a:extLst>
                <a:ext uri="{FF2B5EF4-FFF2-40B4-BE49-F238E27FC236}">
                  <a16:creationId xmlns:a16="http://schemas.microsoft.com/office/drawing/2014/main" id="{A9F0074C-C911-5EDC-45CE-FA11AC3A6610}"/>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1" name="TextBox 40">
              <a:extLst>
                <a:ext uri="{FF2B5EF4-FFF2-40B4-BE49-F238E27FC236}">
                  <a16:creationId xmlns:a16="http://schemas.microsoft.com/office/drawing/2014/main" id="{28430C1D-8468-58E2-284F-C21CAC78DEB0}"/>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sp>
        <p:nvSpPr>
          <p:cNvPr id="42" name="화살표: 오른쪽 41">
            <a:extLst>
              <a:ext uri="{FF2B5EF4-FFF2-40B4-BE49-F238E27FC236}">
                <a16:creationId xmlns:a16="http://schemas.microsoft.com/office/drawing/2014/main" id="{24269DF8-D580-2232-9BBF-1EB4F496E569}"/>
              </a:ext>
            </a:extLst>
          </p:cNvPr>
          <p:cNvSpPr/>
          <p:nvPr/>
        </p:nvSpPr>
        <p:spPr>
          <a:xfrm rot="16200000">
            <a:off x="3533835" y="4960258"/>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43" name="화살표: 오른쪽 42">
            <a:extLst>
              <a:ext uri="{FF2B5EF4-FFF2-40B4-BE49-F238E27FC236}">
                <a16:creationId xmlns:a16="http://schemas.microsoft.com/office/drawing/2014/main" id="{D975178D-5830-8833-6028-152BAE6F4580}"/>
              </a:ext>
            </a:extLst>
          </p:cNvPr>
          <p:cNvSpPr/>
          <p:nvPr/>
        </p:nvSpPr>
        <p:spPr>
          <a:xfrm rot="16200000">
            <a:off x="2821654" y="4953206"/>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45" name="화살표: 오른쪽 44">
            <a:extLst>
              <a:ext uri="{FF2B5EF4-FFF2-40B4-BE49-F238E27FC236}">
                <a16:creationId xmlns:a16="http://schemas.microsoft.com/office/drawing/2014/main" id="{87A79A0D-2B48-D215-B6E5-2295BA4EECEC}"/>
              </a:ext>
            </a:extLst>
          </p:cNvPr>
          <p:cNvSpPr/>
          <p:nvPr/>
        </p:nvSpPr>
        <p:spPr>
          <a:xfrm rot="16200000">
            <a:off x="4234809" y="4333314"/>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68" name="화살표: 오른쪽 67">
            <a:extLst>
              <a:ext uri="{FF2B5EF4-FFF2-40B4-BE49-F238E27FC236}">
                <a16:creationId xmlns:a16="http://schemas.microsoft.com/office/drawing/2014/main" id="{3F34B229-085E-2AAF-A6B6-7223790CE616}"/>
              </a:ext>
            </a:extLst>
          </p:cNvPr>
          <p:cNvSpPr/>
          <p:nvPr/>
        </p:nvSpPr>
        <p:spPr>
          <a:xfrm>
            <a:off x="4596568" y="3995320"/>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69" name="그룹 68">
            <a:extLst>
              <a:ext uri="{FF2B5EF4-FFF2-40B4-BE49-F238E27FC236}">
                <a16:creationId xmlns:a16="http://schemas.microsoft.com/office/drawing/2014/main" id="{725D5D2D-8236-BA7A-8DBD-389073464608}"/>
              </a:ext>
            </a:extLst>
          </p:cNvPr>
          <p:cNvGrpSpPr/>
          <p:nvPr/>
        </p:nvGrpSpPr>
        <p:grpSpPr>
          <a:xfrm>
            <a:off x="4091620" y="3847057"/>
            <a:ext cx="492991" cy="431003"/>
            <a:chOff x="2352577" y="2695993"/>
            <a:chExt cx="1946046" cy="1511439"/>
          </a:xfrm>
        </p:grpSpPr>
        <p:sp>
          <p:nvSpPr>
            <p:cNvPr id="70" name="사각형: 둥근 모서리 69">
              <a:extLst>
                <a:ext uri="{FF2B5EF4-FFF2-40B4-BE49-F238E27FC236}">
                  <a16:creationId xmlns:a16="http://schemas.microsoft.com/office/drawing/2014/main" id="{1B17F692-29DF-3011-BDB4-4A8E64AE34BE}"/>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1" name="TextBox 70">
              <a:extLst>
                <a:ext uri="{FF2B5EF4-FFF2-40B4-BE49-F238E27FC236}">
                  <a16:creationId xmlns:a16="http://schemas.microsoft.com/office/drawing/2014/main" id="{8FBF0817-75DA-67CD-13DB-649FDF77BD15}"/>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sp>
        <p:nvSpPr>
          <p:cNvPr id="72" name="화살표: 오른쪽 71">
            <a:extLst>
              <a:ext uri="{FF2B5EF4-FFF2-40B4-BE49-F238E27FC236}">
                <a16:creationId xmlns:a16="http://schemas.microsoft.com/office/drawing/2014/main" id="{CEDA0DEA-4AEB-2A38-BFCA-C9D1EAB4448B}"/>
              </a:ext>
            </a:extLst>
          </p:cNvPr>
          <p:cNvSpPr/>
          <p:nvPr/>
        </p:nvSpPr>
        <p:spPr>
          <a:xfrm>
            <a:off x="5301629" y="3993145"/>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73" name="그룹 72">
            <a:extLst>
              <a:ext uri="{FF2B5EF4-FFF2-40B4-BE49-F238E27FC236}">
                <a16:creationId xmlns:a16="http://schemas.microsoft.com/office/drawing/2014/main" id="{C6A96610-A765-4D37-02A0-28B308E3EA91}"/>
              </a:ext>
            </a:extLst>
          </p:cNvPr>
          <p:cNvGrpSpPr/>
          <p:nvPr/>
        </p:nvGrpSpPr>
        <p:grpSpPr>
          <a:xfrm>
            <a:off x="4796681" y="3844883"/>
            <a:ext cx="492991" cy="431003"/>
            <a:chOff x="2352577" y="2695993"/>
            <a:chExt cx="1946046" cy="1511439"/>
          </a:xfrm>
        </p:grpSpPr>
        <p:sp>
          <p:nvSpPr>
            <p:cNvPr id="74" name="사각형: 둥근 모서리 73">
              <a:extLst>
                <a:ext uri="{FF2B5EF4-FFF2-40B4-BE49-F238E27FC236}">
                  <a16:creationId xmlns:a16="http://schemas.microsoft.com/office/drawing/2014/main" id="{6DCFB75E-EAAD-414B-F6E5-CCCAF631CFA4}"/>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5" name="TextBox 74">
              <a:extLst>
                <a:ext uri="{FF2B5EF4-FFF2-40B4-BE49-F238E27FC236}">
                  <a16:creationId xmlns:a16="http://schemas.microsoft.com/office/drawing/2014/main" id="{BC375D08-F553-DBDF-6245-9579756A0B6D}"/>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76" name="그룹 75">
            <a:extLst>
              <a:ext uri="{FF2B5EF4-FFF2-40B4-BE49-F238E27FC236}">
                <a16:creationId xmlns:a16="http://schemas.microsoft.com/office/drawing/2014/main" id="{708A7AB5-D017-2DCD-FAA1-63C5E9BCBD84}"/>
              </a:ext>
            </a:extLst>
          </p:cNvPr>
          <p:cNvGrpSpPr/>
          <p:nvPr/>
        </p:nvGrpSpPr>
        <p:grpSpPr>
          <a:xfrm>
            <a:off x="5506604" y="3845235"/>
            <a:ext cx="492991" cy="431003"/>
            <a:chOff x="2352577" y="2695993"/>
            <a:chExt cx="1946046" cy="1511439"/>
          </a:xfrm>
        </p:grpSpPr>
        <p:sp>
          <p:nvSpPr>
            <p:cNvPr id="77" name="사각형: 둥근 모서리 76">
              <a:extLst>
                <a:ext uri="{FF2B5EF4-FFF2-40B4-BE49-F238E27FC236}">
                  <a16:creationId xmlns:a16="http://schemas.microsoft.com/office/drawing/2014/main" id="{99863009-6743-E59B-570F-40A8901F6874}"/>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8" name="TextBox 77">
              <a:extLst>
                <a:ext uri="{FF2B5EF4-FFF2-40B4-BE49-F238E27FC236}">
                  <a16:creationId xmlns:a16="http://schemas.microsoft.com/office/drawing/2014/main" id="{24F4D442-46B2-B8D6-52C2-EEF0CC9CDDF2}"/>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sp>
        <p:nvSpPr>
          <p:cNvPr id="79" name="화살표: 오른쪽 78">
            <a:extLst>
              <a:ext uri="{FF2B5EF4-FFF2-40B4-BE49-F238E27FC236}">
                <a16:creationId xmlns:a16="http://schemas.microsoft.com/office/drawing/2014/main" id="{DC359994-F2CC-950F-1875-F1F062D090D2}"/>
              </a:ext>
            </a:extLst>
          </p:cNvPr>
          <p:cNvSpPr/>
          <p:nvPr/>
        </p:nvSpPr>
        <p:spPr>
          <a:xfrm rot="16200000">
            <a:off x="5656054" y="3700400"/>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80" name="화살표: 오른쪽 79">
            <a:extLst>
              <a:ext uri="{FF2B5EF4-FFF2-40B4-BE49-F238E27FC236}">
                <a16:creationId xmlns:a16="http://schemas.microsoft.com/office/drawing/2014/main" id="{75CBC39F-AB58-2ECB-EE25-0DF1C063FC62}"/>
              </a:ext>
            </a:extLst>
          </p:cNvPr>
          <p:cNvSpPr/>
          <p:nvPr/>
        </p:nvSpPr>
        <p:spPr>
          <a:xfrm>
            <a:off x="4596568" y="3382713"/>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81" name="그룹 80">
            <a:extLst>
              <a:ext uri="{FF2B5EF4-FFF2-40B4-BE49-F238E27FC236}">
                <a16:creationId xmlns:a16="http://schemas.microsoft.com/office/drawing/2014/main" id="{C96429AA-97D3-C74A-7BAC-01C3DAC10D28}"/>
              </a:ext>
            </a:extLst>
          </p:cNvPr>
          <p:cNvGrpSpPr/>
          <p:nvPr/>
        </p:nvGrpSpPr>
        <p:grpSpPr>
          <a:xfrm>
            <a:off x="4091620" y="3234450"/>
            <a:ext cx="492991" cy="431003"/>
            <a:chOff x="2352577" y="2695993"/>
            <a:chExt cx="1946046" cy="1511439"/>
          </a:xfrm>
        </p:grpSpPr>
        <p:sp>
          <p:nvSpPr>
            <p:cNvPr id="82" name="사각형: 둥근 모서리 81">
              <a:extLst>
                <a:ext uri="{FF2B5EF4-FFF2-40B4-BE49-F238E27FC236}">
                  <a16:creationId xmlns:a16="http://schemas.microsoft.com/office/drawing/2014/main" id="{0694B581-1DDC-EDE2-8FF9-A9478D3F4310}"/>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3" name="TextBox 82">
              <a:extLst>
                <a:ext uri="{FF2B5EF4-FFF2-40B4-BE49-F238E27FC236}">
                  <a16:creationId xmlns:a16="http://schemas.microsoft.com/office/drawing/2014/main" id="{D460C288-2332-5C1D-ED19-9611AA67DC55}"/>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sp>
        <p:nvSpPr>
          <p:cNvPr id="84" name="화살표: 오른쪽 83">
            <a:extLst>
              <a:ext uri="{FF2B5EF4-FFF2-40B4-BE49-F238E27FC236}">
                <a16:creationId xmlns:a16="http://schemas.microsoft.com/office/drawing/2014/main" id="{2FC89CAB-01F0-5A74-6481-A54B6FAE246D}"/>
              </a:ext>
            </a:extLst>
          </p:cNvPr>
          <p:cNvSpPr/>
          <p:nvPr/>
        </p:nvSpPr>
        <p:spPr>
          <a:xfrm>
            <a:off x="5301629" y="3380538"/>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85" name="그룹 84">
            <a:extLst>
              <a:ext uri="{FF2B5EF4-FFF2-40B4-BE49-F238E27FC236}">
                <a16:creationId xmlns:a16="http://schemas.microsoft.com/office/drawing/2014/main" id="{C909737E-9E46-464A-A833-EA36B119DBAE}"/>
              </a:ext>
            </a:extLst>
          </p:cNvPr>
          <p:cNvGrpSpPr/>
          <p:nvPr/>
        </p:nvGrpSpPr>
        <p:grpSpPr>
          <a:xfrm>
            <a:off x="4796681" y="3232276"/>
            <a:ext cx="492991" cy="431003"/>
            <a:chOff x="2352577" y="2695993"/>
            <a:chExt cx="1946046" cy="1511439"/>
          </a:xfrm>
        </p:grpSpPr>
        <p:sp>
          <p:nvSpPr>
            <p:cNvPr id="86" name="사각형: 둥근 모서리 85">
              <a:extLst>
                <a:ext uri="{FF2B5EF4-FFF2-40B4-BE49-F238E27FC236}">
                  <a16:creationId xmlns:a16="http://schemas.microsoft.com/office/drawing/2014/main" id="{D8037268-4E33-9DE6-EC81-500C3CF2A92D}"/>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7" name="TextBox 86">
              <a:extLst>
                <a:ext uri="{FF2B5EF4-FFF2-40B4-BE49-F238E27FC236}">
                  <a16:creationId xmlns:a16="http://schemas.microsoft.com/office/drawing/2014/main" id="{691A39C0-0977-2EC1-E2CE-856D5902840E}"/>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88" name="그룹 87">
            <a:extLst>
              <a:ext uri="{FF2B5EF4-FFF2-40B4-BE49-F238E27FC236}">
                <a16:creationId xmlns:a16="http://schemas.microsoft.com/office/drawing/2014/main" id="{673F8C18-476B-1860-1C66-2302DFC3C869}"/>
              </a:ext>
            </a:extLst>
          </p:cNvPr>
          <p:cNvGrpSpPr/>
          <p:nvPr/>
        </p:nvGrpSpPr>
        <p:grpSpPr>
          <a:xfrm>
            <a:off x="5506604" y="3232628"/>
            <a:ext cx="492991" cy="431003"/>
            <a:chOff x="2352577" y="2695993"/>
            <a:chExt cx="1946046" cy="1511439"/>
          </a:xfrm>
        </p:grpSpPr>
        <p:sp>
          <p:nvSpPr>
            <p:cNvPr id="89" name="사각형: 둥근 모서리 88">
              <a:extLst>
                <a:ext uri="{FF2B5EF4-FFF2-40B4-BE49-F238E27FC236}">
                  <a16:creationId xmlns:a16="http://schemas.microsoft.com/office/drawing/2014/main" id="{2463E2B0-FC12-C169-B958-6D212A098345}"/>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90" name="TextBox 89">
              <a:extLst>
                <a:ext uri="{FF2B5EF4-FFF2-40B4-BE49-F238E27FC236}">
                  <a16:creationId xmlns:a16="http://schemas.microsoft.com/office/drawing/2014/main" id="{7CE9A368-57EF-9D8A-1D0B-17E945993CC6}"/>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sp>
        <p:nvSpPr>
          <p:cNvPr id="91" name="화살표: 오른쪽 90">
            <a:extLst>
              <a:ext uri="{FF2B5EF4-FFF2-40B4-BE49-F238E27FC236}">
                <a16:creationId xmlns:a16="http://schemas.microsoft.com/office/drawing/2014/main" id="{CCBFFD3B-7563-F6BF-F528-025175BF1425}"/>
              </a:ext>
            </a:extLst>
          </p:cNvPr>
          <p:cNvSpPr/>
          <p:nvPr/>
        </p:nvSpPr>
        <p:spPr>
          <a:xfrm rot="16200000">
            <a:off x="4955080" y="3706931"/>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92" name="화살표: 오른쪽 91">
            <a:extLst>
              <a:ext uri="{FF2B5EF4-FFF2-40B4-BE49-F238E27FC236}">
                <a16:creationId xmlns:a16="http://schemas.microsoft.com/office/drawing/2014/main" id="{48EAAD39-31F7-D56A-C0FA-4FF037B676E3}"/>
              </a:ext>
            </a:extLst>
          </p:cNvPr>
          <p:cNvSpPr/>
          <p:nvPr/>
        </p:nvSpPr>
        <p:spPr>
          <a:xfrm rot="16200000">
            <a:off x="4242899" y="3699879"/>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93" name="화살표: 오른쪽 92">
            <a:extLst>
              <a:ext uri="{FF2B5EF4-FFF2-40B4-BE49-F238E27FC236}">
                <a16:creationId xmlns:a16="http://schemas.microsoft.com/office/drawing/2014/main" id="{83988A9A-6523-259C-1981-2131A7A9AB04}"/>
              </a:ext>
            </a:extLst>
          </p:cNvPr>
          <p:cNvSpPr/>
          <p:nvPr/>
        </p:nvSpPr>
        <p:spPr>
          <a:xfrm rot="16200000">
            <a:off x="5656054" y="3080573"/>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grpSp>
        <p:nvGrpSpPr>
          <p:cNvPr id="97" name="그룹 96">
            <a:extLst>
              <a:ext uri="{FF2B5EF4-FFF2-40B4-BE49-F238E27FC236}">
                <a16:creationId xmlns:a16="http://schemas.microsoft.com/office/drawing/2014/main" id="{4CAB2ADA-641A-8D50-E964-FE0A34648CB1}"/>
              </a:ext>
            </a:extLst>
          </p:cNvPr>
          <p:cNvGrpSpPr/>
          <p:nvPr/>
        </p:nvGrpSpPr>
        <p:grpSpPr>
          <a:xfrm>
            <a:off x="4132875" y="2763433"/>
            <a:ext cx="423179" cy="266522"/>
            <a:chOff x="1043163" y="4534057"/>
            <a:chExt cx="521543" cy="360000"/>
          </a:xfrm>
        </p:grpSpPr>
        <p:sp>
          <p:nvSpPr>
            <p:cNvPr id="98" name="타원 97">
              <a:extLst>
                <a:ext uri="{FF2B5EF4-FFF2-40B4-BE49-F238E27FC236}">
                  <a16:creationId xmlns:a16="http://schemas.microsoft.com/office/drawing/2014/main" id="{B72A9DAB-29F4-4FF1-4EE7-4FDA50ABD49D}"/>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99" name="TextBox 98">
              <a:extLst>
                <a:ext uri="{FF2B5EF4-FFF2-40B4-BE49-F238E27FC236}">
                  <a16:creationId xmlns:a16="http://schemas.microsoft.com/office/drawing/2014/main" id="{C7836F49-1F25-F587-68BA-553A6716301E}"/>
                </a:ext>
              </a:extLst>
            </p:cNvPr>
            <p:cNvSpPr txBox="1"/>
            <p:nvPr/>
          </p:nvSpPr>
          <p:spPr>
            <a:xfrm>
              <a:off x="1043163" y="4550609"/>
              <a:ext cx="521543" cy="332579"/>
            </a:xfrm>
            <a:prstGeom prst="rect">
              <a:avLst/>
            </a:prstGeom>
            <a:noFill/>
          </p:spPr>
          <p:txBody>
            <a:bodyPr wrap="square">
              <a:spAutoFit/>
            </a:bodyPr>
            <a:lstStyle/>
            <a:p>
              <a:pPr algn="ctr"/>
              <a:r>
                <a:rPr lang="en-US" altLang="ko-KR" sz="1000" b="1" dirty="0">
                  <a:solidFill>
                    <a:srgbClr val="222222"/>
                  </a:solidFill>
                  <a:latin typeface="Arial Narrow" panose="020B0606020202030204" pitchFamily="34" charset="0"/>
                </a:rPr>
                <a:t>Y</a:t>
              </a:r>
              <a:r>
                <a:rPr lang="en-US" altLang="ko-KR" sz="1000" b="1" baseline="-25000" dirty="0">
                  <a:solidFill>
                    <a:srgbClr val="222222"/>
                  </a:solidFill>
                  <a:latin typeface="Arial Narrow" panose="020B0606020202030204" pitchFamily="34" charset="0"/>
                </a:rPr>
                <a:t>t+1</a:t>
              </a:r>
              <a:endParaRPr lang="ko-KR" altLang="en-US" sz="1000" b="1" dirty="0"/>
            </a:p>
          </p:txBody>
        </p:sp>
      </p:grpSp>
      <p:sp>
        <p:nvSpPr>
          <p:cNvPr id="100" name="화살표: 오른쪽 99">
            <a:extLst>
              <a:ext uri="{FF2B5EF4-FFF2-40B4-BE49-F238E27FC236}">
                <a16:creationId xmlns:a16="http://schemas.microsoft.com/office/drawing/2014/main" id="{C7244558-8678-31A6-F833-168A43884160}"/>
              </a:ext>
            </a:extLst>
          </p:cNvPr>
          <p:cNvSpPr/>
          <p:nvPr/>
        </p:nvSpPr>
        <p:spPr>
          <a:xfrm rot="16200000">
            <a:off x="4242520" y="3086923"/>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101" name="화살표: 오른쪽 100">
            <a:extLst>
              <a:ext uri="{FF2B5EF4-FFF2-40B4-BE49-F238E27FC236}">
                <a16:creationId xmlns:a16="http://schemas.microsoft.com/office/drawing/2014/main" id="{0A3EB8E7-04BC-52A6-971D-A7FE8CE6DAD3}"/>
              </a:ext>
            </a:extLst>
          </p:cNvPr>
          <p:cNvSpPr/>
          <p:nvPr/>
        </p:nvSpPr>
        <p:spPr>
          <a:xfrm rot="16200000">
            <a:off x="4943947" y="3081100"/>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grpSp>
        <p:nvGrpSpPr>
          <p:cNvPr id="102" name="그룹 101">
            <a:extLst>
              <a:ext uri="{FF2B5EF4-FFF2-40B4-BE49-F238E27FC236}">
                <a16:creationId xmlns:a16="http://schemas.microsoft.com/office/drawing/2014/main" id="{372E2F1F-7BD0-B925-4FB7-B7977D4F7FE9}"/>
              </a:ext>
            </a:extLst>
          </p:cNvPr>
          <p:cNvGrpSpPr/>
          <p:nvPr/>
        </p:nvGrpSpPr>
        <p:grpSpPr>
          <a:xfrm>
            <a:off x="4828392" y="2763433"/>
            <a:ext cx="423179" cy="266522"/>
            <a:chOff x="1043163" y="4534057"/>
            <a:chExt cx="521543" cy="360000"/>
          </a:xfrm>
        </p:grpSpPr>
        <p:sp>
          <p:nvSpPr>
            <p:cNvPr id="103" name="타원 102">
              <a:extLst>
                <a:ext uri="{FF2B5EF4-FFF2-40B4-BE49-F238E27FC236}">
                  <a16:creationId xmlns:a16="http://schemas.microsoft.com/office/drawing/2014/main" id="{5B53EA19-7922-73EA-BE7D-BF692BF1D0AA}"/>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4" name="TextBox 103">
              <a:extLst>
                <a:ext uri="{FF2B5EF4-FFF2-40B4-BE49-F238E27FC236}">
                  <a16:creationId xmlns:a16="http://schemas.microsoft.com/office/drawing/2014/main" id="{038881C4-DB85-30B3-BF79-60C02555BB09}"/>
                </a:ext>
              </a:extLst>
            </p:cNvPr>
            <p:cNvSpPr txBox="1"/>
            <p:nvPr/>
          </p:nvSpPr>
          <p:spPr>
            <a:xfrm>
              <a:off x="1043163" y="4550609"/>
              <a:ext cx="521543" cy="332579"/>
            </a:xfrm>
            <a:prstGeom prst="rect">
              <a:avLst/>
            </a:prstGeom>
            <a:noFill/>
          </p:spPr>
          <p:txBody>
            <a:bodyPr wrap="square">
              <a:spAutoFit/>
            </a:bodyPr>
            <a:lstStyle/>
            <a:p>
              <a:pPr algn="ctr"/>
              <a:r>
                <a:rPr lang="en-US" altLang="ko-KR" sz="1000" b="1" dirty="0">
                  <a:solidFill>
                    <a:srgbClr val="222222"/>
                  </a:solidFill>
                  <a:latin typeface="Arial Narrow" panose="020B0606020202030204" pitchFamily="34" charset="0"/>
                </a:rPr>
                <a:t>Y</a:t>
              </a:r>
              <a:r>
                <a:rPr lang="en-US" altLang="ko-KR" sz="1000" b="1" baseline="-25000" dirty="0">
                  <a:solidFill>
                    <a:srgbClr val="222222"/>
                  </a:solidFill>
                  <a:latin typeface="Arial Narrow" panose="020B0606020202030204" pitchFamily="34" charset="0"/>
                </a:rPr>
                <a:t>t+2</a:t>
              </a:r>
              <a:endParaRPr lang="ko-KR" altLang="en-US" sz="1000" b="1" dirty="0"/>
            </a:p>
          </p:txBody>
        </p:sp>
      </p:grpSp>
      <p:grpSp>
        <p:nvGrpSpPr>
          <p:cNvPr id="105" name="그룹 104">
            <a:extLst>
              <a:ext uri="{FF2B5EF4-FFF2-40B4-BE49-F238E27FC236}">
                <a16:creationId xmlns:a16="http://schemas.microsoft.com/office/drawing/2014/main" id="{F532B0B2-1C3D-4710-955B-4C4657E8558B}"/>
              </a:ext>
            </a:extLst>
          </p:cNvPr>
          <p:cNvGrpSpPr/>
          <p:nvPr/>
        </p:nvGrpSpPr>
        <p:grpSpPr>
          <a:xfrm>
            <a:off x="5541509" y="2759357"/>
            <a:ext cx="423179" cy="266522"/>
            <a:chOff x="1043163" y="4534057"/>
            <a:chExt cx="521543" cy="360000"/>
          </a:xfrm>
        </p:grpSpPr>
        <p:sp>
          <p:nvSpPr>
            <p:cNvPr id="106" name="타원 105">
              <a:extLst>
                <a:ext uri="{FF2B5EF4-FFF2-40B4-BE49-F238E27FC236}">
                  <a16:creationId xmlns:a16="http://schemas.microsoft.com/office/drawing/2014/main" id="{B5C3CFB6-A447-614C-A54A-54A29E683AD6}"/>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7" name="TextBox 106">
              <a:extLst>
                <a:ext uri="{FF2B5EF4-FFF2-40B4-BE49-F238E27FC236}">
                  <a16:creationId xmlns:a16="http://schemas.microsoft.com/office/drawing/2014/main" id="{B601E9B1-5E88-A32C-9FE5-5824D2B641EB}"/>
                </a:ext>
              </a:extLst>
            </p:cNvPr>
            <p:cNvSpPr txBox="1"/>
            <p:nvPr/>
          </p:nvSpPr>
          <p:spPr>
            <a:xfrm>
              <a:off x="1043163" y="4550609"/>
              <a:ext cx="521543" cy="332579"/>
            </a:xfrm>
            <a:prstGeom prst="rect">
              <a:avLst/>
            </a:prstGeom>
            <a:noFill/>
          </p:spPr>
          <p:txBody>
            <a:bodyPr wrap="square">
              <a:spAutoFit/>
            </a:bodyPr>
            <a:lstStyle/>
            <a:p>
              <a:pPr algn="ctr"/>
              <a:r>
                <a:rPr lang="en-US" altLang="ko-KR" sz="1000" b="1" dirty="0">
                  <a:solidFill>
                    <a:srgbClr val="222222"/>
                  </a:solidFill>
                  <a:latin typeface="Arial Narrow" panose="020B0606020202030204" pitchFamily="34" charset="0"/>
                </a:rPr>
                <a:t>Y</a:t>
              </a:r>
              <a:r>
                <a:rPr lang="en-US" altLang="ko-KR" sz="1000" b="1" baseline="-25000" dirty="0">
                  <a:solidFill>
                    <a:srgbClr val="222222"/>
                  </a:solidFill>
                  <a:latin typeface="Arial Narrow" panose="020B0606020202030204" pitchFamily="34" charset="0"/>
                </a:rPr>
                <a:t>t+3</a:t>
              </a:r>
              <a:endParaRPr lang="ko-KR" altLang="en-US" sz="1000" b="1" dirty="0"/>
            </a:p>
          </p:txBody>
        </p:sp>
      </p:grpSp>
    </p:spTree>
    <p:extLst>
      <p:ext uri="{BB962C8B-B14F-4D97-AF65-F5344CB8AC3E}">
        <p14:creationId xmlns:p14="http://schemas.microsoft.com/office/powerpoint/2010/main" val="18927688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447584" cy="3484928"/>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Exercise1</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m to n regression prediction of household energy use</a:t>
            </a:r>
          </a:p>
          <a:p>
            <a:pPr marL="1198800" lvl="2"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The data set is at 10 min for about 4.5 months. The house temperature and humidity conditions were monitored with a ZigBee wireless sensor network. Each wireless node transmitted the temperature and humidity conditions around 3.3 min. Then, the wireless data was averaged for 10 minutes periods. The energy data was logged every 10 minutes with m-bus energy meters. Weather from the nearest airport weather station (</a:t>
            </a:r>
            <a:r>
              <a:rPr lang="en-US" altLang="ko-KR" sz="1400" dirty="0" err="1">
                <a:solidFill>
                  <a:srgbClr val="222222"/>
                </a:solidFill>
                <a:latin typeface="Arial Narrow" panose="020B0606020202030204" pitchFamily="34" charset="0"/>
              </a:rPr>
              <a:t>Chievres</a:t>
            </a:r>
            <a:r>
              <a:rPr lang="en-US" altLang="ko-KR" sz="1400" dirty="0">
                <a:solidFill>
                  <a:srgbClr val="222222"/>
                </a:solidFill>
                <a:latin typeface="Arial Narrow" panose="020B0606020202030204" pitchFamily="34" charset="0"/>
              </a:rPr>
              <a:t> Airport, Belgium) was downloaded from a public data set from Reliable Prognosis (rp5.ru), and merged together with the experimental data sets using the date and time column.</a:t>
            </a:r>
          </a:p>
          <a:p>
            <a:pPr marL="741600" lvl="1" indent="-284400">
              <a:lnSpc>
                <a:spcPct val="150000"/>
              </a:lnSpc>
              <a:buFont typeface="Arial" panose="020B0604020202020204" pitchFamily="34" charset="0"/>
              <a:buChar char="•"/>
            </a:pPr>
            <a:endParaRPr lang="en-US" altLang="ko-KR" sz="2400" dirty="0">
              <a:solidFill>
                <a:srgbClr val="222222"/>
              </a:solidFill>
              <a:latin typeface="Arial Narrow" panose="020B0606020202030204" pitchFamily="34" charset="0"/>
            </a:endParaRPr>
          </a:p>
        </p:txBody>
      </p:sp>
      <p:sp>
        <p:nvSpPr>
          <p:cNvPr id="3" name="직사각형 2">
            <a:extLst>
              <a:ext uri="{FF2B5EF4-FFF2-40B4-BE49-F238E27FC236}">
                <a16:creationId xmlns:a16="http://schemas.microsoft.com/office/drawing/2014/main" id="{8B3309B0-9FAF-B08A-2228-DB5B26F7E72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C9672E3E-8F76-B086-DCE6-4FFCFA6A391D}"/>
              </a:ext>
            </a:extLst>
          </p:cNvPr>
          <p:cNvSpPr txBox="1"/>
          <p:nvPr/>
        </p:nvSpPr>
        <p:spPr>
          <a:xfrm>
            <a:off x="1645493" y="4905937"/>
            <a:ext cx="6057057" cy="646331"/>
          </a:xfrm>
          <a:prstGeom prst="rect">
            <a:avLst/>
          </a:prstGeom>
          <a:noFill/>
        </p:spPr>
        <p:txBody>
          <a:bodyPr wrap="square">
            <a:spAutoFit/>
          </a:bodyPr>
          <a:lstStyle/>
          <a:p>
            <a:r>
              <a:rPr lang="en-US" altLang="ko-KR" dirty="0">
                <a:hlinkClick r:id="rId3"/>
              </a:rPr>
              <a:t>https://colab.research.google.com/github/JunetaeKim/DeepLearningClass/blob/main/Week13/</a:t>
            </a:r>
            <a:r>
              <a:rPr lang="en-US" altLang="ko-KR" b="0" i="0" u="none" strike="noStrike" dirty="0">
                <a:effectLst/>
                <a:latin typeface="-apple-system"/>
                <a:hlinkClick r:id="rId3"/>
              </a:rPr>
              <a:t>HouseholdEnergyUse</a:t>
            </a:r>
            <a:r>
              <a:rPr lang="en-US" altLang="ko-KR" dirty="0">
                <a:hlinkClick r:id="rId3"/>
              </a:rPr>
              <a:t>.ipynb</a:t>
            </a:r>
            <a:endParaRPr lang="ko-KR" altLang="en-US" dirty="0"/>
          </a:p>
        </p:txBody>
      </p:sp>
    </p:spTree>
    <p:extLst>
      <p:ext uri="{BB962C8B-B14F-4D97-AF65-F5344CB8AC3E}">
        <p14:creationId xmlns:p14="http://schemas.microsoft.com/office/powerpoint/2010/main" val="124322801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643778" cy="563936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Exercise2</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m to 1 classification of room occupancy</a:t>
            </a:r>
          </a:p>
          <a:p>
            <a:pPr marL="1198800" lvl="2"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Predicting room occupancy using 28 variables recorded over approximately the last 20 minutes.</a:t>
            </a:r>
          </a:p>
          <a:p>
            <a:pPr marL="1198800" lvl="2" indent="-284400">
              <a:buFont typeface="Arial" panose="020B0604020202020204" pitchFamily="34" charset="0"/>
              <a:buChar char="•"/>
            </a:pPr>
            <a:endParaRPr lang="en-US" altLang="ko-KR" sz="1400" dirty="0">
              <a:solidFill>
                <a:srgbClr val="222222"/>
              </a:solidFill>
              <a:latin typeface="Arial Narrow" panose="020B0606020202030204" pitchFamily="34" charset="0"/>
            </a:endParaRPr>
          </a:p>
          <a:p>
            <a:pPr marL="1198800" lvl="2"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The experimental testbed for occupancy estimation was deployed in a 6m Ã— 4.6m room. The setup consisted of 7 sensor nodes and one edge node in a star configuration with the sensor nodes transmitting data to the edge every 30s using wireless transceivers. No HVAC systems were in use while the dataset was being collected.</a:t>
            </a:r>
          </a:p>
          <a:p>
            <a:pPr marL="1656000" lvl="3"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Time: HH:MM:SS</a:t>
            </a:r>
          </a:p>
          <a:p>
            <a:pPr marL="1656000" lvl="3"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Temperature: In degree Celsius</a:t>
            </a:r>
          </a:p>
          <a:p>
            <a:pPr marL="1656000" lvl="3"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Light: In Lux</a:t>
            </a:r>
          </a:p>
          <a:p>
            <a:pPr marL="1656000" lvl="3"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Sound: In Volts (amplifier output read by ADC)</a:t>
            </a:r>
          </a:p>
          <a:p>
            <a:pPr marL="1656000" lvl="3"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CO2: In PPM</a:t>
            </a:r>
          </a:p>
          <a:p>
            <a:pPr marL="1656000" lvl="3"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CO2 Slope: Slope of CO2 values taken in a sliding window</a:t>
            </a:r>
          </a:p>
          <a:p>
            <a:pPr marL="1656000" lvl="3" indent="-284400">
              <a:lnSpc>
                <a:spcPct val="150000"/>
              </a:lnSpc>
              <a:buFont typeface="Arial" panose="020B0604020202020204" pitchFamily="34" charset="0"/>
              <a:buChar char="•"/>
            </a:pPr>
            <a:r>
              <a:rPr lang="en-US" altLang="ko-KR" sz="1400" dirty="0">
                <a:solidFill>
                  <a:srgbClr val="222222"/>
                </a:solidFill>
                <a:latin typeface="Arial Narrow" panose="020B0606020202030204" pitchFamily="34" charset="0"/>
              </a:rPr>
              <a:t>PIR: Binary value conveying motion detection</a:t>
            </a:r>
          </a:p>
          <a:p>
            <a:pPr marL="1656000" lvl="3" indent="-284400">
              <a:lnSpc>
                <a:spcPct val="150000"/>
              </a:lnSpc>
              <a:buFont typeface="Arial" panose="020B0604020202020204" pitchFamily="34" charset="0"/>
              <a:buChar char="•"/>
            </a:pPr>
            <a:r>
              <a:rPr lang="en-US" altLang="ko-KR" sz="1400" b="1" dirty="0" err="1">
                <a:solidFill>
                  <a:srgbClr val="C00000"/>
                </a:solidFill>
                <a:latin typeface="Arial Narrow" panose="020B0606020202030204" pitchFamily="34" charset="0"/>
              </a:rPr>
              <a:t>Room_Occupancy_Count</a:t>
            </a:r>
            <a:r>
              <a:rPr lang="en-US" altLang="ko-KR" sz="1400" dirty="0">
                <a:solidFill>
                  <a:srgbClr val="222222"/>
                </a:solidFill>
                <a:latin typeface="Arial Narrow" panose="020B0606020202030204" pitchFamily="34" charset="0"/>
              </a:rPr>
              <a:t>: Ground Truth</a:t>
            </a:r>
          </a:p>
          <a:p>
            <a:pPr marL="741600" lvl="1" indent="-284400">
              <a:lnSpc>
                <a:spcPct val="150000"/>
              </a:lnSpc>
              <a:buFont typeface="Arial" panose="020B0604020202020204" pitchFamily="34" charset="0"/>
              <a:buChar char="•"/>
            </a:pPr>
            <a:endParaRPr lang="en-US" altLang="ko-KR" sz="2400" dirty="0">
              <a:solidFill>
                <a:srgbClr val="222222"/>
              </a:solidFill>
              <a:latin typeface="Arial Narrow" panose="020B0606020202030204" pitchFamily="34" charset="0"/>
            </a:endParaRPr>
          </a:p>
        </p:txBody>
      </p:sp>
      <p:sp>
        <p:nvSpPr>
          <p:cNvPr id="3" name="직사각형 2">
            <a:extLst>
              <a:ext uri="{FF2B5EF4-FFF2-40B4-BE49-F238E27FC236}">
                <a16:creationId xmlns:a16="http://schemas.microsoft.com/office/drawing/2014/main" id="{8B3309B0-9FAF-B08A-2228-DB5B26F7E72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2" name="화살표: 오른쪽 1">
            <a:extLst>
              <a:ext uri="{FF2B5EF4-FFF2-40B4-BE49-F238E27FC236}">
                <a16:creationId xmlns:a16="http://schemas.microsoft.com/office/drawing/2014/main" id="{ACE0EB37-AF66-DC2C-E632-902A72C290B4}"/>
              </a:ext>
            </a:extLst>
          </p:cNvPr>
          <p:cNvSpPr/>
          <p:nvPr/>
        </p:nvSpPr>
        <p:spPr>
          <a:xfrm>
            <a:off x="7010723" y="5405278"/>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5" name="그룹 4">
            <a:extLst>
              <a:ext uri="{FF2B5EF4-FFF2-40B4-BE49-F238E27FC236}">
                <a16:creationId xmlns:a16="http://schemas.microsoft.com/office/drawing/2014/main" id="{20519456-53E7-28C3-3409-8B3082091047}"/>
              </a:ext>
            </a:extLst>
          </p:cNvPr>
          <p:cNvGrpSpPr/>
          <p:nvPr/>
        </p:nvGrpSpPr>
        <p:grpSpPr>
          <a:xfrm>
            <a:off x="6505775" y="5257015"/>
            <a:ext cx="492991" cy="431003"/>
            <a:chOff x="2352577" y="2695993"/>
            <a:chExt cx="1946046" cy="1511439"/>
          </a:xfrm>
        </p:grpSpPr>
        <p:sp>
          <p:nvSpPr>
            <p:cNvPr id="6" name="사각형: 둥근 모서리 5">
              <a:extLst>
                <a:ext uri="{FF2B5EF4-FFF2-40B4-BE49-F238E27FC236}">
                  <a16:creationId xmlns:a16="http://schemas.microsoft.com/office/drawing/2014/main" id="{268C9194-27E7-00DC-05CD-39D8B4A7659D}"/>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 name="TextBox 6">
              <a:extLst>
                <a:ext uri="{FF2B5EF4-FFF2-40B4-BE49-F238E27FC236}">
                  <a16:creationId xmlns:a16="http://schemas.microsoft.com/office/drawing/2014/main" id="{0C44B941-58DE-4284-5AA8-22FAF66A4288}"/>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8" name="그룹 7">
            <a:extLst>
              <a:ext uri="{FF2B5EF4-FFF2-40B4-BE49-F238E27FC236}">
                <a16:creationId xmlns:a16="http://schemas.microsoft.com/office/drawing/2014/main" id="{AA098E7C-AF1A-BA00-2AFE-BCEFCEE18692}"/>
              </a:ext>
            </a:extLst>
          </p:cNvPr>
          <p:cNvGrpSpPr/>
          <p:nvPr/>
        </p:nvGrpSpPr>
        <p:grpSpPr>
          <a:xfrm>
            <a:off x="6569165" y="5859734"/>
            <a:ext cx="343601" cy="266522"/>
            <a:chOff x="1079407" y="4534057"/>
            <a:chExt cx="423468" cy="360000"/>
          </a:xfrm>
        </p:grpSpPr>
        <p:sp>
          <p:nvSpPr>
            <p:cNvPr id="9" name="타원 8">
              <a:extLst>
                <a:ext uri="{FF2B5EF4-FFF2-40B4-BE49-F238E27FC236}">
                  <a16:creationId xmlns:a16="http://schemas.microsoft.com/office/drawing/2014/main" id="{343EDAD2-50A7-B7C0-E143-8D51D868B457}"/>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1" name="TextBox 10">
              <a:extLst>
                <a:ext uri="{FF2B5EF4-FFF2-40B4-BE49-F238E27FC236}">
                  <a16:creationId xmlns:a16="http://schemas.microsoft.com/office/drawing/2014/main" id="{4246C3A3-8C95-0DBC-7868-1D6642A0EE32}"/>
                </a:ext>
              </a:extLst>
            </p:cNvPr>
            <p:cNvSpPr txBox="1"/>
            <p:nvPr/>
          </p:nvSpPr>
          <p:spPr>
            <a:xfrm>
              <a:off x="1079407" y="4548148"/>
              <a:ext cx="423468" cy="332579"/>
            </a:xfrm>
            <a:prstGeom prst="rect">
              <a:avLst/>
            </a:prstGeom>
            <a:noFill/>
          </p:spPr>
          <p:txBody>
            <a:bodyPr wrap="square">
              <a:spAutoFit/>
            </a:bodyPr>
            <a:lstStyle/>
            <a:p>
              <a:pPr algn="ctr"/>
              <a:r>
                <a:rPr lang="en-US" altLang="ko-KR" sz="1000" b="1" dirty="0">
                  <a:solidFill>
                    <a:srgbClr val="222222"/>
                  </a:solidFill>
                  <a:latin typeface="Arial Narrow" panose="020B0606020202030204" pitchFamily="34" charset="0"/>
                </a:rPr>
                <a:t>X</a:t>
              </a:r>
              <a:r>
                <a:rPr lang="en-US" altLang="ko-KR" sz="1000" b="1" baseline="-25000" dirty="0">
                  <a:solidFill>
                    <a:srgbClr val="222222"/>
                  </a:solidFill>
                  <a:latin typeface="Arial Narrow" panose="020B0606020202030204" pitchFamily="34" charset="0"/>
                </a:rPr>
                <a:t>t-2</a:t>
              </a:r>
              <a:r>
                <a:rPr lang="en-US" altLang="ko-KR" sz="1000" b="1" dirty="0">
                  <a:solidFill>
                    <a:srgbClr val="222222"/>
                  </a:solidFill>
                  <a:latin typeface="Arial Narrow" panose="020B0606020202030204" pitchFamily="34" charset="0"/>
                </a:rPr>
                <a:t> </a:t>
              </a:r>
              <a:endParaRPr lang="ko-KR" altLang="en-US" sz="1000" b="1" dirty="0"/>
            </a:p>
          </p:txBody>
        </p:sp>
      </p:grpSp>
      <p:sp>
        <p:nvSpPr>
          <p:cNvPr id="12" name="화살표: 오른쪽 11">
            <a:extLst>
              <a:ext uri="{FF2B5EF4-FFF2-40B4-BE49-F238E27FC236}">
                <a16:creationId xmlns:a16="http://schemas.microsoft.com/office/drawing/2014/main" id="{C6598335-4B8E-F1A0-06A2-E4415320A9D4}"/>
              </a:ext>
            </a:extLst>
          </p:cNvPr>
          <p:cNvSpPr/>
          <p:nvPr/>
        </p:nvSpPr>
        <p:spPr>
          <a:xfrm rot="16200000">
            <a:off x="6666078" y="5719348"/>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3" name="화살표: 오른쪽 12">
            <a:extLst>
              <a:ext uri="{FF2B5EF4-FFF2-40B4-BE49-F238E27FC236}">
                <a16:creationId xmlns:a16="http://schemas.microsoft.com/office/drawing/2014/main" id="{03C28399-5B32-9926-4421-D3721F353140}"/>
              </a:ext>
            </a:extLst>
          </p:cNvPr>
          <p:cNvSpPr/>
          <p:nvPr/>
        </p:nvSpPr>
        <p:spPr>
          <a:xfrm>
            <a:off x="7715784" y="5403103"/>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14" name="그룹 13">
            <a:extLst>
              <a:ext uri="{FF2B5EF4-FFF2-40B4-BE49-F238E27FC236}">
                <a16:creationId xmlns:a16="http://schemas.microsoft.com/office/drawing/2014/main" id="{A5E5764C-E7DA-3CA6-DA85-A5F6871DB8C6}"/>
              </a:ext>
            </a:extLst>
          </p:cNvPr>
          <p:cNvGrpSpPr/>
          <p:nvPr/>
        </p:nvGrpSpPr>
        <p:grpSpPr>
          <a:xfrm>
            <a:off x="7210836" y="5254841"/>
            <a:ext cx="492991" cy="431003"/>
            <a:chOff x="2352577" y="2695993"/>
            <a:chExt cx="1946046" cy="1511439"/>
          </a:xfrm>
        </p:grpSpPr>
        <p:sp>
          <p:nvSpPr>
            <p:cNvPr id="15" name="사각형: 둥근 모서리 14">
              <a:extLst>
                <a:ext uri="{FF2B5EF4-FFF2-40B4-BE49-F238E27FC236}">
                  <a16:creationId xmlns:a16="http://schemas.microsoft.com/office/drawing/2014/main" id="{5E915DDC-5A3F-EADD-C81C-4893A1229083}"/>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6" name="TextBox 15">
              <a:extLst>
                <a:ext uri="{FF2B5EF4-FFF2-40B4-BE49-F238E27FC236}">
                  <a16:creationId xmlns:a16="http://schemas.microsoft.com/office/drawing/2014/main" id="{6D7E1F47-5777-B5F3-7672-E1D360E24908}"/>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17" name="그룹 16">
            <a:extLst>
              <a:ext uri="{FF2B5EF4-FFF2-40B4-BE49-F238E27FC236}">
                <a16:creationId xmlns:a16="http://schemas.microsoft.com/office/drawing/2014/main" id="{F8872CFD-5FB2-D4D4-A632-8A67A1F21768}"/>
              </a:ext>
            </a:extLst>
          </p:cNvPr>
          <p:cNvGrpSpPr/>
          <p:nvPr/>
        </p:nvGrpSpPr>
        <p:grpSpPr>
          <a:xfrm>
            <a:off x="7268732" y="5855125"/>
            <a:ext cx="370534" cy="268957"/>
            <a:chOff x="1072634" y="4530768"/>
            <a:chExt cx="456661" cy="363289"/>
          </a:xfrm>
        </p:grpSpPr>
        <p:sp>
          <p:nvSpPr>
            <p:cNvPr id="18" name="타원 17">
              <a:extLst>
                <a:ext uri="{FF2B5EF4-FFF2-40B4-BE49-F238E27FC236}">
                  <a16:creationId xmlns:a16="http://schemas.microsoft.com/office/drawing/2014/main" id="{789D3F11-E6ED-06BE-C1DD-DCC9BDCC0C4E}"/>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9" name="TextBox 18">
              <a:extLst>
                <a:ext uri="{FF2B5EF4-FFF2-40B4-BE49-F238E27FC236}">
                  <a16:creationId xmlns:a16="http://schemas.microsoft.com/office/drawing/2014/main" id="{921ADEF9-124F-2886-B66A-9622A21A94C6}"/>
                </a:ext>
              </a:extLst>
            </p:cNvPr>
            <p:cNvSpPr txBox="1"/>
            <p:nvPr/>
          </p:nvSpPr>
          <p:spPr>
            <a:xfrm>
              <a:off x="1072634" y="4530768"/>
              <a:ext cx="456661" cy="342973"/>
            </a:xfrm>
            <a:prstGeom prst="rect">
              <a:avLst/>
            </a:prstGeom>
            <a:noFill/>
          </p:spPr>
          <p:txBody>
            <a:bodyPr wrap="square">
              <a:spAutoFit/>
            </a:bodyPr>
            <a:lstStyle/>
            <a:p>
              <a:pPr algn="ctr"/>
              <a:r>
                <a:rPr lang="en-US" altLang="ko-KR" sz="1050" b="1" dirty="0">
                  <a:solidFill>
                    <a:srgbClr val="222222"/>
                  </a:solidFill>
                  <a:latin typeface="Arial Narrow" panose="020B0606020202030204" pitchFamily="34" charset="0"/>
                </a:rPr>
                <a:t>X</a:t>
              </a:r>
              <a:r>
                <a:rPr lang="en-US" altLang="ko-KR" sz="1050" b="1" baseline="-25000" dirty="0">
                  <a:solidFill>
                    <a:srgbClr val="222222"/>
                  </a:solidFill>
                  <a:latin typeface="Arial Narrow" panose="020B0606020202030204" pitchFamily="34" charset="0"/>
                </a:rPr>
                <a:t>t-1</a:t>
              </a:r>
              <a:endParaRPr lang="ko-KR" altLang="en-US" sz="1050" b="1" dirty="0"/>
            </a:p>
          </p:txBody>
        </p:sp>
      </p:grpSp>
      <p:sp>
        <p:nvSpPr>
          <p:cNvPr id="20" name="화살표: 오른쪽 19">
            <a:extLst>
              <a:ext uri="{FF2B5EF4-FFF2-40B4-BE49-F238E27FC236}">
                <a16:creationId xmlns:a16="http://schemas.microsoft.com/office/drawing/2014/main" id="{AF50340B-DF18-1517-FCBC-F5829297DCC3}"/>
              </a:ext>
            </a:extLst>
          </p:cNvPr>
          <p:cNvSpPr/>
          <p:nvPr/>
        </p:nvSpPr>
        <p:spPr>
          <a:xfrm rot="16200000">
            <a:off x="7363410" y="5717174"/>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21" name="그룹 20">
            <a:extLst>
              <a:ext uri="{FF2B5EF4-FFF2-40B4-BE49-F238E27FC236}">
                <a16:creationId xmlns:a16="http://schemas.microsoft.com/office/drawing/2014/main" id="{14C4222F-F970-806C-7CE5-AA309E6B667A}"/>
              </a:ext>
            </a:extLst>
          </p:cNvPr>
          <p:cNvGrpSpPr/>
          <p:nvPr/>
        </p:nvGrpSpPr>
        <p:grpSpPr>
          <a:xfrm>
            <a:off x="7920759" y="5255193"/>
            <a:ext cx="492991" cy="431003"/>
            <a:chOff x="2352577" y="2695993"/>
            <a:chExt cx="1946046" cy="1511439"/>
          </a:xfrm>
        </p:grpSpPr>
        <p:sp>
          <p:nvSpPr>
            <p:cNvPr id="22" name="사각형: 둥근 모서리 21">
              <a:extLst>
                <a:ext uri="{FF2B5EF4-FFF2-40B4-BE49-F238E27FC236}">
                  <a16:creationId xmlns:a16="http://schemas.microsoft.com/office/drawing/2014/main" id="{C7C4C1D3-417D-3961-D4DC-B42A4E6A3C88}"/>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3" name="TextBox 22">
              <a:extLst>
                <a:ext uri="{FF2B5EF4-FFF2-40B4-BE49-F238E27FC236}">
                  <a16:creationId xmlns:a16="http://schemas.microsoft.com/office/drawing/2014/main" id="{ADB353E2-A22A-B7A9-65F0-4CE4FF08B576}"/>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24" name="그룹 23">
            <a:extLst>
              <a:ext uri="{FF2B5EF4-FFF2-40B4-BE49-F238E27FC236}">
                <a16:creationId xmlns:a16="http://schemas.microsoft.com/office/drawing/2014/main" id="{AF8ED8B7-379F-0ACF-7402-4B4F0E8D8315}"/>
              </a:ext>
            </a:extLst>
          </p:cNvPr>
          <p:cNvGrpSpPr/>
          <p:nvPr/>
        </p:nvGrpSpPr>
        <p:grpSpPr>
          <a:xfrm>
            <a:off x="7948391" y="5857912"/>
            <a:ext cx="423179" cy="266522"/>
            <a:chOff x="1035337" y="4534057"/>
            <a:chExt cx="521543" cy="360000"/>
          </a:xfrm>
        </p:grpSpPr>
        <p:sp>
          <p:nvSpPr>
            <p:cNvPr id="25" name="타원 24">
              <a:extLst>
                <a:ext uri="{FF2B5EF4-FFF2-40B4-BE49-F238E27FC236}">
                  <a16:creationId xmlns:a16="http://schemas.microsoft.com/office/drawing/2014/main" id="{60A9B16F-A939-2C02-0CC9-A86BDF789441}"/>
                </a:ext>
              </a:extLst>
            </p:cNvPr>
            <p:cNvSpPr/>
            <p:nvPr/>
          </p:nvSpPr>
          <p:spPr>
            <a:xfrm>
              <a:off x="1112362" y="4534057"/>
              <a:ext cx="360000" cy="360000"/>
            </a:xfrm>
            <a:prstGeom prst="ellipse">
              <a:avLst/>
            </a:prstGeom>
            <a:solidFill>
              <a:schemeClr val="accent1">
                <a:alpha val="2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6" name="TextBox 25">
              <a:extLst>
                <a:ext uri="{FF2B5EF4-FFF2-40B4-BE49-F238E27FC236}">
                  <a16:creationId xmlns:a16="http://schemas.microsoft.com/office/drawing/2014/main" id="{23C4B805-9D02-5B2B-EBCC-87299F1E40C1}"/>
                </a:ext>
              </a:extLst>
            </p:cNvPr>
            <p:cNvSpPr txBox="1"/>
            <p:nvPr/>
          </p:nvSpPr>
          <p:spPr>
            <a:xfrm>
              <a:off x="1035337" y="4550609"/>
              <a:ext cx="521543" cy="342973"/>
            </a:xfrm>
            <a:prstGeom prst="rect">
              <a:avLst/>
            </a:prstGeom>
            <a:noFill/>
          </p:spPr>
          <p:txBody>
            <a:bodyPr wrap="square">
              <a:spAutoFit/>
            </a:bodyPr>
            <a:lstStyle/>
            <a:p>
              <a:pPr algn="ctr"/>
              <a:r>
                <a:rPr lang="en-US" altLang="ko-KR" sz="1000" b="1" dirty="0" err="1">
                  <a:solidFill>
                    <a:srgbClr val="222222"/>
                  </a:solidFill>
                  <a:latin typeface="Arial Narrow" panose="020B0606020202030204" pitchFamily="34" charset="0"/>
                </a:rPr>
                <a:t>X</a:t>
              </a:r>
              <a:r>
                <a:rPr lang="en-US" altLang="ko-KR" sz="1000" b="1" baseline="-25000" dirty="0" err="1">
                  <a:solidFill>
                    <a:srgbClr val="222222"/>
                  </a:solidFill>
                  <a:latin typeface="Arial Narrow" panose="020B0606020202030204" pitchFamily="34" charset="0"/>
                </a:rPr>
                <a:t>t</a:t>
              </a:r>
              <a:endParaRPr lang="ko-KR" altLang="en-US" sz="1000" b="1" dirty="0"/>
            </a:p>
          </p:txBody>
        </p:sp>
      </p:grpSp>
      <p:sp>
        <p:nvSpPr>
          <p:cNvPr id="27" name="화살표: 오른쪽 26">
            <a:extLst>
              <a:ext uri="{FF2B5EF4-FFF2-40B4-BE49-F238E27FC236}">
                <a16:creationId xmlns:a16="http://schemas.microsoft.com/office/drawing/2014/main" id="{1E71A771-D049-8B49-83C7-8B30A5E1ABA7}"/>
              </a:ext>
            </a:extLst>
          </p:cNvPr>
          <p:cNvSpPr/>
          <p:nvPr/>
        </p:nvSpPr>
        <p:spPr>
          <a:xfrm rot="16200000">
            <a:off x="8073333" y="5717526"/>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28" name="화살표: 오른쪽 27">
            <a:extLst>
              <a:ext uri="{FF2B5EF4-FFF2-40B4-BE49-F238E27FC236}">
                <a16:creationId xmlns:a16="http://schemas.microsoft.com/office/drawing/2014/main" id="{5D562619-F24F-D78C-C48F-32369ED48B1A}"/>
              </a:ext>
            </a:extLst>
          </p:cNvPr>
          <p:cNvSpPr/>
          <p:nvPr/>
        </p:nvSpPr>
        <p:spPr>
          <a:xfrm rot="16200000">
            <a:off x="8070209" y="5110358"/>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29" name="화살표: 오른쪽 28">
            <a:extLst>
              <a:ext uri="{FF2B5EF4-FFF2-40B4-BE49-F238E27FC236}">
                <a16:creationId xmlns:a16="http://schemas.microsoft.com/office/drawing/2014/main" id="{C963DE1A-470B-8B8D-8AD3-6B25A03E9367}"/>
              </a:ext>
            </a:extLst>
          </p:cNvPr>
          <p:cNvSpPr/>
          <p:nvPr/>
        </p:nvSpPr>
        <p:spPr>
          <a:xfrm>
            <a:off x="7010723" y="4792671"/>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30" name="그룹 29">
            <a:extLst>
              <a:ext uri="{FF2B5EF4-FFF2-40B4-BE49-F238E27FC236}">
                <a16:creationId xmlns:a16="http://schemas.microsoft.com/office/drawing/2014/main" id="{41BFD1AC-9396-E724-D15D-996EBFFABC55}"/>
              </a:ext>
            </a:extLst>
          </p:cNvPr>
          <p:cNvGrpSpPr/>
          <p:nvPr/>
        </p:nvGrpSpPr>
        <p:grpSpPr>
          <a:xfrm>
            <a:off x="6505775" y="4644408"/>
            <a:ext cx="492991" cy="431003"/>
            <a:chOff x="2352577" y="2695993"/>
            <a:chExt cx="1946046" cy="1511439"/>
          </a:xfrm>
        </p:grpSpPr>
        <p:sp>
          <p:nvSpPr>
            <p:cNvPr id="31" name="사각형: 둥근 모서리 30">
              <a:extLst>
                <a:ext uri="{FF2B5EF4-FFF2-40B4-BE49-F238E27FC236}">
                  <a16:creationId xmlns:a16="http://schemas.microsoft.com/office/drawing/2014/main" id="{5A11105E-C209-5EAE-6E14-54738E3C14A4}"/>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2" name="TextBox 31">
              <a:extLst>
                <a:ext uri="{FF2B5EF4-FFF2-40B4-BE49-F238E27FC236}">
                  <a16:creationId xmlns:a16="http://schemas.microsoft.com/office/drawing/2014/main" id="{D81171A7-BB23-017D-FF3B-92FF970B5BEE}"/>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sp>
        <p:nvSpPr>
          <p:cNvPr id="33" name="화살표: 오른쪽 32">
            <a:extLst>
              <a:ext uri="{FF2B5EF4-FFF2-40B4-BE49-F238E27FC236}">
                <a16:creationId xmlns:a16="http://schemas.microsoft.com/office/drawing/2014/main" id="{68755C28-9BD8-3DCC-16D3-410D23AA262E}"/>
              </a:ext>
            </a:extLst>
          </p:cNvPr>
          <p:cNvSpPr/>
          <p:nvPr/>
        </p:nvSpPr>
        <p:spPr>
          <a:xfrm>
            <a:off x="7715784" y="4790496"/>
            <a:ext cx="200888" cy="1369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34" name="그룹 33">
            <a:extLst>
              <a:ext uri="{FF2B5EF4-FFF2-40B4-BE49-F238E27FC236}">
                <a16:creationId xmlns:a16="http://schemas.microsoft.com/office/drawing/2014/main" id="{2F0416FE-DAC3-4771-C5D7-D76657657E1A}"/>
              </a:ext>
            </a:extLst>
          </p:cNvPr>
          <p:cNvGrpSpPr/>
          <p:nvPr/>
        </p:nvGrpSpPr>
        <p:grpSpPr>
          <a:xfrm>
            <a:off x="7210836" y="4642234"/>
            <a:ext cx="492991" cy="431003"/>
            <a:chOff x="2352577" y="2695993"/>
            <a:chExt cx="1946046" cy="1511439"/>
          </a:xfrm>
        </p:grpSpPr>
        <p:sp>
          <p:nvSpPr>
            <p:cNvPr id="35" name="사각형: 둥근 모서리 34">
              <a:extLst>
                <a:ext uri="{FF2B5EF4-FFF2-40B4-BE49-F238E27FC236}">
                  <a16:creationId xmlns:a16="http://schemas.microsoft.com/office/drawing/2014/main" id="{6BAA7791-8709-4142-AE7C-54B7D992ECB7}"/>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8" name="TextBox 37">
              <a:extLst>
                <a:ext uri="{FF2B5EF4-FFF2-40B4-BE49-F238E27FC236}">
                  <a16:creationId xmlns:a16="http://schemas.microsoft.com/office/drawing/2014/main" id="{BF1C1E06-0075-D3B4-7944-F462C85ECD42}"/>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grpSp>
        <p:nvGrpSpPr>
          <p:cNvPr id="39" name="그룹 38">
            <a:extLst>
              <a:ext uri="{FF2B5EF4-FFF2-40B4-BE49-F238E27FC236}">
                <a16:creationId xmlns:a16="http://schemas.microsoft.com/office/drawing/2014/main" id="{AFAD98CF-8996-7373-963A-1CF8659B8D45}"/>
              </a:ext>
            </a:extLst>
          </p:cNvPr>
          <p:cNvGrpSpPr/>
          <p:nvPr/>
        </p:nvGrpSpPr>
        <p:grpSpPr>
          <a:xfrm>
            <a:off x="7920759" y="4642586"/>
            <a:ext cx="492991" cy="431003"/>
            <a:chOff x="2352577" y="2695993"/>
            <a:chExt cx="1946046" cy="1511439"/>
          </a:xfrm>
        </p:grpSpPr>
        <p:sp>
          <p:nvSpPr>
            <p:cNvPr id="40" name="사각형: 둥근 모서리 39">
              <a:extLst>
                <a:ext uri="{FF2B5EF4-FFF2-40B4-BE49-F238E27FC236}">
                  <a16:creationId xmlns:a16="http://schemas.microsoft.com/office/drawing/2014/main" id="{A9F0074C-C911-5EDC-45CE-FA11AC3A6610}"/>
                </a:ext>
              </a:extLst>
            </p:cNvPr>
            <p:cNvSpPr/>
            <p:nvPr/>
          </p:nvSpPr>
          <p:spPr>
            <a:xfrm>
              <a:off x="2352577" y="2695993"/>
              <a:ext cx="1946046" cy="1511439"/>
            </a:xfrm>
            <a:prstGeom prst="roundRect">
              <a:avLst>
                <a:gd name="adj" fmla="val 9183"/>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1" name="TextBox 40">
              <a:extLst>
                <a:ext uri="{FF2B5EF4-FFF2-40B4-BE49-F238E27FC236}">
                  <a16:creationId xmlns:a16="http://schemas.microsoft.com/office/drawing/2014/main" id="{28430C1D-8468-58E2-284F-C21CAC78DEB0}"/>
                </a:ext>
              </a:extLst>
            </p:cNvPr>
            <p:cNvSpPr txBox="1"/>
            <p:nvPr/>
          </p:nvSpPr>
          <p:spPr>
            <a:xfrm>
              <a:off x="2707959" y="2756710"/>
              <a:ext cx="1235283" cy="1403104"/>
            </a:xfrm>
            <a:prstGeom prst="rect">
              <a:avLst/>
            </a:prstGeom>
            <a:noFill/>
          </p:spPr>
          <p:txBody>
            <a:bodyPr wrap="square">
              <a:spAutoFit/>
            </a:bodyPr>
            <a:lstStyle/>
            <a:p>
              <a:r>
                <a:rPr lang="en-US" altLang="ko-KR" sz="2000" b="1" dirty="0">
                  <a:solidFill>
                    <a:srgbClr val="222222"/>
                  </a:solidFill>
                  <a:latin typeface="Arial Narrow" panose="020B0606020202030204" pitchFamily="34" charset="0"/>
                </a:rPr>
                <a:t>A</a:t>
              </a:r>
              <a:endParaRPr lang="ko-KR" altLang="en-US" sz="2000" b="1" dirty="0"/>
            </a:p>
          </p:txBody>
        </p:sp>
      </p:grpSp>
      <p:sp>
        <p:nvSpPr>
          <p:cNvPr id="42" name="화살표: 오른쪽 41">
            <a:extLst>
              <a:ext uri="{FF2B5EF4-FFF2-40B4-BE49-F238E27FC236}">
                <a16:creationId xmlns:a16="http://schemas.microsoft.com/office/drawing/2014/main" id="{24269DF8-D580-2232-9BBF-1EB4F496E569}"/>
              </a:ext>
            </a:extLst>
          </p:cNvPr>
          <p:cNvSpPr/>
          <p:nvPr/>
        </p:nvSpPr>
        <p:spPr>
          <a:xfrm rot="16200000">
            <a:off x="7369235" y="5116889"/>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43" name="화살표: 오른쪽 42">
            <a:extLst>
              <a:ext uri="{FF2B5EF4-FFF2-40B4-BE49-F238E27FC236}">
                <a16:creationId xmlns:a16="http://schemas.microsoft.com/office/drawing/2014/main" id="{D975178D-5830-8833-6028-152BAE6F4580}"/>
              </a:ext>
            </a:extLst>
          </p:cNvPr>
          <p:cNvSpPr/>
          <p:nvPr/>
        </p:nvSpPr>
        <p:spPr>
          <a:xfrm rot="16200000">
            <a:off x="6657054" y="5109837"/>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sp>
        <p:nvSpPr>
          <p:cNvPr id="45" name="화살표: 오른쪽 44">
            <a:extLst>
              <a:ext uri="{FF2B5EF4-FFF2-40B4-BE49-F238E27FC236}">
                <a16:creationId xmlns:a16="http://schemas.microsoft.com/office/drawing/2014/main" id="{87A79A0D-2B48-D215-B6E5-2295BA4EECEC}"/>
              </a:ext>
            </a:extLst>
          </p:cNvPr>
          <p:cNvSpPr/>
          <p:nvPr/>
        </p:nvSpPr>
        <p:spPr>
          <a:xfrm rot="16200000">
            <a:off x="8070209" y="4489945"/>
            <a:ext cx="169805" cy="107147"/>
          </a:xfrm>
          <a:prstGeom prst="rightArrow">
            <a:avLst/>
          </a:prstGeom>
          <a:solidFill>
            <a:schemeClr val="accent1"/>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dirty="0"/>
          </a:p>
        </p:txBody>
      </p:sp>
      <p:grpSp>
        <p:nvGrpSpPr>
          <p:cNvPr id="4" name="그룹 3">
            <a:extLst>
              <a:ext uri="{FF2B5EF4-FFF2-40B4-BE49-F238E27FC236}">
                <a16:creationId xmlns:a16="http://schemas.microsoft.com/office/drawing/2014/main" id="{51F6E6E9-65DF-70B0-4987-A8E6C2E4D23E}"/>
              </a:ext>
            </a:extLst>
          </p:cNvPr>
          <p:cNvGrpSpPr/>
          <p:nvPr/>
        </p:nvGrpSpPr>
        <p:grpSpPr>
          <a:xfrm>
            <a:off x="7948391" y="4168132"/>
            <a:ext cx="423179" cy="266522"/>
            <a:chOff x="1043163" y="4534057"/>
            <a:chExt cx="521543" cy="360000"/>
          </a:xfrm>
        </p:grpSpPr>
        <p:sp>
          <p:nvSpPr>
            <p:cNvPr id="44" name="타원 43">
              <a:extLst>
                <a:ext uri="{FF2B5EF4-FFF2-40B4-BE49-F238E27FC236}">
                  <a16:creationId xmlns:a16="http://schemas.microsoft.com/office/drawing/2014/main" id="{B8E9ED61-F5F3-7F8F-E3E7-58A9C044AE0A}"/>
                </a:ext>
              </a:extLst>
            </p:cNvPr>
            <p:cNvSpPr/>
            <p:nvPr/>
          </p:nvSpPr>
          <p:spPr>
            <a:xfrm>
              <a:off x="1112362" y="4534057"/>
              <a:ext cx="360000" cy="360000"/>
            </a:xfrm>
            <a:prstGeom prst="ellipse">
              <a:avLst/>
            </a:prstGeom>
            <a:solidFill>
              <a:srgbClr val="7030A0">
                <a:alpha val="20000"/>
              </a:srgb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6" name="TextBox 45">
              <a:extLst>
                <a:ext uri="{FF2B5EF4-FFF2-40B4-BE49-F238E27FC236}">
                  <a16:creationId xmlns:a16="http://schemas.microsoft.com/office/drawing/2014/main" id="{1D24F9A1-0F09-0226-64B1-CA5F68C7E72A}"/>
                </a:ext>
              </a:extLst>
            </p:cNvPr>
            <p:cNvSpPr txBox="1"/>
            <p:nvPr/>
          </p:nvSpPr>
          <p:spPr>
            <a:xfrm>
              <a:off x="1043163" y="4550609"/>
              <a:ext cx="521543" cy="332579"/>
            </a:xfrm>
            <a:prstGeom prst="rect">
              <a:avLst/>
            </a:prstGeom>
            <a:noFill/>
          </p:spPr>
          <p:txBody>
            <a:bodyPr wrap="square">
              <a:spAutoFit/>
            </a:bodyPr>
            <a:lstStyle/>
            <a:p>
              <a:pPr algn="ctr"/>
              <a:r>
                <a:rPr lang="en-US" altLang="ko-KR" sz="1000" b="1" dirty="0">
                  <a:solidFill>
                    <a:srgbClr val="222222"/>
                  </a:solidFill>
                  <a:latin typeface="Arial Narrow" panose="020B0606020202030204" pitchFamily="34" charset="0"/>
                </a:rPr>
                <a:t>Y</a:t>
              </a:r>
              <a:r>
                <a:rPr lang="en-US" altLang="ko-KR" sz="1000" b="1" baseline="-25000" dirty="0">
                  <a:solidFill>
                    <a:srgbClr val="222222"/>
                  </a:solidFill>
                  <a:latin typeface="Arial Narrow" panose="020B0606020202030204" pitchFamily="34" charset="0"/>
                </a:rPr>
                <a:t>t+1</a:t>
              </a:r>
              <a:endParaRPr lang="ko-KR" altLang="en-US" sz="1000" b="1" dirty="0"/>
            </a:p>
          </p:txBody>
        </p:sp>
      </p:grpSp>
      <p:sp>
        <p:nvSpPr>
          <p:cNvPr id="48" name="TextBox 47">
            <a:extLst>
              <a:ext uri="{FF2B5EF4-FFF2-40B4-BE49-F238E27FC236}">
                <a16:creationId xmlns:a16="http://schemas.microsoft.com/office/drawing/2014/main" id="{D4E63696-70A5-0FEE-6E4B-833A1A49DF90}"/>
              </a:ext>
            </a:extLst>
          </p:cNvPr>
          <p:cNvSpPr txBox="1"/>
          <p:nvPr/>
        </p:nvSpPr>
        <p:spPr>
          <a:xfrm>
            <a:off x="7332771" y="3832193"/>
            <a:ext cx="1537533" cy="307777"/>
          </a:xfrm>
          <a:prstGeom prst="rect">
            <a:avLst/>
          </a:prstGeom>
          <a:noFill/>
        </p:spPr>
        <p:txBody>
          <a:bodyPr wrap="square">
            <a:spAutoFit/>
          </a:bodyPr>
          <a:lstStyle/>
          <a:p>
            <a:r>
              <a:rPr lang="en-US" altLang="ko-KR" sz="1400" dirty="0" err="1">
                <a:solidFill>
                  <a:srgbClr val="C00000"/>
                </a:solidFill>
                <a:latin typeface="Arial Narrow" panose="020B0606020202030204" pitchFamily="34" charset="0"/>
              </a:rPr>
              <a:t>Room_Occupancy</a:t>
            </a:r>
            <a:endParaRPr lang="ko-KR" altLang="en-US" sz="1400" dirty="0">
              <a:solidFill>
                <a:srgbClr val="C00000"/>
              </a:solidFill>
              <a:latin typeface="Arial Narrow" panose="020B0606020202030204" pitchFamily="34" charset="0"/>
            </a:endParaRPr>
          </a:p>
        </p:txBody>
      </p:sp>
    </p:spTree>
    <p:extLst>
      <p:ext uri="{BB962C8B-B14F-4D97-AF65-F5344CB8AC3E}">
        <p14:creationId xmlns:p14="http://schemas.microsoft.com/office/powerpoint/2010/main" val="6974426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643778" cy="1130438"/>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Exercise2</a:t>
            </a:r>
          </a:p>
          <a:p>
            <a:pPr marL="741600" lvl="1" indent="-284400">
              <a:lnSpc>
                <a:spcPct val="150000"/>
              </a:lnSpc>
              <a:buFont typeface="Arial" panose="020B0604020202020204" pitchFamily="34" charset="0"/>
              <a:buChar char="•"/>
            </a:pPr>
            <a:endParaRPr lang="en-US" altLang="ko-KR" sz="2400" dirty="0">
              <a:solidFill>
                <a:srgbClr val="222222"/>
              </a:solidFill>
              <a:latin typeface="Arial Narrow" panose="020B0606020202030204" pitchFamily="34" charset="0"/>
            </a:endParaRPr>
          </a:p>
        </p:txBody>
      </p:sp>
      <p:sp>
        <p:nvSpPr>
          <p:cNvPr id="3" name="직사각형 2">
            <a:extLst>
              <a:ext uri="{FF2B5EF4-FFF2-40B4-BE49-F238E27FC236}">
                <a16:creationId xmlns:a16="http://schemas.microsoft.com/office/drawing/2014/main" id="{8B3309B0-9FAF-B08A-2228-DB5B26F7E72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47" name="TextBox 46">
            <a:extLst>
              <a:ext uri="{FF2B5EF4-FFF2-40B4-BE49-F238E27FC236}">
                <a16:creationId xmlns:a16="http://schemas.microsoft.com/office/drawing/2014/main" id="{4AF13AF6-01D4-FB8A-E877-EDF17A2F06FA}"/>
              </a:ext>
            </a:extLst>
          </p:cNvPr>
          <p:cNvSpPr txBox="1"/>
          <p:nvPr/>
        </p:nvSpPr>
        <p:spPr>
          <a:xfrm>
            <a:off x="2055756" y="2502932"/>
            <a:ext cx="4754880" cy="923330"/>
          </a:xfrm>
          <a:prstGeom prst="rect">
            <a:avLst/>
          </a:prstGeom>
          <a:noFill/>
        </p:spPr>
        <p:txBody>
          <a:bodyPr wrap="square">
            <a:spAutoFit/>
          </a:bodyPr>
          <a:lstStyle/>
          <a:p>
            <a:r>
              <a:rPr lang="en-US" altLang="ko-KR" dirty="0">
                <a:hlinkClick r:id="rId3"/>
              </a:rPr>
              <a:t>https://colab.research.google.com/github/JunetaeKim/DeepLearningClass/blob/main/Week13/OccupancyEstimation.ipynb</a:t>
            </a:r>
            <a:endParaRPr lang="ko-KR" altLang="en-US" dirty="0"/>
          </a:p>
        </p:txBody>
      </p:sp>
      <p:sp>
        <p:nvSpPr>
          <p:cNvPr id="49" name="TextBox 48">
            <a:extLst>
              <a:ext uri="{FF2B5EF4-FFF2-40B4-BE49-F238E27FC236}">
                <a16:creationId xmlns:a16="http://schemas.microsoft.com/office/drawing/2014/main" id="{D25B7DA9-BA3C-C9D9-C110-F805A3BA6883}"/>
              </a:ext>
            </a:extLst>
          </p:cNvPr>
          <p:cNvSpPr txBox="1"/>
          <p:nvPr/>
        </p:nvSpPr>
        <p:spPr>
          <a:xfrm>
            <a:off x="2055756" y="2133600"/>
            <a:ext cx="457200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For students</a:t>
            </a:r>
            <a:endParaRPr lang="ko-KR" altLang="en-US" dirty="0"/>
          </a:p>
        </p:txBody>
      </p:sp>
    </p:spTree>
    <p:extLst>
      <p:ext uri="{BB962C8B-B14F-4D97-AF65-F5344CB8AC3E}">
        <p14:creationId xmlns:p14="http://schemas.microsoft.com/office/powerpoint/2010/main" val="33207422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643778" cy="1009444"/>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Exercise3</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Alphabet sequence prediction</a:t>
            </a:r>
          </a:p>
        </p:txBody>
      </p:sp>
      <p:sp>
        <p:nvSpPr>
          <p:cNvPr id="3" name="직사각형 2">
            <a:extLst>
              <a:ext uri="{FF2B5EF4-FFF2-40B4-BE49-F238E27FC236}">
                <a16:creationId xmlns:a16="http://schemas.microsoft.com/office/drawing/2014/main" id="{8B3309B0-9FAF-B08A-2228-DB5B26F7E72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47" name="TextBox 46">
            <a:extLst>
              <a:ext uri="{FF2B5EF4-FFF2-40B4-BE49-F238E27FC236}">
                <a16:creationId xmlns:a16="http://schemas.microsoft.com/office/drawing/2014/main" id="{4AF13AF6-01D4-FB8A-E877-EDF17A2F06FA}"/>
              </a:ext>
            </a:extLst>
          </p:cNvPr>
          <p:cNvSpPr txBox="1"/>
          <p:nvPr/>
        </p:nvSpPr>
        <p:spPr>
          <a:xfrm>
            <a:off x="1735243" y="5462885"/>
            <a:ext cx="5932381" cy="646331"/>
          </a:xfrm>
          <a:prstGeom prst="rect">
            <a:avLst/>
          </a:prstGeom>
          <a:noFill/>
        </p:spPr>
        <p:txBody>
          <a:bodyPr wrap="square">
            <a:spAutoFit/>
          </a:bodyPr>
          <a:lstStyle/>
          <a:p>
            <a:r>
              <a:rPr lang="en-US" altLang="ko-KR" dirty="0">
                <a:hlinkClick r:id="rId3"/>
              </a:rPr>
              <a:t>https://colab.research.google.com/github/JunetaeKim/DeepLearningClass/blob/main/Week13/AlphabetSeq.ipynb</a:t>
            </a:r>
            <a:endParaRPr lang="ko-KR" altLang="en-US" dirty="0"/>
          </a:p>
        </p:txBody>
      </p:sp>
      <p:graphicFrame>
        <p:nvGraphicFramePr>
          <p:cNvPr id="2" name="표 3">
            <a:extLst>
              <a:ext uri="{FF2B5EF4-FFF2-40B4-BE49-F238E27FC236}">
                <a16:creationId xmlns:a16="http://schemas.microsoft.com/office/drawing/2014/main" id="{D2A90E1B-CDA5-8FD9-9832-FE9E237930E9}"/>
              </a:ext>
            </a:extLst>
          </p:cNvPr>
          <p:cNvGraphicFramePr>
            <a:graphicFrameLocks noGrp="1"/>
          </p:cNvGraphicFramePr>
          <p:nvPr>
            <p:extLst>
              <p:ext uri="{D42A27DB-BD31-4B8C-83A1-F6EECF244321}">
                <p14:modId xmlns:p14="http://schemas.microsoft.com/office/powerpoint/2010/main" val="4101477168"/>
              </p:ext>
            </p:extLst>
          </p:nvPr>
        </p:nvGraphicFramePr>
        <p:xfrm>
          <a:off x="2316269" y="2559933"/>
          <a:ext cx="4064000" cy="222504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4140232556"/>
                    </a:ext>
                  </a:extLst>
                </a:gridCol>
                <a:gridCol w="2032000">
                  <a:extLst>
                    <a:ext uri="{9D8B030D-6E8A-4147-A177-3AD203B41FA5}">
                      <a16:colId xmlns:a16="http://schemas.microsoft.com/office/drawing/2014/main" val="4034668507"/>
                    </a:ext>
                  </a:extLst>
                </a:gridCol>
              </a:tblGrid>
              <a:tr h="370840">
                <a:tc>
                  <a:txBody>
                    <a:bodyPr/>
                    <a:lstStyle/>
                    <a:p>
                      <a:pPr algn="ctr" latinLnBrk="1"/>
                      <a:r>
                        <a:rPr lang="en-US" altLang="ko-KR" dirty="0"/>
                        <a:t>Input</a:t>
                      </a:r>
                      <a:endParaRPr lang="ko-KR" altLang="en-US" dirty="0"/>
                    </a:p>
                  </a:txBody>
                  <a:tcPr/>
                </a:tc>
                <a:tc>
                  <a:txBody>
                    <a:bodyPr/>
                    <a:lstStyle/>
                    <a:p>
                      <a:pPr algn="ctr" latinLnBrk="1"/>
                      <a:r>
                        <a:rPr lang="en-US" altLang="ko-KR" dirty="0"/>
                        <a:t>Output</a:t>
                      </a:r>
                      <a:endParaRPr lang="ko-KR" altLang="en-US" dirty="0"/>
                    </a:p>
                  </a:txBody>
                  <a:tcPr/>
                </a:tc>
                <a:extLst>
                  <a:ext uri="{0D108BD9-81ED-4DB2-BD59-A6C34878D82A}">
                    <a16:rowId xmlns:a16="http://schemas.microsoft.com/office/drawing/2014/main" val="1251107467"/>
                  </a:ext>
                </a:extLst>
              </a:tr>
              <a:tr h="370840">
                <a:tc>
                  <a:txBody>
                    <a:bodyPr/>
                    <a:lstStyle/>
                    <a:p>
                      <a:pPr algn="ctr" latinLnBrk="1"/>
                      <a:r>
                        <a:rPr lang="en-US" altLang="ko-KR" dirty="0">
                          <a:latin typeface="Arial Narrow" panose="020B0606020202030204" pitchFamily="34" charset="0"/>
                        </a:rPr>
                        <a:t>ABC</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DEF</a:t>
                      </a:r>
                      <a:endParaRPr lang="ko-KR" altLang="en-US" dirty="0">
                        <a:latin typeface="Arial Narrow" panose="020B0606020202030204" pitchFamily="34" charset="0"/>
                      </a:endParaRPr>
                    </a:p>
                  </a:txBody>
                  <a:tcPr/>
                </a:tc>
                <a:extLst>
                  <a:ext uri="{0D108BD9-81ED-4DB2-BD59-A6C34878D82A}">
                    <a16:rowId xmlns:a16="http://schemas.microsoft.com/office/drawing/2014/main" val="1350315580"/>
                  </a:ext>
                </a:extLst>
              </a:tr>
              <a:tr h="370840">
                <a:tc>
                  <a:txBody>
                    <a:bodyPr/>
                    <a:lstStyle/>
                    <a:p>
                      <a:pPr algn="ctr" latinLnBrk="1"/>
                      <a:r>
                        <a:rPr lang="en-US" altLang="ko-KR" dirty="0">
                          <a:latin typeface="Arial Narrow" panose="020B0606020202030204" pitchFamily="34" charset="0"/>
                        </a:rPr>
                        <a:t>BCD</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EFG</a:t>
                      </a:r>
                      <a:endParaRPr lang="ko-KR" altLang="en-US" dirty="0">
                        <a:latin typeface="Arial Narrow" panose="020B0606020202030204" pitchFamily="34" charset="0"/>
                      </a:endParaRPr>
                    </a:p>
                  </a:txBody>
                  <a:tcPr/>
                </a:tc>
                <a:extLst>
                  <a:ext uri="{0D108BD9-81ED-4DB2-BD59-A6C34878D82A}">
                    <a16:rowId xmlns:a16="http://schemas.microsoft.com/office/drawing/2014/main" val="3136079236"/>
                  </a:ext>
                </a:extLst>
              </a:tr>
              <a:tr h="370840">
                <a:tc>
                  <a:txBody>
                    <a:bodyPr/>
                    <a:lstStyle/>
                    <a:p>
                      <a:pPr algn="ctr" latinLnBrk="1"/>
                      <a:r>
                        <a:rPr lang="en-US" altLang="ko-KR" dirty="0">
                          <a:latin typeface="Arial Narrow" panose="020B0606020202030204" pitchFamily="34" charset="0"/>
                        </a:rPr>
                        <a:t>…</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a:t>
                      </a:r>
                      <a:endParaRPr lang="ko-KR" altLang="en-US" dirty="0">
                        <a:latin typeface="Arial Narrow" panose="020B0606020202030204" pitchFamily="34" charset="0"/>
                      </a:endParaRPr>
                    </a:p>
                  </a:txBody>
                  <a:tcPr/>
                </a:tc>
                <a:extLst>
                  <a:ext uri="{0D108BD9-81ED-4DB2-BD59-A6C34878D82A}">
                    <a16:rowId xmlns:a16="http://schemas.microsoft.com/office/drawing/2014/main" val="1901682917"/>
                  </a:ext>
                </a:extLst>
              </a:tr>
              <a:tr h="370840">
                <a:tc>
                  <a:txBody>
                    <a:bodyPr/>
                    <a:lstStyle/>
                    <a:p>
                      <a:pPr algn="ctr" latinLnBrk="1"/>
                      <a:r>
                        <a:rPr lang="en-US" altLang="ko-KR" dirty="0">
                          <a:latin typeface="Arial Narrow" panose="020B0606020202030204" pitchFamily="34" charset="0"/>
                        </a:rPr>
                        <a:t>TUV</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WXY</a:t>
                      </a:r>
                      <a:endParaRPr lang="ko-KR" altLang="en-US" dirty="0">
                        <a:latin typeface="Arial Narrow" panose="020B0606020202030204" pitchFamily="34" charset="0"/>
                      </a:endParaRPr>
                    </a:p>
                  </a:txBody>
                  <a:tcPr/>
                </a:tc>
                <a:extLst>
                  <a:ext uri="{0D108BD9-81ED-4DB2-BD59-A6C34878D82A}">
                    <a16:rowId xmlns:a16="http://schemas.microsoft.com/office/drawing/2014/main" val="3178701568"/>
                  </a:ext>
                </a:extLst>
              </a:tr>
              <a:tr h="370840">
                <a:tc>
                  <a:txBody>
                    <a:bodyPr/>
                    <a:lstStyle/>
                    <a:p>
                      <a:pPr algn="ctr" latinLnBrk="1"/>
                      <a:r>
                        <a:rPr lang="en-US" altLang="ko-KR" dirty="0">
                          <a:latin typeface="Arial Narrow" panose="020B0606020202030204" pitchFamily="34" charset="0"/>
                        </a:rPr>
                        <a:t>UVW</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XYZ</a:t>
                      </a:r>
                      <a:endParaRPr lang="ko-KR" altLang="en-US" dirty="0">
                        <a:latin typeface="Arial Narrow" panose="020B0606020202030204" pitchFamily="34" charset="0"/>
                      </a:endParaRPr>
                    </a:p>
                  </a:txBody>
                  <a:tcPr/>
                </a:tc>
                <a:extLst>
                  <a:ext uri="{0D108BD9-81ED-4DB2-BD59-A6C34878D82A}">
                    <a16:rowId xmlns:a16="http://schemas.microsoft.com/office/drawing/2014/main" val="1612167321"/>
                  </a:ext>
                </a:extLst>
              </a:tr>
            </a:tbl>
          </a:graphicData>
        </a:graphic>
      </p:graphicFrame>
      <p:sp>
        <p:nvSpPr>
          <p:cNvPr id="4" name="화살표: 오른쪽 3">
            <a:extLst>
              <a:ext uri="{FF2B5EF4-FFF2-40B4-BE49-F238E27FC236}">
                <a16:creationId xmlns:a16="http://schemas.microsoft.com/office/drawing/2014/main" id="{7F776092-8037-08FC-FDB9-1FDFCBAC3FC2}"/>
              </a:ext>
            </a:extLst>
          </p:cNvPr>
          <p:cNvSpPr/>
          <p:nvPr/>
        </p:nvSpPr>
        <p:spPr>
          <a:xfrm>
            <a:off x="4105381" y="2971800"/>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화살표: 오른쪽 4">
            <a:extLst>
              <a:ext uri="{FF2B5EF4-FFF2-40B4-BE49-F238E27FC236}">
                <a16:creationId xmlns:a16="http://schemas.microsoft.com/office/drawing/2014/main" id="{92721498-C902-2B67-5D68-2FA615E5A0EF}"/>
              </a:ext>
            </a:extLst>
          </p:cNvPr>
          <p:cNvSpPr/>
          <p:nvPr/>
        </p:nvSpPr>
        <p:spPr>
          <a:xfrm>
            <a:off x="4105434" y="3357563"/>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화살표: 오른쪽 5">
            <a:extLst>
              <a:ext uri="{FF2B5EF4-FFF2-40B4-BE49-F238E27FC236}">
                <a16:creationId xmlns:a16="http://schemas.microsoft.com/office/drawing/2014/main" id="{405FB8B6-07BB-CBFA-F483-2E0F865E6694}"/>
              </a:ext>
            </a:extLst>
          </p:cNvPr>
          <p:cNvSpPr/>
          <p:nvPr/>
        </p:nvSpPr>
        <p:spPr>
          <a:xfrm>
            <a:off x="4105380" y="3718845"/>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화살표: 오른쪽 6">
            <a:extLst>
              <a:ext uri="{FF2B5EF4-FFF2-40B4-BE49-F238E27FC236}">
                <a16:creationId xmlns:a16="http://schemas.microsoft.com/office/drawing/2014/main" id="{3A2516A0-D304-5587-1C26-41E7DEDAC31F}"/>
              </a:ext>
            </a:extLst>
          </p:cNvPr>
          <p:cNvSpPr/>
          <p:nvPr/>
        </p:nvSpPr>
        <p:spPr>
          <a:xfrm>
            <a:off x="4105379" y="4104608"/>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화살표: 오른쪽 7">
            <a:extLst>
              <a:ext uri="{FF2B5EF4-FFF2-40B4-BE49-F238E27FC236}">
                <a16:creationId xmlns:a16="http://schemas.microsoft.com/office/drawing/2014/main" id="{B0D486D3-61F2-E335-7666-E218B5504E53}"/>
              </a:ext>
            </a:extLst>
          </p:cNvPr>
          <p:cNvSpPr/>
          <p:nvPr/>
        </p:nvSpPr>
        <p:spPr>
          <a:xfrm>
            <a:off x="4105378" y="4465890"/>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93801591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643778" cy="1424942"/>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Exercise4</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Developing a model to complete 10 letter words</a:t>
            </a:r>
          </a:p>
          <a:p>
            <a:pPr marL="741600" lvl="1" indent="-284400">
              <a:lnSpc>
                <a:spcPct val="150000"/>
              </a:lnSpc>
              <a:buFont typeface="Arial" panose="020B0604020202020204" pitchFamily="34" charset="0"/>
              <a:buChar char="•"/>
            </a:pPr>
            <a:r>
              <a:rPr lang="en-US" altLang="ko-KR" dirty="0">
                <a:solidFill>
                  <a:srgbClr val="222222"/>
                </a:solidFill>
                <a:latin typeface="Arial Narrow" panose="020B0606020202030204" pitchFamily="34" charset="0"/>
              </a:rPr>
              <a:t>Predicting the last 3 letters, given 7 letters.</a:t>
            </a:r>
          </a:p>
        </p:txBody>
      </p:sp>
      <p:sp>
        <p:nvSpPr>
          <p:cNvPr id="3" name="직사각형 2">
            <a:extLst>
              <a:ext uri="{FF2B5EF4-FFF2-40B4-BE49-F238E27FC236}">
                <a16:creationId xmlns:a16="http://schemas.microsoft.com/office/drawing/2014/main" id="{8B3309B0-9FAF-B08A-2228-DB5B26F7E72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graphicFrame>
        <p:nvGraphicFramePr>
          <p:cNvPr id="2" name="표 3">
            <a:extLst>
              <a:ext uri="{FF2B5EF4-FFF2-40B4-BE49-F238E27FC236}">
                <a16:creationId xmlns:a16="http://schemas.microsoft.com/office/drawing/2014/main" id="{D2A90E1B-CDA5-8FD9-9832-FE9E237930E9}"/>
              </a:ext>
            </a:extLst>
          </p:cNvPr>
          <p:cNvGraphicFramePr>
            <a:graphicFrameLocks noGrp="1"/>
          </p:cNvGraphicFramePr>
          <p:nvPr>
            <p:extLst>
              <p:ext uri="{D42A27DB-BD31-4B8C-83A1-F6EECF244321}">
                <p14:modId xmlns:p14="http://schemas.microsoft.com/office/powerpoint/2010/main" val="2061226145"/>
              </p:ext>
            </p:extLst>
          </p:nvPr>
        </p:nvGraphicFramePr>
        <p:xfrm>
          <a:off x="1769514" y="2918153"/>
          <a:ext cx="4895235" cy="2194560"/>
        </p:xfrm>
        <a:graphic>
          <a:graphicData uri="http://schemas.openxmlformats.org/drawingml/2006/table">
            <a:tbl>
              <a:tblPr firstRow="1" bandRow="1">
                <a:tableStyleId>{5940675A-B579-460E-94D1-54222C63F5DA}</a:tableStyleId>
              </a:tblPr>
              <a:tblGrid>
                <a:gridCol w="1631745">
                  <a:extLst>
                    <a:ext uri="{9D8B030D-6E8A-4147-A177-3AD203B41FA5}">
                      <a16:colId xmlns:a16="http://schemas.microsoft.com/office/drawing/2014/main" val="1983556881"/>
                    </a:ext>
                  </a:extLst>
                </a:gridCol>
                <a:gridCol w="1631745">
                  <a:extLst>
                    <a:ext uri="{9D8B030D-6E8A-4147-A177-3AD203B41FA5}">
                      <a16:colId xmlns:a16="http://schemas.microsoft.com/office/drawing/2014/main" val="4140232556"/>
                    </a:ext>
                  </a:extLst>
                </a:gridCol>
                <a:gridCol w="1631745">
                  <a:extLst>
                    <a:ext uri="{9D8B030D-6E8A-4147-A177-3AD203B41FA5}">
                      <a16:colId xmlns:a16="http://schemas.microsoft.com/office/drawing/2014/main" val="4034668507"/>
                    </a:ext>
                  </a:extLst>
                </a:gridCol>
              </a:tblGrid>
              <a:tr h="362110">
                <a:tc>
                  <a:txBody>
                    <a:bodyPr/>
                    <a:lstStyle/>
                    <a:p>
                      <a:pPr algn="ctr" latinLnBrk="1"/>
                      <a:r>
                        <a:rPr lang="en-US" altLang="ko-KR" dirty="0"/>
                        <a:t>Ground truth</a:t>
                      </a:r>
                      <a:endParaRPr lang="ko-KR" altLang="en-US" dirty="0"/>
                    </a:p>
                  </a:txBody>
                  <a:tcPr/>
                </a:tc>
                <a:tc>
                  <a:txBody>
                    <a:bodyPr/>
                    <a:lstStyle/>
                    <a:p>
                      <a:pPr algn="ctr" latinLnBrk="1"/>
                      <a:r>
                        <a:rPr lang="en-US" altLang="ko-KR" dirty="0"/>
                        <a:t>Input</a:t>
                      </a:r>
                      <a:endParaRPr lang="ko-KR" altLang="en-US" dirty="0"/>
                    </a:p>
                  </a:txBody>
                  <a:tcPr/>
                </a:tc>
                <a:tc>
                  <a:txBody>
                    <a:bodyPr/>
                    <a:lstStyle/>
                    <a:p>
                      <a:pPr algn="ctr" latinLnBrk="1"/>
                      <a:r>
                        <a:rPr lang="en-US" altLang="ko-KR" dirty="0"/>
                        <a:t>Output</a:t>
                      </a:r>
                      <a:endParaRPr lang="ko-KR" altLang="en-US" dirty="0"/>
                    </a:p>
                  </a:txBody>
                  <a:tcPr/>
                </a:tc>
                <a:extLst>
                  <a:ext uri="{0D108BD9-81ED-4DB2-BD59-A6C34878D82A}">
                    <a16:rowId xmlns:a16="http://schemas.microsoft.com/office/drawing/2014/main" val="1251107467"/>
                  </a:ext>
                </a:extLst>
              </a:tr>
              <a:tr h="362110">
                <a:tc>
                  <a:txBody>
                    <a:bodyPr/>
                    <a:lstStyle/>
                    <a:p>
                      <a:pPr algn="ctr" latinLnBrk="1"/>
                      <a:r>
                        <a:rPr lang="en-US" altLang="ko-KR" dirty="0">
                          <a:solidFill>
                            <a:schemeClr val="accent6">
                              <a:lumMod val="75000"/>
                            </a:schemeClr>
                          </a:solidFill>
                          <a:latin typeface="Arial Narrow" panose="020B0606020202030204" pitchFamily="34" charset="0"/>
                        </a:rPr>
                        <a:t>abbrevi</a:t>
                      </a:r>
                      <a:r>
                        <a:rPr lang="en-US" altLang="ko-KR" dirty="0">
                          <a:solidFill>
                            <a:schemeClr val="accent5"/>
                          </a:solidFill>
                          <a:latin typeface="Arial Narrow" panose="020B0606020202030204" pitchFamily="34" charset="0"/>
                        </a:rPr>
                        <a:t>ate</a:t>
                      </a:r>
                      <a:endParaRPr lang="ko-KR" altLang="en-US" dirty="0">
                        <a:solidFill>
                          <a:schemeClr val="accent5"/>
                        </a:solidFill>
                        <a:latin typeface="Arial Narrow" panose="020B0606020202030204" pitchFamily="34" charset="0"/>
                      </a:endParaRPr>
                    </a:p>
                  </a:txBody>
                  <a:tcPr/>
                </a:tc>
                <a:tc>
                  <a:txBody>
                    <a:bodyPr/>
                    <a:lstStyle/>
                    <a:p>
                      <a:pPr algn="ctr" latinLnBrk="1"/>
                      <a:r>
                        <a:rPr lang="en-US" altLang="ko-KR" dirty="0" err="1">
                          <a:latin typeface="Arial Narrow" panose="020B0606020202030204" pitchFamily="34" charset="0"/>
                        </a:rPr>
                        <a:t>abbrevi</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ate</a:t>
                      </a:r>
                      <a:endParaRPr lang="ko-KR" altLang="en-US" dirty="0">
                        <a:latin typeface="Arial Narrow" panose="020B0606020202030204" pitchFamily="34" charset="0"/>
                      </a:endParaRPr>
                    </a:p>
                  </a:txBody>
                  <a:tcPr/>
                </a:tc>
                <a:extLst>
                  <a:ext uri="{0D108BD9-81ED-4DB2-BD59-A6C34878D82A}">
                    <a16:rowId xmlns:a16="http://schemas.microsoft.com/office/drawing/2014/main" val="1350315580"/>
                  </a:ext>
                </a:extLst>
              </a:tr>
              <a:tr h="362110">
                <a:tc>
                  <a:txBody>
                    <a:bodyPr/>
                    <a:lstStyle/>
                    <a:p>
                      <a:pPr algn="ctr" latinLnBrk="1"/>
                      <a:r>
                        <a:rPr lang="en-US" altLang="ko-KR" dirty="0">
                          <a:solidFill>
                            <a:schemeClr val="accent6">
                              <a:lumMod val="75000"/>
                            </a:schemeClr>
                          </a:solidFill>
                          <a:latin typeface="Arial Narrow" panose="020B0606020202030204" pitchFamily="34" charset="0"/>
                        </a:rPr>
                        <a:t>abdicat</a:t>
                      </a:r>
                      <a:r>
                        <a:rPr lang="en-US" altLang="ko-KR" dirty="0">
                          <a:solidFill>
                            <a:schemeClr val="accent5"/>
                          </a:solidFill>
                          <a:latin typeface="Arial Narrow" panose="020B0606020202030204" pitchFamily="34" charset="0"/>
                        </a:rPr>
                        <a:t>ion</a:t>
                      </a:r>
                      <a:endParaRPr lang="ko-KR" altLang="en-US" dirty="0">
                        <a:solidFill>
                          <a:schemeClr val="accent5"/>
                        </a:solidFill>
                        <a:latin typeface="Arial Narrow" panose="020B0606020202030204" pitchFamily="34" charset="0"/>
                      </a:endParaRPr>
                    </a:p>
                  </a:txBody>
                  <a:tcPr/>
                </a:tc>
                <a:tc>
                  <a:txBody>
                    <a:bodyPr/>
                    <a:lstStyle/>
                    <a:p>
                      <a:pPr algn="ctr" latinLnBrk="1"/>
                      <a:r>
                        <a:rPr lang="en-US" altLang="ko-KR" dirty="0" err="1">
                          <a:latin typeface="Arial Narrow" panose="020B0606020202030204" pitchFamily="34" charset="0"/>
                        </a:rPr>
                        <a:t>abdicat</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ion</a:t>
                      </a:r>
                      <a:endParaRPr lang="ko-KR" altLang="en-US" dirty="0">
                        <a:latin typeface="Arial Narrow" panose="020B0606020202030204" pitchFamily="34" charset="0"/>
                      </a:endParaRPr>
                    </a:p>
                  </a:txBody>
                  <a:tcPr/>
                </a:tc>
                <a:extLst>
                  <a:ext uri="{0D108BD9-81ED-4DB2-BD59-A6C34878D82A}">
                    <a16:rowId xmlns:a16="http://schemas.microsoft.com/office/drawing/2014/main" val="3136079236"/>
                  </a:ext>
                </a:extLst>
              </a:tr>
              <a:tr h="362110">
                <a:tc>
                  <a:txBody>
                    <a:bodyPr/>
                    <a:lstStyle/>
                    <a:p>
                      <a:pPr algn="ctr" latinLnBrk="1"/>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a:t>
                      </a:r>
                      <a:endParaRPr lang="ko-KR" altLang="en-US" dirty="0">
                        <a:latin typeface="Arial Narrow" panose="020B0606020202030204" pitchFamily="34" charset="0"/>
                      </a:endParaRPr>
                    </a:p>
                  </a:txBody>
                  <a:tcPr/>
                </a:tc>
                <a:extLst>
                  <a:ext uri="{0D108BD9-81ED-4DB2-BD59-A6C34878D82A}">
                    <a16:rowId xmlns:a16="http://schemas.microsoft.com/office/drawing/2014/main" val="1901682917"/>
                  </a:ext>
                </a:extLst>
              </a:tr>
              <a:tr h="362110">
                <a:tc>
                  <a:txBody>
                    <a:bodyPr/>
                    <a:lstStyle/>
                    <a:p>
                      <a:pPr algn="ctr" latinLnBrk="1"/>
                      <a:r>
                        <a:rPr lang="en-US" altLang="ko-KR" dirty="0">
                          <a:solidFill>
                            <a:schemeClr val="accent6">
                              <a:lumMod val="75000"/>
                            </a:schemeClr>
                          </a:solidFill>
                          <a:latin typeface="Arial Narrow" panose="020B0606020202030204" pitchFamily="34" charset="0"/>
                        </a:rPr>
                        <a:t>yestery</a:t>
                      </a:r>
                      <a:r>
                        <a:rPr lang="en-US" altLang="ko-KR" dirty="0">
                          <a:solidFill>
                            <a:schemeClr val="accent5"/>
                          </a:solidFill>
                          <a:latin typeface="Arial Narrow" panose="020B0606020202030204" pitchFamily="34" charset="0"/>
                        </a:rPr>
                        <a:t>ear</a:t>
                      </a:r>
                      <a:endParaRPr lang="ko-KR" altLang="en-US" dirty="0">
                        <a:solidFill>
                          <a:schemeClr val="accent5"/>
                        </a:solidFill>
                        <a:latin typeface="Arial Narrow" panose="020B0606020202030204" pitchFamily="34" charset="0"/>
                      </a:endParaRPr>
                    </a:p>
                  </a:txBody>
                  <a:tcPr/>
                </a:tc>
                <a:tc>
                  <a:txBody>
                    <a:bodyPr/>
                    <a:lstStyle/>
                    <a:p>
                      <a:pPr algn="ctr" latinLnBrk="1"/>
                      <a:r>
                        <a:rPr lang="en-US" altLang="ko-KR" dirty="0" err="1">
                          <a:latin typeface="Arial Narrow" panose="020B0606020202030204" pitchFamily="34" charset="0"/>
                        </a:rPr>
                        <a:t>yestery</a:t>
                      </a:r>
                      <a:endParaRPr lang="ko-KR" altLang="en-US" dirty="0">
                        <a:latin typeface="Arial Narrow" panose="020B0606020202030204" pitchFamily="34" charset="0"/>
                      </a:endParaRPr>
                    </a:p>
                  </a:txBody>
                  <a:tcPr/>
                </a:tc>
                <a:tc>
                  <a:txBody>
                    <a:bodyPr/>
                    <a:lstStyle/>
                    <a:p>
                      <a:pPr algn="ctr" latinLnBrk="1"/>
                      <a:r>
                        <a:rPr lang="en-US" altLang="ko-KR" dirty="0">
                          <a:latin typeface="Arial Narrow" panose="020B0606020202030204" pitchFamily="34" charset="0"/>
                        </a:rPr>
                        <a:t>ear</a:t>
                      </a:r>
                      <a:endParaRPr lang="ko-KR" altLang="en-US" dirty="0">
                        <a:latin typeface="Arial Narrow" panose="020B0606020202030204" pitchFamily="34" charset="0"/>
                      </a:endParaRPr>
                    </a:p>
                  </a:txBody>
                  <a:tcPr/>
                </a:tc>
                <a:extLst>
                  <a:ext uri="{0D108BD9-81ED-4DB2-BD59-A6C34878D82A}">
                    <a16:rowId xmlns:a16="http://schemas.microsoft.com/office/drawing/2014/main" val="3178701568"/>
                  </a:ext>
                </a:extLst>
              </a:tr>
              <a:tr h="362110">
                <a:tc>
                  <a:txBody>
                    <a:bodyPr/>
                    <a:lstStyle/>
                    <a:p>
                      <a:pPr algn="ctr" latinLnBrk="1"/>
                      <a:r>
                        <a:rPr lang="en-US" altLang="ko-KR" dirty="0">
                          <a:solidFill>
                            <a:schemeClr val="accent6">
                              <a:lumMod val="75000"/>
                            </a:schemeClr>
                          </a:solidFill>
                          <a:latin typeface="Arial Narrow" panose="020B0606020202030204" pitchFamily="34" charset="0"/>
                        </a:rPr>
                        <a:t>zoologi</a:t>
                      </a:r>
                      <a:r>
                        <a:rPr lang="en-US" altLang="ko-KR" dirty="0">
                          <a:solidFill>
                            <a:schemeClr val="accent5"/>
                          </a:solidFill>
                          <a:latin typeface="Arial Narrow" panose="020B0606020202030204" pitchFamily="34" charset="0"/>
                        </a:rPr>
                        <a:t>cal</a:t>
                      </a:r>
                      <a:endParaRPr lang="ko-KR" altLang="en-US" dirty="0">
                        <a:solidFill>
                          <a:schemeClr val="accent5"/>
                        </a:solidFill>
                        <a:latin typeface="Arial Narrow" panose="020B0606020202030204" pitchFamily="34" charset="0"/>
                      </a:endParaRPr>
                    </a:p>
                  </a:txBody>
                  <a:tcPr/>
                </a:tc>
                <a:tc>
                  <a:txBody>
                    <a:bodyPr/>
                    <a:lstStyle/>
                    <a:p>
                      <a:pPr algn="ctr" latinLnBrk="1"/>
                      <a:r>
                        <a:rPr lang="en-US" altLang="ko-KR" dirty="0" err="1">
                          <a:latin typeface="Arial Narrow" panose="020B0606020202030204" pitchFamily="34" charset="0"/>
                        </a:rPr>
                        <a:t>zoologi</a:t>
                      </a:r>
                      <a:endParaRPr lang="ko-KR" altLang="en-US" dirty="0">
                        <a:latin typeface="Arial Narrow" panose="020B0606020202030204" pitchFamily="34" charset="0"/>
                      </a:endParaRPr>
                    </a:p>
                  </a:txBody>
                  <a:tcPr/>
                </a:tc>
                <a:tc>
                  <a:txBody>
                    <a:bodyPr/>
                    <a:lstStyle/>
                    <a:p>
                      <a:pPr algn="ctr" latinLnBrk="1"/>
                      <a:r>
                        <a:rPr lang="en-US" altLang="ko-KR" dirty="0" err="1">
                          <a:latin typeface="Arial Narrow" panose="020B0606020202030204" pitchFamily="34" charset="0"/>
                        </a:rPr>
                        <a:t>cal</a:t>
                      </a:r>
                      <a:endParaRPr lang="ko-KR" altLang="en-US" dirty="0">
                        <a:latin typeface="Arial Narrow" panose="020B0606020202030204" pitchFamily="34" charset="0"/>
                      </a:endParaRPr>
                    </a:p>
                  </a:txBody>
                  <a:tcPr/>
                </a:tc>
                <a:extLst>
                  <a:ext uri="{0D108BD9-81ED-4DB2-BD59-A6C34878D82A}">
                    <a16:rowId xmlns:a16="http://schemas.microsoft.com/office/drawing/2014/main" val="1612167321"/>
                  </a:ext>
                </a:extLst>
              </a:tr>
            </a:tbl>
          </a:graphicData>
        </a:graphic>
      </p:graphicFrame>
      <p:sp>
        <p:nvSpPr>
          <p:cNvPr id="4" name="화살표: 오른쪽 3">
            <a:extLst>
              <a:ext uri="{FF2B5EF4-FFF2-40B4-BE49-F238E27FC236}">
                <a16:creationId xmlns:a16="http://schemas.microsoft.com/office/drawing/2014/main" id="{7F776092-8037-08FC-FDB9-1FDFCBAC3FC2}"/>
              </a:ext>
            </a:extLst>
          </p:cNvPr>
          <p:cNvSpPr/>
          <p:nvPr/>
        </p:nvSpPr>
        <p:spPr>
          <a:xfrm>
            <a:off x="4859527" y="3330020"/>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화살표: 오른쪽 4">
            <a:extLst>
              <a:ext uri="{FF2B5EF4-FFF2-40B4-BE49-F238E27FC236}">
                <a16:creationId xmlns:a16="http://schemas.microsoft.com/office/drawing/2014/main" id="{92721498-C902-2B67-5D68-2FA615E5A0EF}"/>
              </a:ext>
            </a:extLst>
          </p:cNvPr>
          <p:cNvSpPr/>
          <p:nvPr/>
        </p:nvSpPr>
        <p:spPr>
          <a:xfrm>
            <a:off x="4859580" y="3715783"/>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화살표: 오른쪽 5">
            <a:extLst>
              <a:ext uri="{FF2B5EF4-FFF2-40B4-BE49-F238E27FC236}">
                <a16:creationId xmlns:a16="http://schemas.microsoft.com/office/drawing/2014/main" id="{405FB8B6-07BB-CBFA-F483-2E0F865E6694}"/>
              </a:ext>
            </a:extLst>
          </p:cNvPr>
          <p:cNvSpPr/>
          <p:nvPr/>
        </p:nvSpPr>
        <p:spPr>
          <a:xfrm>
            <a:off x="4859526" y="4077065"/>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화살표: 오른쪽 6">
            <a:extLst>
              <a:ext uri="{FF2B5EF4-FFF2-40B4-BE49-F238E27FC236}">
                <a16:creationId xmlns:a16="http://schemas.microsoft.com/office/drawing/2014/main" id="{3A2516A0-D304-5587-1C26-41E7DEDAC31F}"/>
              </a:ext>
            </a:extLst>
          </p:cNvPr>
          <p:cNvSpPr/>
          <p:nvPr/>
        </p:nvSpPr>
        <p:spPr>
          <a:xfrm>
            <a:off x="4859525" y="4462828"/>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화살표: 오른쪽 7">
            <a:extLst>
              <a:ext uri="{FF2B5EF4-FFF2-40B4-BE49-F238E27FC236}">
                <a16:creationId xmlns:a16="http://schemas.microsoft.com/office/drawing/2014/main" id="{B0D486D3-61F2-E335-7666-E218B5504E53}"/>
              </a:ext>
            </a:extLst>
          </p:cNvPr>
          <p:cNvSpPr/>
          <p:nvPr/>
        </p:nvSpPr>
        <p:spPr>
          <a:xfrm>
            <a:off x="4859524" y="4824110"/>
            <a:ext cx="466619" cy="266700"/>
          </a:xfrm>
          <a:prstGeom prst="rightArrow">
            <a:avLst/>
          </a:prstGeom>
          <a:solidFill>
            <a:schemeClr val="bg2">
              <a:lumMod val="9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0511652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 name="직선 연결선 35"/>
          <p:cNvCxnSpPr/>
          <p:nvPr/>
        </p:nvCxnSpPr>
        <p:spPr>
          <a:xfrm>
            <a:off x="361950" y="857250"/>
            <a:ext cx="5391150" cy="0"/>
          </a:xfrm>
          <a:prstGeom prst="line">
            <a:avLst/>
          </a:prstGeom>
          <a:ln w="38100">
            <a:solidFill>
              <a:schemeClr val="accent2">
                <a:alpha val="60000"/>
              </a:schemeClr>
            </a:solidFill>
          </a:ln>
        </p:spPr>
        <p:style>
          <a:lnRef idx="1">
            <a:schemeClr val="accent1"/>
          </a:lnRef>
          <a:fillRef idx="0">
            <a:schemeClr val="accent1"/>
          </a:fillRef>
          <a:effectRef idx="0">
            <a:schemeClr val="accent1"/>
          </a:effectRef>
          <a:fontRef idx="minor">
            <a:schemeClr val="tx1"/>
          </a:fontRef>
        </p:style>
      </p:cxnSp>
      <p:cxnSp>
        <p:nvCxnSpPr>
          <p:cNvPr id="37" name="직선 연결선 36"/>
          <p:cNvCxnSpPr/>
          <p:nvPr/>
        </p:nvCxnSpPr>
        <p:spPr>
          <a:xfrm>
            <a:off x="3257550" y="933450"/>
            <a:ext cx="5391150" cy="0"/>
          </a:xfrm>
          <a:prstGeom prst="line">
            <a:avLst/>
          </a:prstGeom>
          <a:ln w="38100">
            <a:solidFill>
              <a:schemeClr val="accent6">
                <a:alpha val="60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9DC7D8DF-F1AC-5E24-6D05-87B8D3343A78}"/>
              </a:ext>
            </a:extLst>
          </p:cNvPr>
          <p:cNvSpPr/>
          <p:nvPr/>
        </p:nvSpPr>
        <p:spPr>
          <a:xfrm>
            <a:off x="328772" y="1139130"/>
            <a:ext cx="8643778" cy="576440"/>
          </a:xfrm>
          <a:prstGeom prst="rect">
            <a:avLst/>
          </a:prstGeom>
        </p:spPr>
        <p:txBody>
          <a:bodyPr wrap="square">
            <a:spAutoFit/>
          </a:bodyPr>
          <a:lstStyle/>
          <a:p>
            <a:pPr marL="284400" indent="-284400">
              <a:lnSpc>
                <a:spcPct val="150000"/>
              </a:lnSpc>
              <a:buFont typeface="Arial" panose="020B0604020202020204" pitchFamily="34" charset="0"/>
              <a:buChar char="•"/>
            </a:pPr>
            <a:r>
              <a:rPr lang="en-US" altLang="ko-KR" sz="2400" dirty="0">
                <a:solidFill>
                  <a:srgbClr val="222222"/>
                </a:solidFill>
                <a:latin typeface="Arial Narrow" panose="020B0606020202030204" pitchFamily="34" charset="0"/>
              </a:rPr>
              <a:t>Exercise4</a:t>
            </a:r>
          </a:p>
        </p:txBody>
      </p:sp>
      <p:sp>
        <p:nvSpPr>
          <p:cNvPr id="3" name="직사각형 2">
            <a:extLst>
              <a:ext uri="{FF2B5EF4-FFF2-40B4-BE49-F238E27FC236}">
                <a16:creationId xmlns:a16="http://schemas.microsoft.com/office/drawing/2014/main" id="{8B3309B0-9FAF-B08A-2228-DB5B26F7E72B}"/>
              </a:ext>
            </a:extLst>
          </p:cNvPr>
          <p:cNvSpPr/>
          <p:nvPr/>
        </p:nvSpPr>
        <p:spPr>
          <a:xfrm>
            <a:off x="299839" y="70603"/>
            <a:ext cx="8544322" cy="657168"/>
          </a:xfrm>
          <a:prstGeom prst="rect">
            <a:avLst/>
          </a:prstGeom>
        </p:spPr>
        <p:txBody>
          <a:bodyPr wrap="square">
            <a:spAutoFit/>
          </a:bodyPr>
          <a:lstStyle/>
          <a:p>
            <a:pPr>
              <a:lnSpc>
                <a:spcPct val="150000"/>
              </a:lnSpc>
            </a:pPr>
            <a:r>
              <a:rPr lang="en-US" altLang="ko-KR" sz="2800" dirty="0">
                <a:solidFill>
                  <a:srgbClr val="222222"/>
                </a:solidFill>
                <a:latin typeface="Arial Narrow" panose="020B0606020202030204" pitchFamily="34" charset="0"/>
              </a:rPr>
              <a:t>Introduction to Long Short-Term Memory (LSTM) </a:t>
            </a:r>
            <a:endParaRPr lang="en-US" altLang="ko-KR" sz="2800" dirty="0">
              <a:latin typeface="Arial Narrow" panose="020B0606020202030204" pitchFamily="34" charset="0"/>
              <a:cs typeface="Times New Roman" panose="02020603050405020304" pitchFamily="18" charset="0"/>
            </a:endParaRPr>
          </a:p>
        </p:txBody>
      </p:sp>
      <p:sp>
        <p:nvSpPr>
          <p:cNvPr id="9" name="TextBox 8">
            <a:extLst>
              <a:ext uri="{FF2B5EF4-FFF2-40B4-BE49-F238E27FC236}">
                <a16:creationId xmlns:a16="http://schemas.microsoft.com/office/drawing/2014/main" id="{2EEE7905-5BC2-A64D-B1EF-80CCB4DBF523}"/>
              </a:ext>
            </a:extLst>
          </p:cNvPr>
          <p:cNvSpPr txBox="1"/>
          <p:nvPr/>
        </p:nvSpPr>
        <p:spPr>
          <a:xfrm>
            <a:off x="2055756" y="2502932"/>
            <a:ext cx="4754880" cy="923330"/>
          </a:xfrm>
          <a:prstGeom prst="rect">
            <a:avLst/>
          </a:prstGeom>
          <a:noFill/>
        </p:spPr>
        <p:txBody>
          <a:bodyPr wrap="square">
            <a:spAutoFit/>
          </a:bodyPr>
          <a:lstStyle/>
          <a:p>
            <a:r>
              <a:rPr lang="en-US" altLang="ko-KR" dirty="0">
                <a:hlinkClick r:id="rId3"/>
              </a:rPr>
              <a:t>https://colab.research.google.com/github/JunetaeKim/DeepLearningClass/blob/main/Week13/10LetterWords.ipynb</a:t>
            </a:r>
            <a:endParaRPr lang="ko-KR" altLang="en-US" dirty="0"/>
          </a:p>
        </p:txBody>
      </p:sp>
      <p:sp>
        <p:nvSpPr>
          <p:cNvPr id="11" name="TextBox 10">
            <a:extLst>
              <a:ext uri="{FF2B5EF4-FFF2-40B4-BE49-F238E27FC236}">
                <a16:creationId xmlns:a16="http://schemas.microsoft.com/office/drawing/2014/main" id="{3CA5E144-0821-4012-BC7C-FCD2B0171458}"/>
              </a:ext>
            </a:extLst>
          </p:cNvPr>
          <p:cNvSpPr txBox="1"/>
          <p:nvPr/>
        </p:nvSpPr>
        <p:spPr>
          <a:xfrm>
            <a:off x="2055756" y="2133600"/>
            <a:ext cx="4572000" cy="369332"/>
          </a:xfrm>
          <a:prstGeom prst="rect">
            <a:avLst/>
          </a:prstGeom>
          <a:noFill/>
        </p:spPr>
        <p:txBody>
          <a:bodyPr wrap="square">
            <a:spAutoFit/>
          </a:bodyPr>
          <a:lstStyle/>
          <a:p>
            <a:r>
              <a:rPr lang="en-US" altLang="ko-KR" sz="1800" dirty="0">
                <a:solidFill>
                  <a:srgbClr val="222222"/>
                </a:solidFill>
                <a:latin typeface="Arial Narrow" panose="020B0606020202030204" pitchFamily="34" charset="0"/>
              </a:rPr>
              <a:t>For students</a:t>
            </a:r>
            <a:endParaRPr lang="ko-KR" altLang="en-US" dirty="0"/>
          </a:p>
        </p:txBody>
      </p:sp>
    </p:spTree>
    <p:extLst>
      <p:ext uri="{BB962C8B-B14F-4D97-AF65-F5344CB8AC3E}">
        <p14:creationId xmlns:p14="http://schemas.microsoft.com/office/powerpoint/2010/main" val="3722001746"/>
      </p:ext>
    </p:extLst>
  </p:cSld>
  <p:clrMapOvr>
    <a:masterClrMapping/>
  </p:clrMapOvr>
</p:sld>
</file>

<file path=ppt/theme/theme1.xml><?xml version="1.0" encoding="utf-8"?>
<a:theme xmlns:a="http://schemas.openxmlformats.org/drawingml/2006/main" name="Office 테마">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테마">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27367</TotalTime>
  <Words>3179</Words>
  <Application>Microsoft Office PowerPoint</Application>
  <PresentationFormat>화면 슬라이드 쇼(4:3)</PresentationFormat>
  <Paragraphs>670</Paragraphs>
  <Slides>50</Slides>
  <Notes>49</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50</vt:i4>
      </vt:variant>
    </vt:vector>
  </HeadingPairs>
  <TitlesOfParts>
    <vt:vector size="58" baseType="lpstr">
      <vt:lpstr>-apple-system</vt:lpstr>
      <vt:lpstr>맑은 고딕</vt:lpstr>
      <vt:lpstr>Arial</vt:lpstr>
      <vt:lpstr>Arial Narrow</vt:lpstr>
      <vt:lpstr>Calibri</vt:lpstr>
      <vt:lpstr>Calibri Light</vt:lpstr>
      <vt:lpstr>Cambria Math</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김준태</dc:creator>
  <cp:lastModifiedBy>Junetae Kim</cp:lastModifiedBy>
  <cp:revision>2725</cp:revision>
  <cp:lastPrinted>2017-04-16T10:58:23Z</cp:lastPrinted>
  <dcterms:created xsi:type="dcterms:W3CDTF">2017-03-22T07:59:28Z</dcterms:created>
  <dcterms:modified xsi:type="dcterms:W3CDTF">2026-05-27T04:48:14Z</dcterms:modified>
</cp:coreProperties>
</file>