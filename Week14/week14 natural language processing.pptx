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handoutMasterIdLst>
    <p:handoutMasterId r:id="rId48"/>
  </p:handoutMasterIdLst>
  <p:sldIdLst>
    <p:sldId id="265" r:id="rId2"/>
    <p:sldId id="625" r:id="rId3"/>
    <p:sldId id="713" r:id="rId4"/>
    <p:sldId id="764" r:id="rId5"/>
    <p:sldId id="763" r:id="rId6"/>
    <p:sldId id="767" r:id="rId7"/>
    <p:sldId id="766" r:id="rId8"/>
    <p:sldId id="769" r:id="rId9"/>
    <p:sldId id="768" r:id="rId10"/>
    <p:sldId id="787" r:id="rId11"/>
    <p:sldId id="789" r:id="rId12"/>
    <p:sldId id="788" r:id="rId13"/>
    <p:sldId id="790" r:id="rId14"/>
    <p:sldId id="791" r:id="rId15"/>
    <p:sldId id="629" r:id="rId16"/>
    <p:sldId id="770" r:id="rId17"/>
    <p:sldId id="771" r:id="rId18"/>
    <p:sldId id="774" r:id="rId19"/>
    <p:sldId id="772" r:id="rId20"/>
    <p:sldId id="775" r:id="rId21"/>
    <p:sldId id="776" r:id="rId22"/>
    <p:sldId id="777" r:id="rId23"/>
    <p:sldId id="778" r:id="rId24"/>
    <p:sldId id="779" r:id="rId25"/>
    <p:sldId id="780" r:id="rId26"/>
    <p:sldId id="781" r:id="rId27"/>
    <p:sldId id="782" r:id="rId28"/>
    <p:sldId id="783" r:id="rId29"/>
    <p:sldId id="784" r:id="rId30"/>
    <p:sldId id="785" r:id="rId31"/>
    <p:sldId id="786" r:id="rId32"/>
    <p:sldId id="792" r:id="rId33"/>
    <p:sldId id="793" r:id="rId34"/>
    <p:sldId id="759" r:id="rId35"/>
    <p:sldId id="794" r:id="rId36"/>
    <p:sldId id="795" r:id="rId37"/>
    <p:sldId id="796" r:id="rId38"/>
    <p:sldId id="797" r:id="rId39"/>
    <p:sldId id="798" r:id="rId40"/>
    <p:sldId id="799" r:id="rId41"/>
    <p:sldId id="800" r:id="rId42"/>
    <p:sldId id="801" r:id="rId43"/>
    <p:sldId id="802" r:id="rId44"/>
    <p:sldId id="803" r:id="rId45"/>
    <p:sldId id="804" r:id="rId46"/>
  </p:sldIdLst>
  <p:sldSz cx="9144000" cy="6858000" type="screen4x3"/>
  <p:notesSz cx="6797675" cy="98742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29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 준태" initials="김준" lastIdx="1" clrIdx="0">
    <p:extLst>
      <p:ext uri="{19B8F6BF-5375-455C-9EA6-DF929625EA0E}">
        <p15:presenceInfo xmlns:p15="http://schemas.microsoft.com/office/powerpoint/2012/main" userId="e588e086b754a51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D3C2B1"/>
    <a:srgbClr val="FF7C80"/>
    <a:srgbClr val="FF9966"/>
    <a:srgbClr val="CAABA2"/>
    <a:srgbClr val="FFFFCC"/>
    <a:srgbClr val="FFFF66"/>
    <a:srgbClr val="CCFF99"/>
    <a:srgbClr val="CCECFF"/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92740" autoAdjust="0"/>
  </p:normalViewPr>
  <p:slideViewPr>
    <p:cSldViewPr snapToGrid="0" showGuides="1">
      <p:cViewPr varScale="1">
        <p:scale>
          <a:sx n="99" d="100"/>
          <a:sy n="99" d="100"/>
        </p:scale>
        <p:origin x="2304" y="78"/>
      </p:cViewPr>
      <p:guideLst>
        <p:guide orient="horz" pos="2228"/>
        <p:guide pos="2948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1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D2A4DD-E6C5-4446-8814-DDCEAB64F4E0}" type="datetimeFigureOut">
              <a:rPr lang="ko-KR" altLang="en-US" smtClean="0"/>
              <a:t>2025-06-12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E5394-4E77-4E42-BEDA-D88072962C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8754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4D36B7-6BC9-4358-A9C9-63F4AFA82B46}" type="datetimeFigureOut">
              <a:rPr lang="ko-KR" altLang="en-US" smtClean="0"/>
              <a:t>2025-06-12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76338" y="1233488"/>
            <a:ext cx="444500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51982"/>
            <a:ext cx="5438140" cy="3887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7DD7B4-6F0D-4FE3-8660-A7DE31D2A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9960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9712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9260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184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707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856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2478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9819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6595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4184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11068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8996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4277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83586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4429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9248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48116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32001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8039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8487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87560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8075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8597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2158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3383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8517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8154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97065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08378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49384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0249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3232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8865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43050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78316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77240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5872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763822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00697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10721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434436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9502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83854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4805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DD7B4-6F0D-4FE3-8660-A7DE31D2AD67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746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2025-06-12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063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2025-06-12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677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2025-06-12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8150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2025-06-12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069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2025-06-12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984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2025-06-12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048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2025-06-12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427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2025-06-12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564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2025-06-12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683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2025-06-12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21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DFAC-D890-497A-A497-2A400DD02E74}" type="datetimeFigureOut">
              <a:rPr lang="ko-KR" altLang="en-US" smtClean="0"/>
              <a:t>2025-06-12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581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ADFAC-D890-497A-A497-2A400DD02E74}" type="datetimeFigureOut">
              <a:rPr lang="ko-KR" altLang="en-US" smtClean="0"/>
              <a:t>2025-06-12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548ECE-90A5-4F83-92E9-2BED0B466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824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JunetaeKim/DeepLearningClass/blob/main/Week14/Tokenization.ipynb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JunetaeKim/DeepLearningClass/blob/main/Week14/OneHotKeras.ipynb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JunetaeKim/DeepLearningClass/blob/main/Week14/WordEmbedding.ipynb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JunetaeKim/DeepLearningClass/blob/main/Week14/ToySentimental.ipynb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martin-thoma.com/nlp-reuters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JunetaeKim/DeepLearningClass/blob/main/Week14/ReutersNews.ipynb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JunetaeKim/DeepLearningClass/blob/main/Week14/VisualizationEmbedding.ipynb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JunetaeKim/DeepLearningClass/blob/main/Week14/IMDBClassification.ipynb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99838" y="1441108"/>
            <a:ext cx="8723137" cy="818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600" dirty="0">
                <a:latin typeface="Arial Narrow" panose="020B0606020202030204" pitchFamily="34" charset="0"/>
                <a:cs typeface="Times New Roman" panose="02020603050405020304" pitchFamily="18" charset="0"/>
              </a:rPr>
              <a:t>Natural language processing</a:t>
            </a:r>
          </a:p>
        </p:txBody>
      </p:sp>
      <p:cxnSp>
        <p:nvCxnSpPr>
          <p:cNvPr id="13" name="직선 연결선 12"/>
          <p:cNvCxnSpPr/>
          <p:nvPr/>
        </p:nvCxnSpPr>
        <p:spPr>
          <a:xfrm>
            <a:off x="457200" y="3476625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352800" y="3571875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1075166" y="3978237"/>
            <a:ext cx="6941127" cy="1314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2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Ph.D. </a:t>
            </a:r>
            <a:r>
              <a:rPr lang="en-US" altLang="ko-KR" sz="3200" b="1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Junetae</a:t>
            </a:r>
            <a:r>
              <a:rPr lang="en-US" altLang="ko-KR" sz="32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, Kim</a:t>
            </a:r>
          </a:p>
          <a:p>
            <a:pPr algn="ctr">
              <a:lnSpc>
                <a:spcPct val="150000"/>
              </a:lnSpc>
            </a:pPr>
            <a:r>
              <a:rPr lang="en-US" altLang="ko-KR" sz="24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Associate professor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FB9B8D-4441-4FDD-9D76-E9EA305C96FA}"/>
              </a:ext>
            </a:extLst>
          </p:cNvPr>
          <p:cNvSpPr txBox="1"/>
          <p:nvPr/>
        </p:nvSpPr>
        <p:spPr>
          <a:xfrm>
            <a:off x="4096512" y="2580947"/>
            <a:ext cx="1179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Week 14</a:t>
            </a:r>
          </a:p>
        </p:txBody>
      </p:sp>
    </p:spTree>
    <p:extLst>
      <p:ext uri="{BB962C8B-B14F-4D97-AF65-F5344CB8AC3E}">
        <p14:creationId xmlns:p14="http://schemas.microsoft.com/office/powerpoint/2010/main" val="910953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모서리가 둥근 직사각형 2"/>
          <p:cNvSpPr/>
          <p:nvPr/>
        </p:nvSpPr>
        <p:spPr>
          <a:xfrm>
            <a:off x="895546" y="1631577"/>
            <a:ext cx="7626285" cy="4099457"/>
          </a:xfrm>
          <a:prstGeom prst="roundRect">
            <a:avLst>
              <a:gd name="adj" fmla="val 6436"/>
            </a:avLst>
          </a:prstGeom>
          <a:noFill/>
          <a:ln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045781" y="1518958"/>
            <a:ext cx="6879019" cy="3329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Word Tokenizing 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Word embedding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Classification model based on natural language.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526429-7C47-4997-9969-04DFBBFA4E21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4097546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319929" cy="4293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What is natural language processing?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Definition: 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A subfield of artificial intelligence (AI) that focuses on enabling computers to understand, interpret, and generate human language.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Key Components:</a:t>
            </a: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Syntax: Understanding the grammatical structure of sentences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Semantics: Extracting meaning from words and sentences</a:t>
            </a:r>
          </a:p>
          <a:p>
            <a:pPr marL="1656000" lvl="3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221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626693" cy="5493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Applications of NLP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Machine translation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Google Translate helps users instantly translate text between multiple languages.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Sentiment analysis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Businesses analyze customer reviews to identify positive or negative sentiment towards their products or services.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Speech recognition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Siri and Google Assistant transcribe spoken words into text for voice commands or dictation.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Chatbots and virtual assistants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Customer support chatbots on websites help answer user queries without human intervention.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Information extraction and retrieval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Search engines like Google use NLP to understand queries and provide relevant search results.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245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515390" cy="4841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NLP Techniques and Models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Traditional Approaches: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Rule-based systems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Statistical methods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Machine learning (e.g., Naïve Bayes, Support Vector Machines)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Recent approaches: Deep Learning: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deep learning for NLP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Recurrent Neural Networks (RNNs) and Long Short-Term Memory (LSTM) networks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Attention mechanisms and Transformer models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State-of-the-art models: BERT and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OpenAI's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GPT-4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710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515390" cy="4841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What is Tokenization?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Definition: 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The process of breaking a sentence or text into smaller units, called tokens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Tokens are usually words, but can also be phrases or sentences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Importance of tokenization 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It's the first step in text preprocessing for various NLP tasks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It helps in analyzing and understanding the structure of a text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It facilitates the extraction of meaningful information from text data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793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515390" cy="4010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What is Tokenization?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Example: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Original Sentence: "We enjoy ice cream on hot summer days."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Tokenized Sentence: ["We", "enjoy", "ice", "cream", "on", "hot", "summer", "days."]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Tools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: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</a:rPr>
              <a:t>from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tensorflow.keras.</a:t>
            </a:r>
            <a:r>
              <a:rPr lang="en-US" altLang="ko-KR" dirty="0" err="1">
                <a:solidFill>
                  <a:srgbClr val="0070C0"/>
                </a:solidFill>
                <a:latin typeface="Arial Narrow" panose="020B0606020202030204" pitchFamily="34" charset="0"/>
              </a:rPr>
              <a:t>preprocessing.text</a:t>
            </a:r>
            <a:r>
              <a:rPr lang="en-US" altLang="ko-KR" dirty="0">
                <a:solidFill>
                  <a:srgbClr val="0070C0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</a:rPr>
              <a:t>import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text_to_word_sequence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, Tokenizer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text_to_word_sequence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and Tokenizer are both tokenization methods, and have different use cases and features.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116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0" y="1139130"/>
            <a:ext cx="8739815" cy="3133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What is Tokenization?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text_to_word_sequence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: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A simple function that takes a text string as input and returns a list of words.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It uses space as a delimiter and removes punctuation marks.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It's suitable for basic tokenization when working with a single sentence or a small dataset.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964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0" y="1139130"/>
            <a:ext cx="8739815" cy="354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What is Tokenization?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Tokenizer: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A more advanced and customizable class for tokenization.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It can handle large datasets and multiple texts.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Provides additional functionality, such as counting word frequency, converting words to indices, and creating a dictionary-like mapping of words.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It allows for more control over the tokenization process, such as defining custom filters, setting the maximum number of words, and choosing a specific tokenizer.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377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515390" cy="1886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Tokenization and Sequence Length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Sequence Length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Tokenized sequences can have varying lengths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Deep learning models require fixed-length input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93EC72E-3070-58FC-9620-DA66FE165717}"/>
              </a:ext>
            </a:extLst>
          </p:cNvPr>
          <p:cNvSpPr txBox="1"/>
          <p:nvPr/>
        </p:nvSpPr>
        <p:spPr>
          <a:xfrm>
            <a:off x="3264616" y="3315772"/>
            <a:ext cx="2555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The            cat         jumped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5760BBE-B34C-7B70-85E4-36AFFD78CDB9}"/>
              </a:ext>
            </a:extLst>
          </p:cNvPr>
          <p:cNvSpPr txBox="1"/>
          <p:nvPr/>
        </p:nvSpPr>
        <p:spPr>
          <a:xfrm>
            <a:off x="1181100" y="3294648"/>
            <a:ext cx="1714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3-word sentence: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5DA036F0-59E8-57ED-D812-C48932F2F6DA}"/>
              </a:ext>
            </a:extLst>
          </p:cNvPr>
          <p:cNvSpPr txBox="1"/>
          <p:nvPr/>
        </p:nvSpPr>
        <p:spPr>
          <a:xfrm>
            <a:off x="1181100" y="3877639"/>
            <a:ext cx="1714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>
                <a:latin typeface="Arial Narrow" panose="020B0606020202030204" pitchFamily="34" charset="0"/>
              </a:rPr>
              <a:t>4-word </a:t>
            </a:r>
            <a:r>
              <a:rPr lang="en-US" altLang="ko-KR" dirty="0">
                <a:latin typeface="Arial Narrow" panose="020B0606020202030204" pitchFamily="34" charset="0"/>
              </a:rPr>
              <a:t>sentence: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697DC728-9A78-11D2-80D9-07D3B1110364}"/>
              </a:ext>
            </a:extLst>
          </p:cNvPr>
          <p:cNvSpPr txBox="1"/>
          <p:nvPr/>
        </p:nvSpPr>
        <p:spPr>
          <a:xfrm>
            <a:off x="1181100" y="4469717"/>
            <a:ext cx="1714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5-word sentence: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B3298917-D834-3641-7456-542518B04E9F}"/>
              </a:ext>
            </a:extLst>
          </p:cNvPr>
          <p:cNvSpPr txBox="1"/>
          <p:nvPr/>
        </p:nvSpPr>
        <p:spPr>
          <a:xfrm>
            <a:off x="3264616" y="392153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She         opened       the        door</a:t>
            </a:r>
            <a:endParaRPr lang="en-US" altLang="ko-KR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1F19B832-7ED2-858A-2C4F-052C4DD64AFA}"/>
              </a:ext>
            </a:extLst>
          </p:cNvPr>
          <p:cNvSpPr txBox="1"/>
          <p:nvPr/>
        </p:nvSpPr>
        <p:spPr>
          <a:xfrm>
            <a:off x="3129672" y="447061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Children      played         in          the      park</a:t>
            </a:r>
          </a:p>
        </p:txBody>
      </p:sp>
    </p:spTree>
    <p:extLst>
      <p:ext uri="{BB962C8B-B14F-4D97-AF65-F5344CB8AC3E}">
        <p14:creationId xmlns:p14="http://schemas.microsoft.com/office/powerpoint/2010/main" val="2395525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515390" cy="1886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Tokenization and Sequence Length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Sequence Length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Tokenized sequences can have varying lengths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Deep learning models require fixed-length input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3FD91E32-B0EF-60D7-0EB0-0740008FF7B4}"/>
              </a:ext>
            </a:extLst>
          </p:cNvPr>
          <p:cNvGrpSpPr/>
          <p:nvPr/>
        </p:nvGrpSpPr>
        <p:grpSpPr>
          <a:xfrm>
            <a:off x="3296475" y="5166660"/>
            <a:ext cx="3020505" cy="1494421"/>
            <a:chOff x="3296475" y="5166660"/>
            <a:chExt cx="3020505" cy="1494421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6AFF531E-4323-028D-57C0-666AEC296F7C}"/>
                </a:ext>
              </a:extLst>
            </p:cNvPr>
            <p:cNvSpPr/>
            <p:nvPr/>
          </p:nvSpPr>
          <p:spPr>
            <a:xfrm>
              <a:off x="5254095" y="6301080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 Narrow" panose="020B0606020202030204" pitchFamily="34" charset="0"/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40178850-FAA2-530B-4D8C-4EB974604194}"/>
                </a:ext>
              </a:extLst>
            </p:cNvPr>
            <p:cNvSpPr/>
            <p:nvPr/>
          </p:nvSpPr>
          <p:spPr>
            <a:xfrm>
              <a:off x="4608850" y="6301080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 Narrow" panose="020B0606020202030204" pitchFamily="34" charset="0"/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97FAFCD6-F7CD-BE0D-D674-B864A20D0610}"/>
                </a:ext>
              </a:extLst>
            </p:cNvPr>
            <p:cNvSpPr/>
            <p:nvPr/>
          </p:nvSpPr>
          <p:spPr>
            <a:xfrm>
              <a:off x="3963605" y="6301081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 Narrow" panose="020B0606020202030204" pitchFamily="34" charset="0"/>
              </a:endParaRPr>
            </a:p>
          </p:txBody>
        </p: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ECDFEF42-8AA2-5055-328F-36C731799A50}"/>
                </a:ext>
              </a:extLst>
            </p:cNvPr>
            <p:cNvCxnSpPr>
              <a:cxnSpLocks/>
              <a:stCxn id="74" idx="4"/>
              <a:endCxn id="57" idx="0"/>
            </p:cNvCxnSpPr>
            <p:nvPr/>
          </p:nvCxnSpPr>
          <p:spPr>
            <a:xfrm flipH="1">
              <a:off x="5434095" y="5652804"/>
              <a:ext cx="575101" cy="6482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5EAEB4A0-80C7-587A-92C9-D559DDF25E67}"/>
                </a:ext>
              </a:extLst>
            </p:cNvPr>
            <p:cNvCxnSpPr>
              <a:cxnSpLocks/>
              <a:stCxn id="71" idx="4"/>
              <a:endCxn id="57" idx="0"/>
            </p:cNvCxnSpPr>
            <p:nvPr/>
          </p:nvCxnSpPr>
          <p:spPr>
            <a:xfrm>
              <a:off x="5280089" y="5658880"/>
              <a:ext cx="154006" cy="642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4180B9B5-545C-4CF3-C31E-9033021FDA78}"/>
                </a:ext>
              </a:extLst>
            </p:cNvPr>
            <p:cNvCxnSpPr>
              <a:cxnSpLocks/>
              <a:stCxn id="72" idx="4"/>
              <a:endCxn id="57" idx="0"/>
            </p:cNvCxnSpPr>
            <p:nvPr/>
          </p:nvCxnSpPr>
          <p:spPr>
            <a:xfrm>
              <a:off x="4508251" y="5658880"/>
              <a:ext cx="925844" cy="642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2EF02716-E1A2-8591-025B-9157AFD43F2A}"/>
                </a:ext>
              </a:extLst>
            </p:cNvPr>
            <p:cNvCxnSpPr>
              <a:cxnSpLocks/>
              <a:stCxn id="72" idx="4"/>
              <a:endCxn id="59" idx="0"/>
            </p:cNvCxnSpPr>
            <p:nvPr/>
          </p:nvCxnSpPr>
          <p:spPr>
            <a:xfrm flipH="1">
              <a:off x="4143605" y="5658880"/>
              <a:ext cx="364646" cy="6422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C7D429E1-4C47-DAB4-80F4-3150EF784C51}"/>
                </a:ext>
              </a:extLst>
            </p:cNvPr>
            <p:cNvCxnSpPr>
              <a:cxnSpLocks/>
              <a:stCxn id="74" idx="4"/>
              <a:endCxn id="58" idx="0"/>
            </p:cNvCxnSpPr>
            <p:nvPr/>
          </p:nvCxnSpPr>
          <p:spPr>
            <a:xfrm flipH="1">
              <a:off x="4788850" y="5652804"/>
              <a:ext cx="1220346" cy="6482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656DB219-958C-DF82-C49B-64E77BC72F44}"/>
                </a:ext>
              </a:extLst>
            </p:cNvPr>
            <p:cNvCxnSpPr>
              <a:cxnSpLocks/>
              <a:stCxn id="74" idx="4"/>
              <a:endCxn id="59" idx="0"/>
            </p:cNvCxnSpPr>
            <p:nvPr/>
          </p:nvCxnSpPr>
          <p:spPr>
            <a:xfrm flipH="1">
              <a:off x="4143605" y="5652804"/>
              <a:ext cx="1865591" cy="6482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화살표 연결선 65">
              <a:extLst>
                <a:ext uri="{FF2B5EF4-FFF2-40B4-BE49-F238E27FC236}">
                  <a16:creationId xmlns:a16="http://schemas.microsoft.com/office/drawing/2014/main" id="{F559D3FB-AE2A-7B78-B55F-AAA714726348}"/>
                </a:ext>
              </a:extLst>
            </p:cNvPr>
            <p:cNvCxnSpPr>
              <a:cxnSpLocks/>
              <a:stCxn id="71" idx="4"/>
              <a:endCxn id="58" idx="0"/>
            </p:cNvCxnSpPr>
            <p:nvPr/>
          </p:nvCxnSpPr>
          <p:spPr>
            <a:xfrm flipH="1">
              <a:off x="4788850" y="5658880"/>
              <a:ext cx="491239" cy="642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E7EC1685-C244-2E08-B2D0-C3F0039173D3}"/>
                </a:ext>
              </a:extLst>
            </p:cNvPr>
            <p:cNvCxnSpPr>
              <a:cxnSpLocks/>
              <a:stCxn id="71" idx="4"/>
              <a:endCxn id="59" idx="0"/>
            </p:cNvCxnSpPr>
            <p:nvPr/>
          </p:nvCxnSpPr>
          <p:spPr>
            <a:xfrm flipH="1">
              <a:off x="4143605" y="5658880"/>
              <a:ext cx="1136484" cy="6422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화살표 연결선 67">
              <a:extLst>
                <a:ext uri="{FF2B5EF4-FFF2-40B4-BE49-F238E27FC236}">
                  <a16:creationId xmlns:a16="http://schemas.microsoft.com/office/drawing/2014/main" id="{77189BFF-74DB-2F75-3AF7-BD3D7B05CA5E}"/>
                </a:ext>
              </a:extLst>
            </p:cNvPr>
            <p:cNvCxnSpPr>
              <a:cxnSpLocks/>
              <a:stCxn id="72" idx="4"/>
              <a:endCxn id="58" idx="0"/>
            </p:cNvCxnSpPr>
            <p:nvPr/>
          </p:nvCxnSpPr>
          <p:spPr>
            <a:xfrm>
              <a:off x="4508251" y="5658880"/>
              <a:ext cx="280599" cy="642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화살표 연결선 68">
              <a:extLst>
                <a:ext uri="{FF2B5EF4-FFF2-40B4-BE49-F238E27FC236}">
                  <a16:creationId xmlns:a16="http://schemas.microsoft.com/office/drawing/2014/main" id="{E36B3C2F-69EF-2E4E-3EFD-B1241F8F0010}"/>
                </a:ext>
              </a:extLst>
            </p:cNvPr>
            <p:cNvCxnSpPr>
              <a:cxnSpLocks/>
              <a:stCxn id="73" idx="4"/>
              <a:endCxn id="58" idx="0"/>
            </p:cNvCxnSpPr>
            <p:nvPr/>
          </p:nvCxnSpPr>
          <p:spPr>
            <a:xfrm>
              <a:off x="3630104" y="5658880"/>
              <a:ext cx="1158746" cy="642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AFCA8824-91C7-1DF5-20FB-241D2A6BB9B8}"/>
                </a:ext>
              </a:extLst>
            </p:cNvPr>
            <p:cNvCxnSpPr>
              <a:cxnSpLocks/>
              <a:stCxn id="73" idx="4"/>
              <a:endCxn id="59" idx="0"/>
            </p:cNvCxnSpPr>
            <p:nvPr/>
          </p:nvCxnSpPr>
          <p:spPr>
            <a:xfrm>
              <a:off x="3630104" y="5658880"/>
              <a:ext cx="513501" cy="6422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1934679D-658E-26D6-4D19-BA4C72F94A44}"/>
                </a:ext>
              </a:extLst>
            </p:cNvPr>
            <p:cNvSpPr/>
            <p:nvPr/>
          </p:nvSpPr>
          <p:spPr>
            <a:xfrm>
              <a:off x="5100089" y="5298880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 Narrow" panose="020B0606020202030204" pitchFamily="34" charset="0"/>
              </a:endParaRPr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C053327F-747D-5368-3C20-C912BAB6DD3C}"/>
                </a:ext>
              </a:extLst>
            </p:cNvPr>
            <p:cNvSpPr/>
            <p:nvPr/>
          </p:nvSpPr>
          <p:spPr>
            <a:xfrm>
              <a:off x="4328251" y="5298880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 Narrow" panose="020B0606020202030204" pitchFamily="34" charset="0"/>
              </a:endParaRPr>
            </a:p>
          </p:txBody>
        </p: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0CA52801-FAAE-8CAF-090B-5CD926D9582C}"/>
                </a:ext>
              </a:extLst>
            </p:cNvPr>
            <p:cNvSpPr/>
            <p:nvPr/>
          </p:nvSpPr>
          <p:spPr>
            <a:xfrm>
              <a:off x="3450104" y="5298880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 Narrow" panose="020B0606020202030204" pitchFamily="34" charset="0"/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89BCDE76-5B6C-B87C-DA96-A55551E65B27}"/>
                </a:ext>
              </a:extLst>
            </p:cNvPr>
            <p:cNvSpPr/>
            <p:nvPr/>
          </p:nvSpPr>
          <p:spPr>
            <a:xfrm>
              <a:off x="5829196" y="5292804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 Narrow" panose="020B0606020202030204" pitchFamily="34" charset="0"/>
              </a:endParaRPr>
            </a:p>
          </p:txBody>
        </p:sp>
        <p:cxnSp>
          <p:nvCxnSpPr>
            <p:cNvPr id="111" name="직선 화살표 연결선 110">
              <a:extLst>
                <a:ext uri="{FF2B5EF4-FFF2-40B4-BE49-F238E27FC236}">
                  <a16:creationId xmlns:a16="http://schemas.microsoft.com/office/drawing/2014/main" id="{6756F16A-7487-489B-B144-89F4B1ABA52D}"/>
                </a:ext>
              </a:extLst>
            </p:cNvPr>
            <p:cNvCxnSpPr>
              <a:cxnSpLocks/>
              <a:stCxn id="73" idx="4"/>
              <a:endCxn id="57" idx="0"/>
            </p:cNvCxnSpPr>
            <p:nvPr/>
          </p:nvCxnSpPr>
          <p:spPr>
            <a:xfrm>
              <a:off x="3630104" y="5658880"/>
              <a:ext cx="1803991" cy="642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사각형: 둥근 모서리 114">
              <a:extLst>
                <a:ext uri="{FF2B5EF4-FFF2-40B4-BE49-F238E27FC236}">
                  <a16:creationId xmlns:a16="http://schemas.microsoft.com/office/drawing/2014/main" id="{7CF94F80-F96E-D1FF-BFDB-7D1AA6BBA28F}"/>
                </a:ext>
              </a:extLst>
            </p:cNvPr>
            <p:cNvSpPr/>
            <p:nvPr/>
          </p:nvSpPr>
          <p:spPr>
            <a:xfrm>
              <a:off x="3296475" y="5166660"/>
              <a:ext cx="3020505" cy="601980"/>
            </a:xfrm>
            <a:prstGeom prst="roundRect">
              <a:avLst/>
            </a:prstGeom>
            <a:solidFill>
              <a:srgbClr val="FF0000">
                <a:alpha val="10000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 Narrow" panose="020B0606020202030204" pitchFamily="34" charset="0"/>
              </a:endParaRP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95C1CBA0-A02B-693E-3C0A-85675518AE5B}"/>
              </a:ext>
            </a:extLst>
          </p:cNvPr>
          <p:cNvSpPr txBox="1"/>
          <p:nvPr/>
        </p:nvSpPr>
        <p:spPr>
          <a:xfrm>
            <a:off x="1423739" y="5275453"/>
            <a:ext cx="1616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Fixed input length</a:t>
            </a:r>
            <a:endParaRPr lang="ko-KR" altLang="en-US" sz="1600" dirty="0">
              <a:latin typeface="Arial Narrow" panose="020B0606020202030204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93EC72E-3070-58FC-9620-DA66FE165717}"/>
              </a:ext>
            </a:extLst>
          </p:cNvPr>
          <p:cNvSpPr txBox="1"/>
          <p:nvPr/>
        </p:nvSpPr>
        <p:spPr>
          <a:xfrm>
            <a:off x="3264616" y="3315772"/>
            <a:ext cx="3258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The            cat         jumped     </a:t>
            </a:r>
            <a:r>
              <a:rPr lang="en-US" altLang="ko-KR" dirty="0">
                <a:solidFill>
                  <a:srgbClr val="C00000"/>
                </a:solidFill>
                <a:latin typeface="Arial Narrow" panose="020B0606020202030204" pitchFamily="34" charset="0"/>
              </a:rPr>
              <a:t>nan. </a:t>
            </a:r>
            <a:r>
              <a:rPr lang="en-US" altLang="ko-KR" dirty="0">
                <a:latin typeface="Arial Narrow" panose="020B0606020202030204" pitchFamily="34" charset="0"/>
              </a:rPr>
              <a:t> 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5760BBE-B34C-7B70-85E4-36AFFD78CDB9}"/>
              </a:ext>
            </a:extLst>
          </p:cNvPr>
          <p:cNvSpPr txBox="1"/>
          <p:nvPr/>
        </p:nvSpPr>
        <p:spPr>
          <a:xfrm>
            <a:off x="1181100" y="3294648"/>
            <a:ext cx="1714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3-word sentence: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5DA036F0-59E8-57ED-D812-C48932F2F6DA}"/>
              </a:ext>
            </a:extLst>
          </p:cNvPr>
          <p:cNvSpPr txBox="1"/>
          <p:nvPr/>
        </p:nvSpPr>
        <p:spPr>
          <a:xfrm>
            <a:off x="1181100" y="3877639"/>
            <a:ext cx="1714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>
                <a:latin typeface="Arial Narrow" panose="020B0606020202030204" pitchFamily="34" charset="0"/>
              </a:rPr>
              <a:t>4-word </a:t>
            </a:r>
            <a:r>
              <a:rPr lang="en-US" altLang="ko-KR" dirty="0">
                <a:latin typeface="Arial Narrow" panose="020B0606020202030204" pitchFamily="34" charset="0"/>
              </a:rPr>
              <a:t>sentence: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697DC728-9A78-11D2-80D9-07D3B1110364}"/>
              </a:ext>
            </a:extLst>
          </p:cNvPr>
          <p:cNvSpPr txBox="1"/>
          <p:nvPr/>
        </p:nvSpPr>
        <p:spPr>
          <a:xfrm>
            <a:off x="1181100" y="4469717"/>
            <a:ext cx="1714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5-word sentence: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B3298917-D834-3641-7456-542518B04E9F}"/>
              </a:ext>
            </a:extLst>
          </p:cNvPr>
          <p:cNvSpPr txBox="1"/>
          <p:nvPr/>
        </p:nvSpPr>
        <p:spPr>
          <a:xfrm>
            <a:off x="3264616" y="392153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She         opened       the        door</a:t>
            </a:r>
            <a:endParaRPr lang="en-US" altLang="ko-KR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1F19B832-7ED2-858A-2C4F-052C4DD64AFA}"/>
              </a:ext>
            </a:extLst>
          </p:cNvPr>
          <p:cNvSpPr txBox="1"/>
          <p:nvPr/>
        </p:nvSpPr>
        <p:spPr>
          <a:xfrm>
            <a:off x="3129672" y="447061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Children      played         in          the      </a:t>
            </a:r>
            <a:r>
              <a:rPr lang="en-US" altLang="ko-KR" strike="sngStrike" dirty="0">
                <a:solidFill>
                  <a:srgbClr val="C00000"/>
                </a:solidFill>
                <a:latin typeface="Arial Narrow" panose="020B0606020202030204" pitchFamily="34" charset="0"/>
              </a:rPr>
              <a:t>park</a:t>
            </a:r>
          </a:p>
        </p:txBody>
      </p:sp>
      <p:sp>
        <p:nvSpPr>
          <p:cNvPr id="2" name="화살표: 아래쪽 1">
            <a:extLst>
              <a:ext uri="{FF2B5EF4-FFF2-40B4-BE49-F238E27FC236}">
                <a16:creationId xmlns:a16="http://schemas.microsoft.com/office/drawing/2014/main" id="{1F2C288A-7E14-2BB3-F705-3E8AA22E76AC}"/>
              </a:ext>
            </a:extLst>
          </p:cNvPr>
          <p:cNvSpPr/>
          <p:nvPr/>
        </p:nvSpPr>
        <p:spPr>
          <a:xfrm>
            <a:off x="3521741" y="4853669"/>
            <a:ext cx="216726" cy="236986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화살표: 아래쪽 2">
            <a:extLst>
              <a:ext uri="{FF2B5EF4-FFF2-40B4-BE49-F238E27FC236}">
                <a16:creationId xmlns:a16="http://schemas.microsoft.com/office/drawing/2014/main" id="{4D807C15-365E-4EDB-FDBE-8B0DF97EEEE2}"/>
              </a:ext>
            </a:extLst>
          </p:cNvPr>
          <p:cNvSpPr/>
          <p:nvPr/>
        </p:nvSpPr>
        <p:spPr>
          <a:xfrm>
            <a:off x="4399888" y="4853669"/>
            <a:ext cx="216726" cy="236986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6AD3C0BD-CEFB-25AC-D575-CD8643600B7F}"/>
              </a:ext>
            </a:extLst>
          </p:cNvPr>
          <p:cNvSpPr/>
          <p:nvPr/>
        </p:nvSpPr>
        <p:spPr>
          <a:xfrm>
            <a:off x="5217369" y="4853669"/>
            <a:ext cx="216726" cy="236986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BECF5ED2-26DA-BA9B-393E-CEF356C997A8}"/>
              </a:ext>
            </a:extLst>
          </p:cNvPr>
          <p:cNvSpPr/>
          <p:nvPr/>
        </p:nvSpPr>
        <p:spPr>
          <a:xfrm>
            <a:off x="5926487" y="4853669"/>
            <a:ext cx="216726" cy="236986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6F374AD-6CFD-1C55-C3C5-11B643E451D9}"/>
              </a:ext>
            </a:extLst>
          </p:cNvPr>
          <p:cNvCxnSpPr>
            <a:cxnSpLocks/>
          </p:cNvCxnSpPr>
          <p:nvPr/>
        </p:nvCxnSpPr>
        <p:spPr>
          <a:xfrm>
            <a:off x="3132941" y="3315772"/>
            <a:ext cx="0" cy="233703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58C3D89-D9C2-FAE0-C4E9-01FFFFB3903F}"/>
              </a:ext>
            </a:extLst>
          </p:cNvPr>
          <p:cNvCxnSpPr>
            <a:cxnSpLocks/>
          </p:cNvCxnSpPr>
          <p:nvPr/>
        </p:nvCxnSpPr>
        <p:spPr>
          <a:xfrm>
            <a:off x="4039485" y="3276975"/>
            <a:ext cx="0" cy="233703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1AB0310-E579-D470-F236-C055880E429F}"/>
              </a:ext>
            </a:extLst>
          </p:cNvPr>
          <p:cNvCxnSpPr>
            <a:cxnSpLocks/>
          </p:cNvCxnSpPr>
          <p:nvPr/>
        </p:nvCxnSpPr>
        <p:spPr>
          <a:xfrm>
            <a:off x="4898481" y="3276975"/>
            <a:ext cx="0" cy="233703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BC16C33-F0F9-FF90-C56A-75AEA5495E8D}"/>
              </a:ext>
            </a:extLst>
          </p:cNvPr>
          <p:cNvCxnSpPr>
            <a:cxnSpLocks/>
          </p:cNvCxnSpPr>
          <p:nvPr/>
        </p:nvCxnSpPr>
        <p:spPr>
          <a:xfrm>
            <a:off x="5721645" y="3276975"/>
            <a:ext cx="0" cy="233703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E452DBB-6847-4E89-4E52-FF0482F903F4}"/>
              </a:ext>
            </a:extLst>
          </p:cNvPr>
          <p:cNvCxnSpPr>
            <a:cxnSpLocks/>
          </p:cNvCxnSpPr>
          <p:nvPr/>
        </p:nvCxnSpPr>
        <p:spPr>
          <a:xfrm>
            <a:off x="6405614" y="3276975"/>
            <a:ext cx="0" cy="233703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395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515390" cy="2302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Tokenization and Sequence Length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maxlen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: Maximum Length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Parameter to define the maximum length for each sequence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Shorter sequences are padded; longer sequences are truncated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EBC5CE1-50FF-6D2A-850A-64404EE13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750764"/>
              </p:ext>
            </p:extLst>
          </p:nvPr>
        </p:nvGraphicFramePr>
        <p:xfrm>
          <a:off x="1355760" y="3245185"/>
          <a:ext cx="1626350" cy="3352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13175">
                  <a:extLst>
                    <a:ext uri="{9D8B030D-6E8A-4147-A177-3AD203B41FA5}">
                      <a16:colId xmlns:a16="http://schemas.microsoft.com/office/drawing/2014/main" val="3420744183"/>
                    </a:ext>
                  </a:extLst>
                </a:gridCol>
                <a:gridCol w="813175">
                  <a:extLst>
                    <a:ext uri="{9D8B030D-6E8A-4147-A177-3AD203B41FA5}">
                      <a16:colId xmlns:a16="http://schemas.microsoft.com/office/drawing/2014/main" val="1251187720"/>
                    </a:ext>
                  </a:extLst>
                </a:gridCol>
              </a:tblGrid>
              <a:tr h="2855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dirty="0">
                          <a:effectLst/>
                        </a:rPr>
                        <a:t>Word</a:t>
                      </a:r>
                      <a:endParaRPr lang="en-US" sz="1400" b="1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>
                          <a:effectLst/>
                        </a:rPr>
                        <a:t>Integer</a:t>
                      </a:r>
                      <a:endParaRPr lang="en-US" sz="1400" b="1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4111432679"/>
                  </a:ext>
                </a:extLst>
              </a:tr>
              <a:tr h="285571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dirty="0">
                          <a:effectLst/>
                        </a:rPr>
                        <a:t>the</a:t>
                      </a:r>
                      <a:endParaRPr lang="en-US" sz="14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ko-KR" sz="1400">
                          <a:effectLst/>
                        </a:rPr>
                        <a:t>1</a:t>
                      </a:r>
                      <a:endParaRPr lang="en-US" altLang="ko-KR" sz="140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119633"/>
                  </a:ext>
                </a:extLst>
              </a:tr>
              <a:tr h="285571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dirty="0">
                          <a:effectLst/>
                        </a:rPr>
                        <a:t>cat</a:t>
                      </a:r>
                      <a:endParaRPr lang="en-US" sz="14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ko-KR" sz="1400">
                          <a:effectLst/>
                        </a:rPr>
                        <a:t>2</a:t>
                      </a:r>
                      <a:endParaRPr lang="en-US" altLang="ko-KR" sz="140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10158"/>
                  </a:ext>
                </a:extLst>
              </a:tr>
              <a:tr h="285571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dirty="0">
                          <a:effectLst/>
                        </a:rPr>
                        <a:t>jumped</a:t>
                      </a:r>
                      <a:endParaRPr lang="en-US" sz="14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ko-KR" sz="1400" dirty="0">
                          <a:effectLst/>
                        </a:rPr>
                        <a:t>3</a:t>
                      </a:r>
                      <a:endParaRPr lang="en-US" altLang="ko-KR" sz="14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2066997"/>
                  </a:ext>
                </a:extLst>
              </a:tr>
              <a:tr h="285571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>
                          <a:effectLst/>
                        </a:rPr>
                        <a:t>she</a:t>
                      </a:r>
                      <a:endParaRPr lang="en-US" sz="140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ko-KR" sz="1400" dirty="0">
                          <a:effectLst/>
                        </a:rPr>
                        <a:t>4</a:t>
                      </a:r>
                      <a:endParaRPr lang="en-US" altLang="ko-KR" sz="14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686608"/>
                  </a:ext>
                </a:extLst>
              </a:tr>
              <a:tr h="285571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dirty="0">
                          <a:effectLst/>
                        </a:rPr>
                        <a:t>opened</a:t>
                      </a:r>
                      <a:endParaRPr lang="en-US" sz="14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ko-KR" sz="1400">
                          <a:effectLst/>
                        </a:rPr>
                        <a:t>5</a:t>
                      </a:r>
                      <a:endParaRPr lang="en-US" altLang="ko-KR" sz="140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4770353"/>
                  </a:ext>
                </a:extLst>
              </a:tr>
              <a:tr h="285571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dirty="0">
                          <a:effectLst/>
                        </a:rPr>
                        <a:t>door</a:t>
                      </a:r>
                      <a:endParaRPr lang="en-US" sz="14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ko-KR" sz="1400">
                          <a:effectLst/>
                        </a:rPr>
                        <a:t>6</a:t>
                      </a:r>
                      <a:endParaRPr lang="en-US" altLang="ko-KR" sz="140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3066050"/>
                  </a:ext>
                </a:extLst>
              </a:tr>
              <a:tr h="285571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dirty="0">
                          <a:effectLst/>
                        </a:rPr>
                        <a:t>children</a:t>
                      </a:r>
                      <a:endParaRPr lang="en-US" sz="14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ko-KR" sz="1400">
                          <a:effectLst/>
                        </a:rPr>
                        <a:t>7</a:t>
                      </a:r>
                      <a:endParaRPr lang="en-US" altLang="ko-KR" sz="140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3929728"/>
                  </a:ext>
                </a:extLst>
              </a:tr>
              <a:tr h="285571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dirty="0">
                          <a:effectLst/>
                        </a:rPr>
                        <a:t>played</a:t>
                      </a:r>
                      <a:endParaRPr lang="en-US" sz="14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ko-KR" sz="1400">
                          <a:effectLst/>
                        </a:rPr>
                        <a:t>8</a:t>
                      </a:r>
                      <a:endParaRPr lang="en-US" altLang="ko-KR" sz="140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1560119"/>
                  </a:ext>
                </a:extLst>
              </a:tr>
              <a:tr h="285571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dirty="0">
                          <a:effectLst/>
                        </a:rPr>
                        <a:t>in</a:t>
                      </a:r>
                      <a:endParaRPr lang="en-US" sz="14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ko-KR" sz="1400">
                          <a:effectLst/>
                        </a:rPr>
                        <a:t>9</a:t>
                      </a:r>
                      <a:endParaRPr lang="en-US" altLang="ko-KR" sz="140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32822"/>
                  </a:ext>
                </a:extLst>
              </a:tr>
              <a:tr h="285571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dirty="0">
                          <a:effectLst/>
                        </a:rPr>
                        <a:t>park</a:t>
                      </a:r>
                      <a:endParaRPr lang="en-US" sz="14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ko-KR" sz="1400" dirty="0">
                          <a:effectLst/>
                        </a:rPr>
                        <a:t>10</a:t>
                      </a:r>
                      <a:endParaRPr lang="en-US" altLang="ko-KR" sz="1400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006835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3B8D9D0-7BD0-420B-87AA-22F24390306B}"/>
              </a:ext>
            </a:extLst>
          </p:cNvPr>
          <p:cNvSpPr txBox="1"/>
          <p:nvPr/>
        </p:nvSpPr>
        <p:spPr>
          <a:xfrm>
            <a:off x="3667124" y="4088876"/>
            <a:ext cx="505266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 Narrow" panose="020B0606020202030204" pitchFamily="34" charset="0"/>
              </a:rPr>
              <a:t>The cat jumped </a:t>
            </a:r>
            <a:r>
              <a:rPr lang="en-US" altLang="ko-KR" dirty="0"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altLang="ko-KR" dirty="0">
                <a:latin typeface="Arial Narrow" panose="020B0606020202030204" pitchFamily="34" charset="0"/>
              </a:rPr>
              <a:t> [1 , 2 , 3]</a:t>
            </a:r>
          </a:p>
          <a:p>
            <a:endParaRPr lang="en-US" altLang="ko-KR" dirty="0">
              <a:latin typeface="Arial Narrow" panose="020B0606020202030204" pitchFamily="34" charset="0"/>
            </a:endParaRPr>
          </a:p>
          <a:p>
            <a:r>
              <a:rPr lang="en-US" altLang="ko-KR" dirty="0">
                <a:latin typeface="Arial Narrow" panose="020B0606020202030204" pitchFamily="34" charset="0"/>
              </a:rPr>
              <a:t>She opened the door </a:t>
            </a:r>
            <a:r>
              <a:rPr lang="en-US" altLang="ko-KR" dirty="0"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altLang="ko-KR" dirty="0">
                <a:latin typeface="Arial Narrow" panose="020B0606020202030204" pitchFamily="34" charset="0"/>
              </a:rPr>
              <a:t> [4 , 5 , 1 , 6]</a:t>
            </a:r>
          </a:p>
          <a:p>
            <a:endParaRPr lang="en-US" altLang="ko-KR" dirty="0">
              <a:latin typeface="Arial Narrow" panose="020B0606020202030204" pitchFamily="34" charset="0"/>
            </a:endParaRPr>
          </a:p>
          <a:p>
            <a:r>
              <a:rPr lang="en-US" altLang="ko-KR" dirty="0">
                <a:latin typeface="Arial Narrow" panose="020B0606020202030204" pitchFamily="34" charset="0"/>
              </a:rPr>
              <a:t>Children played in the park </a:t>
            </a:r>
            <a:r>
              <a:rPr lang="en-US" altLang="ko-KR" dirty="0"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altLang="ko-KR" dirty="0">
                <a:latin typeface="Arial Narrow" panose="020B0606020202030204" pitchFamily="34" charset="0"/>
              </a:rPr>
              <a:t> [7 , 8 , 9 , 1 , 10]</a:t>
            </a:r>
            <a:endParaRPr lang="ko-KR" altLang="en-US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77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515390" cy="3965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Tokenization and Sequence Length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maxlen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: Maximum Length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Parameter to define the maximum length for each sequence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Shorter sequences are padded; longer sequences are truncated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If </a:t>
            </a:r>
            <a:r>
              <a:rPr lang="en-US" altLang="ko-KR" sz="18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maxlen</a:t>
            </a:r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 ==3:</a:t>
            </a:r>
          </a:p>
          <a:p>
            <a:pPr marL="1656000" lvl="3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The cat jumped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[1 , 2 , 3]</a:t>
            </a:r>
          </a:p>
          <a:p>
            <a:pPr marL="1656000" lvl="3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She opened the door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[4 , 5 , 1 , </a:t>
            </a:r>
            <a:r>
              <a:rPr lang="en-US" altLang="ko-KR" dirty="0">
                <a:latin typeface="Arial Narrow" panose="020B0606020202030204" pitchFamily="34" charset="0"/>
              </a:rPr>
              <a:t>6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]  or  [</a:t>
            </a:r>
            <a:r>
              <a:rPr lang="en-US" altLang="ko-KR" strike="sngStrike" dirty="0">
                <a:latin typeface="Arial Narrow" panose="020B0606020202030204" pitchFamily="34" charset="0"/>
              </a:rPr>
              <a:t>4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, 5 , 1 ,</a:t>
            </a:r>
            <a:r>
              <a:rPr lang="en-US" altLang="ko-KR" dirty="0">
                <a:latin typeface="Arial Narrow" panose="020B0606020202030204" pitchFamily="34" charset="0"/>
              </a:rPr>
              <a:t> 6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]</a:t>
            </a:r>
          </a:p>
          <a:p>
            <a:pPr marL="1656000" lvl="3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Children played in the park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 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[7 , 8 , 9 , </a:t>
            </a:r>
            <a:r>
              <a:rPr lang="en-US" altLang="ko-KR" dirty="0">
                <a:latin typeface="Arial Narrow" panose="020B0606020202030204" pitchFamily="34" charset="0"/>
              </a:rPr>
              <a:t>1 , 10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]  or  [7 , 8 , 9 , </a:t>
            </a:r>
            <a:r>
              <a:rPr lang="en-US" altLang="ko-KR" dirty="0">
                <a:latin typeface="Arial Narrow" panose="020B0606020202030204" pitchFamily="34" charset="0"/>
              </a:rPr>
              <a:t>1 , 10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]  or …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&quot;허용 안 됨&quot; 기호 1">
            <a:extLst>
              <a:ext uri="{FF2B5EF4-FFF2-40B4-BE49-F238E27FC236}">
                <a16:creationId xmlns:a16="http://schemas.microsoft.com/office/drawing/2014/main" id="{5273C48A-B818-867E-DCF4-2189B64BBFA6}"/>
              </a:ext>
            </a:extLst>
          </p:cNvPr>
          <p:cNvSpPr/>
          <p:nvPr/>
        </p:nvSpPr>
        <p:spPr>
          <a:xfrm>
            <a:off x="4945380" y="4373880"/>
            <a:ext cx="216000" cy="216000"/>
          </a:xfrm>
          <a:prstGeom prst="noSmoking">
            <a:avLst>
              <a:gd name="adj" fmla="val 9730"/>
            </a:avLst>
          </a:prstGeom>
          <a:solidFill>
            <a:srgbClr val="C0000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&quot;허용 안 됨&quot; 기호 3">
            <a:extLst>
              <a:ext uri="{FF2B5EF4-FFF2-40B4-BE49-F238E27FC236}">
                <a16:creationId xmlns:a16="http://schemas.microsoft.com/office/drawing/2014/main" id="{DE2C9377-6588-0773-CA38-FF7EEC6184DD}"/>
              </a:ext>
            </a:extLst>
          </p:cNvPr>
          <p:cNvSpPr/>
          <p:nvPr/>
        </p:nvSpPr>
        <p:spPr>
          <a:xfrm>
            <a:off x="5537100" y="4373880"/>
            <a:ext cx="216000" cy="216000"/>
          </a:xfrm>
          <a:prstGeom prst="noSmoking">
            <a:avLst>
              <a:gd name="adj" fmla="val 9730"/>
            </a:avLst>
          </a:prstGeom>
          <a:solidFill>
            <a:srgbClr val="C0000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&quot;허용 안 됨&quot; 기호 6">
            <a:extLst>
              <a:ext uri="{FF2B5EF4-FFF2-40B4-BE49-F238E27FC236}">
                <a16:creationId xmlns:a16="http://schemas.microsoft.com/office/drawing/2014/main" id="{D134A086-F351-EEFE-E3B2-A483F608B79B}"/>
              </a:ext>
            </a:extLst>
          </p:cNvPr>
          <p:cNvSpPr/>
          <p:nvPr/>
        </p:nvSpPr>
        <p:spPr>
          <a:xfrm>
            <a:off x="5429100" y="4785239"/>
            <a:ext cx="216000" cy="216000"/>
          </a:xfrm>
          <a:prstGeom prst="noSmoking">
            <a:avLst>
              <a:gd name="adj" fmla="val 9730"/>
            </a:avLst>
          </a:prstGeom>
          <a:solidFill>
            <a:srgbClr val="C0000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&quot;허용 안 됨&quot; 기호 7">
            <a:extLst>
              <a:ext uri="{FF2B5EF4-FFF2-40B4-BE49-F238E27FC236}">
                <a16:creationId xmlns:a16="http://schemas.microsoft.com/office/drawing/2014/main" id="{C711177A-34E6-077D-27AD-CECF4C62C063}"/>
              </a:ext>
            </a:extLst>
          </p:cNvPr>
          <p:cNvSpPr/>
          <p:nvPr/>
        </p:nvSpPr>
        <p:spPr>
          <a:xfrm>
            <a:off x="5753100" y="4785239"/>
            <a:ext cx="216000" cy="216000"/>
          </a:xfrm>
          <a:prstGeom prst="noSmoking">
            <a:avLst>
              <a:gd name="adj" fmla="val 9730"/>
            </a:avLst>
          </a:prstGeom>
          <a:solidFill>
            <a:srgbClr val="C0000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&quot;허용 안 됨&quot; 기호 8">
            <a:extLst>
              <a:ext uri="{FF2B5EF4-FFF2-40B4-BE49-F238E27FC236}">
                <a16:creationId xmlns:a16="http://schemas.microsoft.com/office/drawing/2014/main" id="{F415A7F5-8801-7FB6-D58D-4C8C7A32316B}"/>
              </a:ext>
            </a:extLst>
          </p:cNvPr>
          <p:cNvSpPr/>
          <p:nvPr/>
        </p:nvSpPr>
        <p:spPr>
          <a:xfrm>
            <a:off x="6366360" y="4785239"/>
            <a:ext cx="216000" cy="216000"/>
          </a:xfrm>
          <a:prstGeom prst="noSmoking">
            <a:avLst>
              <a:gd name="adj" fmla="val 9730"/>
            </a:avLst>
          </a:prstGeom>
          <a:solidFill>
            <a:srgbClr val="C0000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&quot;허용 안 됨&quot; 기호 10">
            <a:extLst>
              <a:ext uri="{FF2B5EF4-FFF2-40B4-BE49-F238E27FC236}">
                <a16:creationId xmlns:a16="http://schemas.microsoft.com/office/drawing/2014/main" id="{0FF5A37C-2E08-B72D-620F-3DBC0DAFAED7}"/>
              </a:ext>
            </a:extLst>
          </p:cNvPr>
          <p:cNvSpPr/>
          <p:nvPr/>
        </p:nvSpPr>
        <p:spPr>
          <a:xfrm>
            <a:off x="6645140" y="4785239"/>
            <a:ext cx="216000" cy="216000"/>
          </a:xfrm>
          <a:prstGeom prst="noSmoking">
            <a:avLst>
              <a:gd name="adj" fmla="val 9730"/>
            </a:avLst>
          </a:prstGeom>
          <a:solidFill>
            <a:srgbClr val="C0000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1E3C7-EDD1-54DE-6E77-9314DB4759C7}"/>
              </a:ext>
            </a:extLst>
          </p:cNvPr>
          <p:cNvSpPr txBox="1"/>
          <p:nvPr/>
        </p:nvSpPr>
        <p:spPr>
          <a:xfrm>
            <a:off x="4712235" y="4066103"/>
            <a:ext cx="9328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i="1">
                <a:solidFill>
                  <a:srgbClr val="C00000"/>
                </a:solidFill>
                <a:latin typeface="Arial Narrow" panose="020B0606020202030204" pitchFamily="34" charset="0"/>
              </a:rPr>
              <a:t>truncating</a:t>
            </a:r>
            <a:endParaRPr lang="ko-KR" altLang="en-US" sz="1400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4998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515390" cy="3965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Tokenization and Sequence Length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maxlen</a:t>
            </a: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: Maximum Length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Parameter to define the maximum length for each sequence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Shorter sequences are padded; longer sequences are truncated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If </a:t>
            </a:r>
            <a:r>
              <a:rPr lang="en-US" altLang="ko-KR" sz="18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maxlen</a:t>
            </a:r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 ==4:</a:t>
            </a:r>
          </a:p>
          <a:p>
            <a:pPr marL="1656000" lvl="3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The cat jumped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[1 , 2 , 3 , </a:t>
            </a:r>
            <a:r>
              <a:rPr lang="en-US" altLang="ko-KR" dirty="0">
                <a:solidFill>
                  <a:srgbClr val="C00000"/>
                </a:solidFill>
                <a:latin typeface="Arial Narrow" panose="020B0606020202030204" pitchFamily="34" charset="0"/>
              </a:rPr>
              <a:t>0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]</a:t>
            </a:r>
          </a:p>
          <a:p>
            <a:pPr marL="1656000" lvl="3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She opened the door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[4 , 5 , 1 , </a:t>
            </a:r>
            <a:r>
              <a:rPr lang="en-US" altLang="ko-KR" dirty="0">
                <a:latin typeface="Arial Narrow" panose="020B0606020202030204" pitchFamily="34" charset="0"/>
              </a:rPr>
              <a:t>6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]  or  [</a:t>
            </a:r>
            <a:r>
              <a:rPr lang="en-US" altLang="ko-KR" strike="sngStrike" dirty="0">
                <a:latin typeface="Arial Narrow" panose="020B0606020202030204" pitchFamily="34" charset="0"/>
              </a:rPr>
              <a:t>4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, 5 , 1 ,</a:t>
            </a:r>
            <a:r>
              <a:rPr lang="en-US" altLang="ko-KR" dirty="0">
                <a:latin typeface="Arial Narrow" panose="020B0606020202030204" pitchFamily="34" charset="0"/>
              </a:rPr>
              <a:t> 6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]</a:t>
            </a:r>
          </a:p>
          <a:p>
            <a:pPr marL="1656000" lvl="3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Children played in the park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 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[7 , 8 , 9 , </a:t>
            </a:r>
            <a:r>
              <a:rPr lang="en-US" altLang="ko-KR" dirty="0">
                <a:latin typeface="Arial Narrow" panose="020B0606020202030204" pitchFamily="34" charset="0"/>
              </a:rPr>
              <a:t>1 , 10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]  or  [7 , 8 , 9 , </a:t>
            </a:r>
            <a:r>
              <a:rPr lang="en-US" altLang="ko-KR" dirty="0">
                <a:latin typeface="Arial Narrow" panose="020B0606020202030204" pitchFamily="34" charset="0"/>
              </a:rPr>
              <a:t>1 , 10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]  or …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&quot;허용 안 됨&quot; 기호 7">
            <a:extLst>
              <a:ext uri="{FF2B5EF4-FFF2-40B4-BE49-F238E27FC236}">
                <a16:creationId xmlns:a16="http://schemas.microsoft.com/office/drawing/2014/main" id="{C711177A-34E6-077D-27AD-CECF4C62C063}"/>
              </a:ext>
            </a:extLst>
          </p:cNvPr>
          <p:cNvSpPr/>
          <p:nvPr/>
        </p:nvSpPr>
        <p:spPr>
          <a:xfrm>
            <a:off x="5753100" y="4785239"/>
            <a:ext cx="216000" cy="216000"/>
          </a:xfrm>
          <a:prstGeom prst="noSmoking">
            <a:avLst>
              <a:gd name="adj" fmla="val 9730"/>
            </a:avLst>
          </a:prstGeom>
          <a:solidFill>
            <a:srgbClr val="C0000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&quot;허용 안 됨&quot; 기호 8">
            <a:extLst>
              <a:ext uri="{FF2B5EF4-FFF2-40B4-BE49-F238E27FC236}">
                <a16:creationId xmlns:a16="http://schemas.microsoft.com/office/drawing/2014/main" id="{F415A7F5-8801-7FB6-D58D-4C8C7A32316B}"/>
              </a:ext>
            </a:extLst>
          </p:cNvPr>
          <p:cNvSpPr/>
          <p:nvPr/>
        </p:nvSpPr>
        <p:spPr>
          <a:xfrm>
            <a:off x="6366360" y="4785239"/>
            <a:ext cx="216000" cy="216000"/>
          </a:xfrm>
          <a:prstGeom prst="noSmoking">
            <a:avLst>
              <a:gd name="adj" fmla="val 9730"/>
            </a:avLst>
          </a:prstGeom>
          <a:solidFill>
            <a:srgbClr val="C0000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원형: 비어 있음 2">
            <a:extLst>
              <a:ext uri="{FF2B5EF4-FFF2-40B4-BE49-F238E27FC236}">
                <a16:creationId xmlns:a16="http://schemas.microsoft.com/office/drawing/2014/main" id="{4ACECCA5-0E8D-AC52-E091-71B8B74628B4}"/>
              </a:ext>
            </a:extLst>
          </p:cNvPr>
          <p:cNvSpPr/>
          <p:nvPr/>
        </p:nvSpPr>
        <p:spPr>
          <a:xfrm>
            <a:off x="4469991" y="3947793"/>
            <a:ext cx="252000" cy="252000"/>
          </a:xfrm>
          <a:prstGeom prst="donut">
            <a:avLst>
              <a:gd name="adj" fmla="val 544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FAA6AD-D564-5CFC-2617-3D591F07A3D5}"/>
              </a:ext>
            </a:extLst>
          </p:cNvPr>
          <p:cNvSpPr txBox="1"/>
          <p:nvPr/>
        </p:nvSpPr>
        <p:spPr>
          <a:xfrm>
            <a:off x="4372560" y="3652965"/>
            <a:ext cx="9328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i="1" dirty="0">
                <a:solidFill>
                  <a:srgbClr val="C00000"/>
                </a:solidFill>
                <a:latin typeface="Arial Narrow" panose="020B0606020202030204" pitchFamily="34" charset="0"/>
              </a:rPr>
              <a:t>Padding</a:t>
            </a:r>
            <a:endParaRPr lang="ko-KR" altLang="en-US" sz="1400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641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113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Understanding </a:t>
            </a:r>
            <a:r>
              <a:rPr lang="en-US" altLang="ko-KR" sz="24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text_to_word_sequence</a:t>
            </a: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 vs Tokenization</a:t>
            </a:r>
          </a:p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63A2A2-E5F1-353F-9F2A-5395FC99A10B}"/>
              </a:ext>
            </a:extLst>
          </p:cNvPr>
          <p:cNvSpPr txBox="1"/>
          <p:nvPr/>
        </p:nvSpPr>
        <p:spPr>
          <a:xfrm>
            <a:off x="1935019" y="3170535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3"/>
              </a:rPr>
              <a:t>https://colab.research.google.com/github/JunetaeKim/DeepLearningClass/blob/main/Week14/Tokenization.ipynb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9121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0" y="1139130"/>
            <a:ext cx="8515391" cy="52163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 Introduction to One-Hot Encoding with </a:t>
            </a:r>
            <a:r>
              <a:rPr lang="en-US" altLang="ko-KR" sz="24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Keras</a:t>
            </a:r>
            <a:endParaRPr lang="en-US" altLang="ko-KR" sz="24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What is One-Hot Encoding?: 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A method to convert categorical data, such as words, into numerical representations.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Represents each word as a binary vector with a length equal to the size of the vocabulary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Why use One-Hot Encoding?: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Machines can't directly understand text data, so we convert words into numerical representations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One-Hot Encoding is an easy and straightforward method for this conversion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Provides a simple input format for various NLP tasks and machine learning algorithms</a:t>
            </a: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747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0" y="1139130"/>
            <a:ext cx="8515391" cy="415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 Introduction to One-Hot Encoding with </a:t>
            </a:r>
            <a:r>
              <a:rPr lang="en-US" altLang="ko-KR" sz="24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Keras</a:t>
            </a:r>
            <a:endParaRPr lang="en-US" altLang="ko-KR" sz="24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A step-by-step guide with </a:t>
            </a:r>
            <a:r>
              <a:rPr lang="en-US" altLang="ko-KR" sz="20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Keras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Step 1: Tokenize the text</a:t>
            </a: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656000" lvl="3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Use 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Keras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' Tokenizer class to tokenize the text and build the vocabulary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Step 2: Convert words to indices</a:t>
            </a:r>
          </a:p>
          <a:p>
            <a:pPr marL="1656000" lvl="3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Use the 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texts_to_sequences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 method to map words to their corresponding indices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Step 3: Perform One-Hot Encoding</a:t>
            </a:r>
          </a:p>
          <a:p>
            <a:pPr marL="1656000" lvl="3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Use 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Keras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' 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to_categorical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 function to convert word indices into one-hot vectors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557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0" y="1139130"/>
            <a:ext cx="8515391" cy="2434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 Introduction to One-Hot Encoding with </a:t>
            </a:r>
            <a:r>
              <a:rPr lang="en-US" altLang="ko-KR" sz="24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Keras</a:t>
            </a:r>
            <a:endParaRPr lang="en-US" altLang="ko-KR" sz="24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Example text: 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“We enjoy ice cream on hot summer days.”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Result of one-hot encoding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37AA597-D5CF-D815-2E3A-B43B918E4EC0}"/>
              </a:ext>
            </a:extLst>
          </p:cNvPr>
          <p:cNvGrpSpPr/>
          <p:nvPr/>
        </p:nvGrpSpPr>
        <p:grpSpPr>
          <a:xfrm>
            <a:off x="2403835" y="3939561"/>
            <a:ext cx="3789575" cy="2308324"/>
            <a:chOff x="2592371" y="4200261"/>
            <a:chExt cx="3789575" cy="230832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1FDC121-BE06-AA76-1E89-3033F02EB4D0}"/>
                </a:ext>
              </a:extLst>
            </p:cNvPr>
            <p:cNvSpPr txBox="1"/>
            <p:nvPr/>
          </p:nvSpPr>
          <p:spPr>
            <a:xfrm>
              <a:off x="3539765" y="4200261"/>
              <a:ext cx="2842181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  [0. 1. 0. 0. 0. 0. 0. 0. 0.]</a:t>
              </a:r>
            </a:p>
            <a:p>
              <a:r>
                <a:rPr lang="en-US" altLang="ko-KR" dirty="0"/>
                <a:t>  [0. 0. 1. 0. 0. 0. 0. 0. 0.]</a:t>
              </a:r>
            </a:p>
            <a:p>
              <a:r>
                <a:rPr lang="en-US" altLang="ko-KR" dirty="0"/>
                <a:t>  [0. 0. 0. 1. 0. 0. 0. 0. 0.]</a:t>
              </a:r>
            </a:p>
            <a:p>
              <a:r>
                <a:rPr lang="en-US" altLang="ko-KR" dirty="0"/>
                <a:t>  [0. 0. 0. 0. 1. 0. 0. 0. 0.]</a:t>
              </a:r>
            </a:p>
            <a:p>
              <a:r>
                <a:rPr lang="en-US" altLang="ko-KR" dirty="0"/>
                <a:t>  [0. 0. 0. 0. 0. 1. 0. 0. 0.]</a:t>
              </a:r>
            </a:p>
            <a:p>
              <a:r>
                <a:rPr lang="en-US" altLang="ko-KR" dirty="0"/>
                <a:t>  [0. 0. 0. 0. 0. 0. 1. 0. 0.]</a:t>
              </a:r>
            </a:p>
            <a:p>
              <a:r>
                <a:rPr lang="en-US" altLang="ko-KR" dirty="0"/>
                <a:t>  [0. 0. 0. 0. 0. 0. 0. 1. 0.]</a:t>
              </a:r>
            </a:p>
            <a:p>
              <a:r>
                <a:rPr lang="en-US" altLang="ko-KR" dirty="0"/>
                <a:t>  [0. 0. 0. 0. 0. 0. 0. 0. 1.]</a:t>
              </a:r>
              <a:endParaRPr lang="ko-KR" alt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8B9FD63-5947-D8CE-AC5F-4B641AC4D07D}"/>
                </a:ext>
              </a:extLst>
            </p:cNvPr>
            <p:cNvSpPr txBox="1"/>
            <p:nvPr/>
          </p:nvSpPr>
          <p:spPr>
            <a:xfrm>
              <a:off x="2592371" y="4200261"/>
              <a:ext cx="952697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dirty="0"/>
                <a:t>We</a:t>
              </a:r>
            </a:p>
            <a:p>
              <a:pPr algn="r"/>
              <a:r>
                <a:rPr lang="en-US" altLang="ko-KR" sz="1800" dirty="0">
                  <a:solidFill>
                    <a:srgbClr val="222222"/>
                  </a:solidFill>
                  <a:latin typeface="Arial Narrow" panose="020B0606020202030204" pitchFamily="34" charset="0"/>
                </a:rPr>
                <a:t>enjoy</a:t>
              </a:r>
            </a:p>
            <a:p>
              <a:pPr algn="r"/>
              <a:r>
                <a:rPr lang="en-US" altLang="ko-KR" dirty="0"/>
                <a:t>ice</a:t>
              </a:r>
            </a:p>
            <a:p>
              <a:pPr algn="r"/>
              <a:r>
                <a:rPr lang="en-US" altLang="ko-KR" dirty="0"/>
                <a:t>cream</a:t>
              </a:r>
            </a:p>
            <a:p>
              <a:pPr algn="r"/>
              <a:r>
                <a:rPr lang="en-US" altLang="ko-KR" dirty="0"/>
                <a:t>on</a:t>
              </a:r>
            </a:p>
            <a:p>
              <a:pPr algn="r"/>
              <a:r>
                <a:rPr lang="en-US" altLang="ko-KR" dirty="0"/>
                <a:t>hot</a:t>
              </a:r>
            </a:p>
            <a:p>
              <a:pPr algn="r"/>
              <a:r>
                <a:rPr lang="en-US" altLang="ko-KR" dirty="0"/>
                <a:t>summer</a:t>
              </a:r>
            </a:p>
            <a:p>
              <a:pPr algn="r"/>
              <a:r>
                <a:rPr lang="en-US" altLang="ko-KR" dirty="0"/>
                <a:t>days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40792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113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One-Hot Encoding with </a:t>
            </a:r>
            <a:r>
              <a:rPr lang="en-US" altLang="ko-KR" sz="24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Keras</a:t>
            </a:r>
            <a:endParaRPr lang="en-US" altLang="ko-KR" sz="24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63A2A2-E5F1-353F-9F2A-5395FC99A10B}"/>
              </a:ext>
            </a:extLst>
          </p:cNvPr>
          <p:cNvSpPr txBox="1"/>
          <p:nvPr/>
        </p:nvSpPr>
        <p:spPr>
          <a:xfrm>
            <a:off x="1935019" y="3161108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3"/>
              </a:rPr>
              <a:t>https://colab.research.google.com/github/JunetaeKim/DeepLearningClass/blob/main/Week14/OneHotKeras.ipynb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4240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0" y="1139130"/>
            <a:ext cx="8544322" cy="54355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 Limitations and Alternatives to One-Hot Encoding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Limitations of One-Hot Encoding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Sparse representation: For large vocabularies, one-hot vectors can become very large with mostly zero values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Lack of semantic information: One-Hot Encoding doesn't capture relationships or similarities between words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Alternative Techniques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rgbClr val="C00000"/>
                </a:solidFill>
                <a:latin typeface="Arial Narrow" panose="020B0606020202030204" pitchFamily="34" charset="0"/>
              </a:rPr>
              <a:t>Word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b="1" dirty="0">
                <a:solidFill>
                  <a:srgbClr val="C00000"/>
                </a:solidFill>
                <a:latin typeface="Arial Narrow" panose="020B0606020202030204" pitchFamily="34" charset="0"/>
              </a:rPr>
              <a:t>Embeddings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(e.g., Word2Vec,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GloVe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): Dense, fixed-size vector representations that capture semantic relationships between words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Pre-trained Language Models (e.g., BERT, GPT): Provide contextualized word representations and improve performance on various NLP tasks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606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0" y="1139130"/>
            <a:ext cx="8544322" cy="5256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Word Embeddings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What are Word Embeddings?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Dense, fixed-size vector representations of words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Capture semantic relationships and similarities between words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Transform words into continuous vectors, enabling efficient processing and better performance in NLP tasks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Why use Word Embeddings?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Efficient and scalable, suitable for large datasets and vocabularies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Captures complex semantic and syntactic relationships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Pre-trained models available for various languages and domains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Facilitates learning from word similarities and relationships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287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0" y="1139130"/>
            <a:ext cx="8544322" cy="57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Word Embeddings vs One-Hot Encoding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15E1A8A5-576D-F0D2-6C0A-B34B84229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028513"/>
              </p:ext>
            </p:extLst>
          </p:nvPr>
        </p:nvGraphicFramePr>
        <p:xfrm>
          <a:off x="2574502" y="2242547"/>
          <a:ext cx="42672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1923341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103952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1523058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1205822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2517951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7115536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778041225"/>
                    </a:ext>
                  </a:extLst>
                </a:gridCol>
              </a:tblGrid>
              <a:tr h="1813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178390"/>
                  </a:ext>
                </a:extLst>
              </a:tr>
              <a:tr h="1813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937284"/>
                  </a:ext>
                </a:extLst>
              </a:tr>
              <a:tr h="1813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731820"/>
                  </a:ext>
                </a:extLst>
              </a:tr>
              <a:tr h="1813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219452"/>
                  </a:ext>
                </a:extLst>
              </a:tr>
              <a:tr h="1813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908928"/>
                  </a:ext>
                </a:extLst>
              </a:tr>
              <a:tr h="1813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874231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3E03E5C-D3C4-2067-DDFF-9E10B9742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402836"/>
              </p:ext>
            </p:extLst>
          </p:nvPr>
        </p:nvGraphicFramePr>
        <p:xfrm>
          <a:off x="1451728" y="2241514"/>
          <a:ext cx="1036949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949">
                  <a:extLst>
                    <a:ext uri="{9D8B030D-6E8A-4147-A177-3AD203B41FA5}">
                      <a16:colId xmlns:a16="http://schemas.microsoft.com/office/drawing/2014/main" val="16548843"/>
                    </a:ext>
                  </a:extLst>
                </a:gridCol>
              </a:tblGrid>
              <a:tr h="2135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/>
                        <a:t>We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1844433"/>
                  </a:ext>
                </a:extLst>
              </a:tr>
              <a:tr h="2135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/>
                        <a:t>enjoy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065810"/>
                  </a:ext>
                </a:extLst>
              </a:tr>
              <a:tr h="2135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/>
                        <a:t>ice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555175"/>
                  </a:ext>
                </a:extLst>
              </a:tr>
              <a:tr h="2135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/>
                        <a:t>cream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560689"/>
                  </a:ext>
                </a:extLst>
              </a:tr>
              <a:tr h="2135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/>
                        <a:t>in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433888"/>
                  </a:ext>
                </a:extLst>
              </a:tr>
              <a:tr h="2135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/>
                        <a:t>summer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787237"/>
                  </a:ext>
                </a:extLst>
              </a:tr>
            </a:tbl>
          </a:graphicData>
        </a:graphic>
      </p:graphicFrame>
      <p:graphicFrame>
        <p:nvGraphicFramePr>
          <p:cNvPr id="12" name="표 7">
            <a:extLst>
              <a:ext uri="{FF2B5EF4-FFF2-40B4-BE49-F238E27FC236}">
                <a16:creationId xmlns:a16="http://schemas.microsoft.com/office/drawing/2014/main" id="{578EF667-F3B9-E02B-1E37-6ED3EFD86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35590"/>
              </p:ext>
            </p:extLst>
          </p:nvPr>
        </p:nvGraphicFramePr>
        <p:xfrm>
          <a:off x="2574502" y="4393426"/>
          <a:ext cx="18288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1923341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103952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15230586"/>
                    </a:ext>
                  </a:extLst>
                </a:gridCol>
              </a:tblGrid>
              <a:tr h="1813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0.15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-0.1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1.23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178390"/>
                  </a:ext>
                </a:extLst>
              </a:tr>
              <a:tr h="1813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-2.12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-1.41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0.54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937284"/>
                  </a:ext>
                </a:extLst>
              </a:tr>
              <a:tr h="1813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-1.89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0.89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731820"/>
                  </a:ext>
                </a:extLst>
              </a:tr>
              <a:tr h="1813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0.76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-0.57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1.67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219452"/>
                  </a:ext>
                </a:extLst>
              </a:tr>
              <a:tr h="1813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1.25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1.61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0.87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908928"/>
                  </a:ext>
                </a:extLst>
              </a:tr>
              <a:tr h="1813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1.54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0.97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-0.78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874231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2CE4708-6B2A-D1E8-E4F5-9D4C07838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115170"/>
              </p:ext>
            </p:extLst>
          </p:nvPr>
        </p:nvGraphicFramePr>
        <p:xfrm>
          <a:off x="1451728" y="4392393"/>
          <a:ext cx="1036949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949">
                  <a:extLst>
                    <a:ext uri="{9D8B030D-6E8A-4147-A177-3AD203B41FA5}">
                      <a16:colId xmlns:a16="http://schemas.microsoft.com/office/drawing/2014/main" val="16548843"/>
                    </a:ext>
                  </a:extLst>
                </a:gridCol>
              </a:tblGrid>
              <a:tr h="2135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/>
                        <a:t>We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1844433"/>
                  </a:ext>
                </a:extLst>
              </a:tr>
              <a:tr h="2135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/>
                        <a:t>enjoy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065810"/>
                  </a:ext>
                </a:extLst>
              </a:tr>
              <a:tr h="2135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/>
                        <a:t>ice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555175"/>
                  </a:ext>
                </a:extLst>
              </a:tr>
              <a:tr h="2135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/>
                        <a:t>cream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560689"/>
                  </a:ext>
                </a:extLst>
              </a:tr>
              <a:tr h="2135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/>
                        <a:t>in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433888"/>
                  </a:ext>
                </a:extLst>
              </a:tr>
              <a:tr h="2135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/>
                        <a:t>summer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78723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D3F016B-F420-DCA4-47CC-C20FD30CEE89}"/>
              </a:ext>
            </a:extLst>
          </p:cNvPr>
          <p:cNvSpPr txBox="1"/>
          <p:nvPr/>
        </p:nvSpPr>
        <p:spPr>
          <a:xfrm rot="16200000">
            <a:off x="161456" y="296899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One-Hot Encoding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EF77ED-48E2-ED53-0E96-DB3988D3AF8E}"/>
              </a:ext>
            </a:extLst>
          </p:cNvPr>
          <p:cNvSpPr txBox="1"/>
          <p:nvPr/>
        </p:nvSpPr>
        <p:spPr>
          <a:xfrm rot="16200000">
            <a:off x="255973" y="5094094"/>
            <a:ext cx="16397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Word embedding</a:t>
            </a:r>
            <a:endParaRPr lang="ko-KR" altLang="en-US" dirty="0"/>
          </a:p>
        </p:txBody>
      </p:sp>
      <p:sp>
        <p:nvSpPr>
          <p:cNvPr id="17" name="왼쪽 중괄호 16">
            <a:extLst>
              <a:ext uri="{FF2B5EF4-FFF2-40B4-BE49-F238E27FC236}">
                <a16:creationId xmlns:a16="http://schemas.microsoft.com/office/drawing/2014/main" id="{CE241F8C-E271-486E-AD91-78AC467AEDB3}"/>
              </a:ext>
            </a:extLst>
          </p:cNvPr>
          <p:cNvSpPr/>
          <p:nvPr/>
        </p:nvSpPr>
        <p:spPr>
          <a:xfrm rot="5400000">
            <a:off x="4602900" y="-58540"/>
            <a:ext cx="210405" cy="4267200"/>
          </a:xfrm>
          <a:prstGeom prst="leftBrace">
            <a:avLst>
              <a:gd name="adj1" fmla="val 42268"/>
              <a:gd name="adj2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31A46A-BFC3-A98C-7139-96D36E695393}"/>
              </a:ext>
            </a:extLst>
          </p:cNvPr>
          <p:cNvSpPr txBox="1"/>
          <p:nvPr/>
        </p:nvSpPr>
        <p:spPr>
          <a:xfrm>
            <a:off x="4710851" y="1714847"/>
            <a:ext cx="18095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Word size + 1</a:t>
            </a:r>
            <a:endParaRPr lang="ko-KR" altLang="en-US" sz="1600" dirty="0"/>
          </a:p>
        </p:txBody>
      </p:sp>
      <p:sp>
        <p:nvSpPr>
          <p:cNvPr id="20" name="왼쪽 중괄호 19">
            <a:extLst>
              <a:ext uri="{FF2B5EF4-FFF2-40B4-BE49-F238E27FC236}">
                <a16:creationId xmlns:a16="http://schemas.microsoft.com/office/drawing/2014/main" id="{EA241C54-13B1-E3F9-99C7-0471B8C167B2}"/>
              </a:ext>
            </a:extLst>
          </p:cNvPr>
          <p:cNvSpPr/>
          <p:nvPr/>
        </p:nvSpPr>
        <p:spPr>
          <a:xfrm rot="16200000">
            <a:off x="3384752" y="5523651"/>
            <a:ext cx="208302" cy="1828799"/>
          </a:xfrm>
          <a:prstGeom prst="leftBrace">
            <a:avLst>
              <a:gd name="adj1" fmla="val 42268"/>
              <a:gd name="adj2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77D659-8032-90ED-0789-9DEE3FDF346B}"/>
              </a:ext>
            </a:extLst>
          </p:cNvPr>
          <p:cNvSpPr txBox="1"/>
          <p:nvPr/>
        </p:nvSpPr>
        <p:spPr>
          <a:xfrm>
            <a:off x="3488902" y="6449583"/>
            <a:ext cx="18095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Hyper-parameter</a:t>
            </a:r>
            <a:endParaRPr lang="ko-KR" altLang="en-US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8FC044-7BED-2D46-AD44-8D380CAA83F1}"/>
              </a:ext>
            </a:extLst>
          </p:cNvPr>
          <p:cNvSpPr txBox="1"/>
          <p:nvPr/>
        </p:nvSpPr>
        <p:spPr>
          <a:xfrm rot="20998750">
            <a:off x="5031156" y="5078705"/>
            <a:ext cx="29785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  <a:latin typeface="Arial Narrow" panose="020B0606020202030204" pitchFamily="34" charset="0"/>
              </a:rPr>
              <a:t>Efficient and effect approach</a:t>
            </a:r>
            <a:endParaRPr lang="ko-KR" alt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4637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312F0CB-A1EA-A177-7E7F-D9DB7FC6A687}"/>
              </a:ext>
            </a:extLst>
          </p:cNvPr>
          <p:cNvSpPr/>
          <p:nvPr/>
        </p:nvSpPr>
        <p:spPr>
          <a:xfrm>
            <a:off x="328770" y="1139130"/>
            <a:ext cx="8544322" cy="3133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Word Embeddings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Two learning algorithms for creating Word Embeddings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Continuous Bag-of-Words (CBOW): Predicts a target word based on its surrounding context words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Skip-gram: Predicts context words given a target word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7196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312F0CB-A1EA-A177-7E7F-D9DB7FC6A687}"/>
              </a:ext>
            </a:extLst>
          </p:cNvPr>
          <p:cNvSpPr/>
          <p:nvPr/>
        </p:nvSpPr>
        <p:spPr>
          <a:xfrm>
            <a:off x="328770" y="1139130"/>
            <a:ext cx="8544322" cy="1049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Word Embeddings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CBOW vs Skip-gram</a:t>
            </a:r>
            <a:endParaRPr lang="en-US" altLang="ko-KR" dirty="0">
              <a:latin typeface="Arial Narrow" panose="020B0606020202030204" pitchFamily="34" charset="0"/>
            </a:endParaRPr>
          </a:p>
        </p:txBody>
      </p:sp>
      <p:pic>
        <p:nvPicPr>
          <p:cNvPr id="2050" name="Picture 2" descr="cbow word2vec">
            <a:extLst>
              <a:ext uri="{FF2B5EF4-FFF2-40B4-BE49-F238E27FC236}">
                <a16:creationId xmlns:a16="http://schemas.microsoft.com/office/drawing/2014/main" id="{F69D8983-B411-A7ED-847F-998D83071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99" y="2394584"/>
            <a:ext cx="8662801" cy="3702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B09125-3F22-C0D6-B9FE-8317169CAC29}"/>
              </a:ext>
            </a:extLst>
          </p:cNvPr>
          <p:cNvSpPr txBox="1"/>
          <p:nvPr/>
        </p:nvSpPr>
        <p:spPr>
          <a:xfrm>
            <a:off x="2564189" y="6479620"/>
            <a:ext cx="65798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Source: https://dataaspirant.com/wp-content/uploads/2020/08/10-cbow-word2vec.png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357005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312F0CB-A1EA-A177-7E7F-D9DB7FC6A687}"/>
              </a:ext>
            </a:extLst>
          </p:cNvPr>
          <p:cNvSpPr/>
          <p:nvPr/>
        </p:nvSpPr>
        <p:spPr>
          <a:xfrm>
            <a:off x="328770" y="1139130"/>
            <a:ext cx="8544322" cy="4518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Word Embedding with </a:t>
            </a:r>
            <a:r>
              <a:rPr lang="en-US" altLang="ko-KR" sz="24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Keras</a:t>
            </a:r>
            <a:endParaRPr lang="en-US" altLang="ko-KR" sz="24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Mechanism and procedure for Word Embeddings in </a:t>
            </a:r>
            <a:r>
              <a:rPr lang="en-US" altLang="ko-KR" sz="20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Keras</a:t>
            </a: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Step 1: Word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Integer mapping</a:t>
            </a: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656000" lvl="3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We 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 0 , enjoy 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 1 , ice  2 , cream  3, </a:t>
            </a:r>
            <a:r>
              <a:rPr lang="en-US" altLang="ko-KR" sz="1600" dirty="0" err="1">
                <a:solidFill>
                  <a:srgbClr val="222222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etc</a:t>
            </a: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Step 2: Integer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lookup table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 embedding vector 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656000" lvl="3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Using a lookup table, when a specific word is encountered, the corresponding integer ID is used to retrieve the associated embedding vector.</a:t>
            </a:r>
          </a:p>
          <a:p>
            <a:pPr marL="1656000" lvl="3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We 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 0 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</a:p>
          <a:p>
            <a:pPr marL="1656000" lvl="3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enjoy 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 1 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altLang="ko-KR" sz="1600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Arial Narrow" panose="020B0606020202030204" pitchFamily="34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46C1089-4211-8192-EBC7-2493BD3866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84059"/>
              </p:ext>
            </p:extLst>
          </p:nvPr>
        </p:nvGraphicFramePr>
        <p:xfrm>
          <a:off x="3057525" y="4593948"/>
          <a:ext cx="775944" cy="1766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8648">
                  <a:extLst>
                    <a:ext uri="{9D8B030D-6E8A-4147-A177-3AD203B41FA5}">
                      <a16:colId xmlns:a16="http://schemas.microsoft.com/office/drawing/2014/main" val="330090719"/>
                    </a:ext>
                  </a:extLst>
                </a:gridCol>
                <a:gridCol w="258648">
                  <a:extLst>
                    <a:ext uri="{9D8B030D-6E8A-4147-A177-3AD203B41FA5}">
                      <a16:colId xmlns:a16="http://schemas.microsoft.com/office/drawing/2014/main" val="1240424932"/>
                    </a:ext>
                  </a:extLst>
                </a:gridCol>
                <a:gridCol w="258648">
                  <a:extLst>
                    <a:ext uri="{9D8B030D-6E8A-4147-A177-3AD203B41FA5}">
                      <a16:colId xmlns:a16="http://schemas.microsoft.com/office/drawing/2014/main" val="2228966134"/>
                    </a:ext>
                  </a:extLst>
                </a:gridCol>
              </a:tblGrid>
              <a:tr h="176645">
                <a:tc>
                  <a:txBody>
                    <a:bodyPr/>
                    <a:lstStyle/>
                    <a:p>
                      <a:pPr algn="ctr" latinLnBrk="1"/>
                      <a:endParaRPr lang="ko-KR" altLang="en-US" sz="3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00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673895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DF593AD-B709-C2AD-2CB3-FD00AF28A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225174"/>
              </p:ext>
            </p:extLst>
          </p:nvPr>
        </p:nvGraphicFramePr>
        <p:xfrm>
          <a:off x="3172218" y="4964149"/>
          <a:ext cx="775944" cy="1766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8648">
                  <a:extLst>
                    <a:ext uri="{9D8B030D-6E8A-4147-A177-3AD203B41FA5}">
                      <a16:colId xmlns:a16="http://schemas.microsoft.com/office/drawing/2014/main" val="330090719"/>
                    </a:ext>
                  </a:extLst>
                </a:gridCol>
                <a:gridCol w="258648">
                  <a:extLst>
                    <a:ext uri="{9D8B030D-6E8A-4147-A177-3AD203B41FA5}">
                      <a16:colId xmlns:a16="http://schemas.microsoft.com/office/drawing/2014/main" val="1240424932"/>
                    </a:ext>
                  </a:extLst>
                </a:gridCol>
                <a:gridCol w="258648">
                  <a:extLst>
                    <a:ext uri="{9D8B030D-6E8A-4147-A177-3AD203B41FA5}">
                      <a16:colId xmlns:a16="http://schemas.microsoft.com/office/drawing/2014/main" val="2228966134"/>
                    </a:ext>
                  </a:extLst>
                </a:gridCol>
              </a:tblGrid>
              <a:tr h="176645">
                <a:tc>
                  <a:txBody>
                    <a:bodyPr/>
                    <a:lstStyle/>
                    <a:p>
                      <a:pPr algn="ctr" latinLnBrk="1"/>
                      <a:endParaRPr lang="ko-KR" altLang="en-US" sz="3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673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3907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312F0CB-A1EA-A177-7E7F-D9DB7FC6A687}"/>
              </a:ext>
            </a:extLst>
          </p:cNvPr>
          <p:cNvSpPr/>
          <p:nvPr/>
        </p:nvSpPr>
        <p:spPr>
          <a:xfrm>
            <a:off x="328770" y="1139130"/>
            <a:ext cx="8544322" cy="5672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Word Embedding with </a:t>
            </a:r>
            <a:r>
              <a:rPr lang="en-US" altLang="ko-KR" sz="24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Keras</a:t>
            </a:r>
            <a:endParaRPr lang="en-US" altLang="ko-KR" sz="24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Embedding() Function in </a:t>
            </a:r>
            <a:r>
              <a:rPr lang="en-US" altLang="ko-KR" sz="20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Keras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: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</a:rPr>
              <a:t>from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keras.</a:t>
            </a:r>
            <a:r>
              <a:rPr lang="en-US" altLang="ko-KR" dirty="0" err="1">
                <a:solidFill>
                  <a:srgbClr val="0070C0"/>
                </a:solidFill>
                <a:latin typeface="Arial Narrow" panose="020B0606020202030204" pitchFamily="34" charset="0"/>
              </a:rPr>
              <a:t>layers</a:t>
            </a:r>
            <a:r>
              <a:rPr lang="en-US" altLang="ko-KR" dirty="0">
                <a:solidFill>
                  <a:srgbClr val="0070C0"/>
                </a:solidFill>
                <a:latin typeface="Arial Narrow" panose="020B0606020202030204" pitchFamily="34" charset="0"/>
              </a:rPr>
              <a:t>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</a:rPr>
              <a:t>import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Embedding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Two mandatory parameters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222222"/>
                </a:solidFill>
                <a:latin typeface="Arial Narrow" panose="020B0606020202030204" pitchFamily="34" charset="0"/>
              </a:rPr>
              <a:t>①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the size of the ‘input’ and </a:t>
            </a:r>
            <a:r>
              <a:rPr lang="ko-KR" altLang="en-US" dirty="0">
                <a:solidFill>
                  <a:srgbClr val="222222"/>
                </a:solidFill>
                <a:latin typeface="Arial Narrow" panose="020B0606020202030204" pitchFamily="34" charset="0"/>
              </a:rPr>
              <a:t>②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the size of the ‘output.’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Ex) “Embedding(16, 4)“means that there are a total of 16 unique words for input, and the output vector size after embedding will be 4.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Optional parameter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the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input_length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: to control how many words are fed into the model at once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"Embedding(16, 4,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input_length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=2)" indicates that although there are 16 unique input words, only 2 words will be processed in each iteration.</a:t>
            </a:r>
            <a:endParaRPr lang="en-US" altLang="ko-KR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5132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113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Understanding the Mechanism of Word Embedding with </a:t>
            </a:r>
            <a:r>
              <a:rPr lang="en-US" altLang="ko-KR" sz="24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Keras</a:t>
            </a:r>
            <a:endParaRPr lang="en-US" altLang="ko-KR" sz="24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63A2A2-E5F1-353F-9F2A-5395FC99A10B}"/>
              </a:ext>
            </a:extLst>
          </p:cNvPr>
          <p:cNvSpPr txBox="1"/>
          <p:nvPr/>
        </p:nvSpPr>
        <p:spPr>
          <a:xfrm>
            <a:off x="1935019" y="3161108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3"/>
              </a:rPr>
              <a:t>https://colab.research.google.com/github/JunetaeKim/DeepLearningClass/blob/main/Week14/WordEmbedding.ipynb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17124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0" y="1139130"/>
            <a:ext cx="8544322" cy="27176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Simple Application Exercise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Sentiment Analysis Overview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Definition: Sentiment analysis, also known as opinion mining, is the process of determining the sentiment or emotion expressed in a piece of text.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Types of sentiment analysis: Binary (positive/negative), multi-class (positive/neutral/negative), and sentiment intensity.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2812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0" y="1139130"/>
            <a:ext cx="8173880" cy="354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Simple Application Exercise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Building a Sentiment Analysis Model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Data preparation: 20 toy sentences (10 pos. and 10 neg.)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Padding: Making all input sequences have the same length by either padding shorter sequences with zeros at the end or truncating longer sequences to the specified maximum length.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Model architecture: Design the neural network architecture, including embedding and DNN layers.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2592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113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Building a Sentiment Analysis Model with </a:t>
            </a:r>
            <a:r>
              <a:rPr lang="en-US" altLang="ko-KR" sz="24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Keras</a:t>
            </a:r>
            <a:endParaRPr lang="en-US" altLang="ko-KR" sz="24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63A2A2-E5F1-353F-9F2A-5395FC99A10B}"/>
              </a:ext>
            </a:extLst>
          </p:cNvPr>
          <p:cNvSpPr txBox="1"/>
          <p:nvPr/>
        </p:nvSpPr>
        <p:spPr>
          <a:xfrm>
            <a:off x="1935019" y="3161108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3"/>
              </a:rPr>
              <a:t>https://colab.research.google.com/github/JunetaeKim/DeepLearningClass/blob/main/Week14/ToySentimental.ipynb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83289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69" y="1139130"/>
            <a:ext cx="8386605" cy="4512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Exercise1: Reuters News Category Classification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Reuters Data overview 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A dataset of 11,228 newswires from the Reuters news agency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Labeled across 46 different topics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Dataset structure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Data can be divided into training and testing sets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Each sample is a list of integers, representing words as indices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Words are preprocessed and tokenized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2680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69" y="1139130"/>
            <a:ext cx="8386605" cy="4927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Exercise1: Reuters News Category Classification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Labels 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Integer labels ranging from 0 to 45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Represent the 46 different topics/categories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Label information: 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  <a:hlinkClick r:id="rId3"/>
              </a:rPr>
              <a:t>https://martin-thoma.com/nlp-reuters/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Usage in </a:t>
            </a:r>
            <a:r>
              <a:rPr lang="en-US" altLang="ko-KR" sz="2000" dirty="0" err="1">
                <a:solidFill>
                  <a:srgbClr val="222222"/>
                </a:solidFill>
                <a:latin typeface="Arial Narrow" panose="020B0606020202030204" pitchFamily="34" charset="0"/>
              </a:rPr>
              <a:t>Keras</a:t>
            </a: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Easily accessible using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keras.datasets.reuters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Can limit the number of words by specifying the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num_words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 parameter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Word index mapping can be obtained using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reuters.get_word_index</a:t>
            </a: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()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4011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69" y="1139130"/>
            <a:ext cx="8183635" cy="4887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Exercise1: Reuters News Category Classification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Goals: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Model Structure Objectives:</a:t>
            </a:r>
          </a:p>
          <a:p>
            <a:pPr marL="1714500" lvl="3" indent="-342900">
              <a:lnSpc>
                <a:spcPct val="150000"/>
              </a:lnSpc>
              <a:buFont typeface="+mj-lt"/>
              <a:buAutoNum type="alphaLcPeriod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Create a layer that embeds sentences.</a:t>
            </a:r>
          </a:p>
          <a:p>
            <a:pPr marL="1714500" lvl="3" indent="-342900">
              <a:lnSpc>
                <a:spcPct val="150000"/>
              </a:lnSpc>
              <a:buFont typeface="+mj-lt"/>
              <a:buAutoNum type="alphaLcPeriod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Design a structure where embedded vectors pass through an LSTM layer for predictions.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Model Evaluation:</a:t>
            </a:r>
          </a:p>
          <a:p>
            <a:pPr marL="1828800" lvl="3" indent="-457200">
              <a:lnSpc>
                <a:spcPct val="150000"/>
              </a:lnSpc>
              <a:buFont typeface="+mj-lt"/>
              <a:buAutoNum type="alphaLcPeriod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Assess the performance of the model on the given dataset.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Student Challenge: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Making classification of a new sentence into one of the Reuters news categories.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7453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2" y="1139130"/>
            <a:ext cx="8643778" cy="113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Exercise1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B3309B0-9FAF-B08A-2228-DB5B26F7E72B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 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AF13AF6-01D4-FB8A-E877-EDF17A2F06FA}"/>
              </a:ext>
            </a:extLst>
          </p:cNvPr>
          <p:cNvSpPr txBox="1"/>
          <p:nvPr/>
        </p:nvSpPr>
        <p:spPr>
          <a:xfrm>
            <a:off x="2055756" y="2502932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3"/>
              </a:rPr>
              <a:t>https://colab.research.google.com/github/JunetaeKim/DeepLearningClass/blob/main/Week14/ReutersNews.ipynb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25B7DA9-BA3C-C9D9-C110-F805A3BA6883}"/>
              </a:ext>
            </a:extLst>
          </p:cNvPr>
          <p:cNvSpPr txBox="1"/>
          <p:nvPr/>
        </p:nvSpPr>
        <p:spPr>
          <a:xfrm>
            <a:off x="2055756" y="21336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222222"/>
                </a:solidFill>
                <a:latin typeface="Arial Narrow" panose="020B0606020202030204" pitchFamily="34" charset="0"/>
              </a:rPr>
              <a:t>For students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07422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69" y="1139130"/>
            <a:ext cx="8544321" cy="4841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Word Embedding Visualization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UMAP for Word Embedding Visualization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UMAP is a non-linear dimensionality reduction technique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It preserves both local and global structure of the high-dimensional data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Suitable for visualizing complex data structures, such as word embeddings.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Arial Narrow" panose="020B0606020202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rial Narrow" panose="020B0606020202030204" pitchFamily="34" charset="0"/>
              </a:rPr>
              <a:t>Why use UMAP for word embeddings?</a:t>
            </a:r>
            <a:endParaRPr lang="en-US" altLang="ko-KR" dirty="0"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Word embeddings can have high dimensionality (e.g., 100, or more dimensions)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Visualizing high-dimensional data is challenging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 Narrow" panose="020B0606020202030204" pitchFamily="34" charset="0"/>
              </a:rPr>
              <a:t>UMAP helps to project high-dimensional data onto a 2D or 3D space, which is easier to visualize and interpret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2838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69" y="1139130"/>
            <a:ext cx="8544321" cy="5308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Word Embedding Visualization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Steps of Word Embedding Visualization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Arial Narrow" panose="020B0606020202030204" pitchFamily="34" charset="0"/>
              </a:rPr>
              <a:t>Obtain word embeddings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Arial Narrow" panose="020B0606020202030204" pitchFamily="34" charset="0"/>
              </a:rPr>
              <a:t>Train a model with an embedding layer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Arial Narrow" panose="020B0606020202030204" pitchFamily="34" charset="0"/>
              </a:rPr>
              <a:t>Extract the embedding matrix (word vectors) from the trained model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Arial Narrow" panose="020B0606020202030204" pitchFamily="34" charset="0"/>
              </a:rPr>
              <a:t>Apply UMAP for dimensionality reduction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Arial Narrow" panose="020B0606020202030204" pitchFamily="34" charset="0"/>
              </a:rPr>
              <a:t>Create a UMAP reducer with desired parameters 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Arial Narrow" panose="020B0606020202030204" pitchFamily="34" charset="0"/>
              </a:rPr>
              <a:t>Fit the reducer to the embedding matrix and transform it into a lower-dimensional space </a:t>
            </a:r>
            <a:endParaRPr lang="en-US" altLang="ko-KR" dirty="0"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endParaRPr lang="en-US" altLang="ko-KR" dirty="0">
              <a:latin typeface="Arial Narrow" panose="020B060602020203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Arial Narrow" panose="020B0606020202030204" pitchFamily="34" charset="0"/>
              </a:rPr>
              <a:t>Visualize the reduced embeddings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Arial Narrow" panose="020B0606020202030204" pitchFamily="34" charset="0"/>
              </a:rPr>
              <a:t>Use a visualization library to create a scatter plot of the 2D embeddings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Arial Narrow" panose="020B0606020202030204" pitchFamily="34" charset="0"/>
              </a:rPr>
              <a:t>Interpret the plot to identify clusters, relationships, and patterns between words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5610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113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Word Embedding Visualization</a:t>
            </a:r>
          </a:p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63A2A2-E5F1-353F-9F2A-5395FC99A10B}"/>
              </a:ext>
            </a:extLst>
          </p:cNvPr>
          <p:cNvSpPr txBox="1"/>
          <p:nvPr/>
        </p:nvSpPr>
        <p:spPr>
          <a:xfrm>
            <a:off x="1935019" y="3161108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3"/>
              </a:rPr>
              <a:t>https://colab.research.google.com/github/JunetaeKim/DeepLearningClass/blob/main/Week14/VisualizationEmbedding.ipynb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26757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69" y="1139130"/>
            <a:ext cx="8386605" cy="4518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Exercise2: Prediction of Sentiment Labels on the IMDB Dataset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Objective 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Build models to predict sentiment labels on the IMDB dataset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IMDB Dataset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A popular dataset for sentiment analysis containing movie reviews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50,000 movie reviews labeled as positive (1) or negative (0)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The dataset is preprocessed and available in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Keras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0729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69" y="1139130"/>
            <a:ext cx="8386605" cy="3133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Exercise2: Prediction of Sentiment Labels on the IMDB Dataset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Model Architectures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Embedding: Convert words into dense vectors that capture the semantic meaning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CNN: Apply convolutional layers to detect local patterns in the sequence of word vectors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LSTM: Use LSTM layers to model long-range dependencies and capture the temporal structure of the text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6548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69" y="1139130"/>
            <a:ext cx="8386605" cy="5302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Exercise2: Prediction of Sentiment Labels on the IMDB Dataset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Preprocess data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Load the IMDB dataset using </a:t>
            </a:r>
            <a:r>
              <a:rPr lang="en-US" altLang="ko-KR" dirty="0" err="1">
                <a:solidFill>
                  <a:srgbClr val="222222"/>
                </a:solidFill>
                <a:latin typeface="Arial Narrow" panose="020B0606020202030204" pitchFamily="34" charset="0"/>
              </a:rPr>
              <a:t>Keras</a:t>
            </a:r>
            <a:endParaRPr lang="en-US" altLang="ko-KR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Limit the vocabulary to the top 10,000 most frequent words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Pad the sequences to a fixed length of 500 words for input to the models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Create models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Build a model using Embedding, CNN, and LSTM layers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Combine layers as needed, e.g., Embedding followed by CNN and LSTM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Train models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Compile the model using binary cross-entropy loss and the RMSprop optimizer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Fit the model using the training data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Monitor training progress and loss/accuracy metrics with validation data</a:t>
            </a:r>
            <a:endParaRPr lang="en-US" altLang="ko-K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0704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69" y="1139130"/>
            <a:ext cx="8386605" cy="5297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Exercise2: Prediction of Sentiment Labels on the IMDB Dataset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Evaluate performance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Test the model's performance on the test dataset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Report loss and accuracy metrics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Analyze embeddings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Extract the word embeddings from the trained model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Compute cosine similarity between pairs of word vectors to measure their semantic similarity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Use cosine similarity to analyze the relationships between words in the learned embedding space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Visualize the cosine similarity matrix using a heatmap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Apply clustering to the heatmap to reveal patterns in the word embeddings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3820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69" y="1139130"/>
            <a:ext cx="8544321" cy="350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Cosine Similarity for Word Embeddings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What is cosine similarity?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A widely-used metric to measure the similarity between two vectors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It calculates the cosine of the angle between the two vectors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Ranges between -1 and 1, where -1 indicates complete dissimilarity, 1 indicates complete similarity, and 0 indicates orthogonality (independence)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Suitable for high-dimensional data, such as word embeddings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600" dirty="0"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7802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69" y="1139130"/>
            <a:ext cx="8544321" cy="2302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Cosine Similarity for Word Embeddings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What is cosine similarity?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Cosine Similarity(A, B) = (A • B) / (||A|| ||B||)</a:t>
            </a:r>
          </a:p>
          <a:p>
            <a:pPr marL="1198800" lvl="2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22222"/>
                </a:solidFill>
                <a:latin typeface="Arial Narrow" panose="020B0606020202030204" pitchFamily="34" charset="0"/>
              </a:rPr>
              <a:t>where A and B are vectors, • denotes the dot product, and ||A|| and ||B|| represent the magnitudes of A and B, respectively</a:t>
            </a:r>
            <a:endParaRPr lang="en-US" altLang="ko-KR" sz="1600" dirty="0"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How Cosine Similarity Can Improve Your Machine Learning Models - aiTechTrend">
            <a:extLst>
              <a:ext uri="{FF2B5EF4-FFF2-40B4-BE49-F238E27FC236}">
                <a16:creationId xmlns:a16="http://schemas.microsoft.com/office/drawing/2014/main" id="{F1FA9B7A-57D0-21ED-5A7E-2B61D83AAA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67"/>
          <a:stretch/>
        </p:blipFill>
        <p:spPr bwMode="auto">
          <a:xfrm>
            <a:off x="1795332" y="3723114"/>
            <a:ext cx="4343666" cy="282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459C8E-C1C8-D602-1B1C-3C53DEB0C379}"/>
              </a:ext>
            </a:extLst>
          </p:cNvPr>
          <p:cNvSpPr txBox="1"/>
          <p:nvPr/>
        </p:nvSpPr>
        <p:spPr>
          <a:xfrm>
            <a:off x="2686639" y="6593299"/>
            <a:ext cx="64573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Source: https://aitechtrend.com/how-cosine-similarity-can-improve-your-machine-learning-models/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0427622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69" y="1139130"/>
            <a:ext cx="8544321" cy="3133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Exercise2: Prediction of Sentiment Labels on the IMDB Dataset</a:t>
            </a:r>
          </a:p>
          <a:p>
            <a:pPr marL="741600" lvl="1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Steps of Applying Cosine Similarity to Word Embeddings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Arial Narrow" panose="020B0606020202030204" pitchFamily="34" charset="0"/>
              </a:rPr>
              <a:t>Extract embedding matrix from the trained model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Arial Narrow" panose="020B0606020202030204" pitchFamily="34" charset="0"/>
              </a:rPr>
              <a:t>Compute the cosine similarity between pairs of word vectors using the formula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Arial Narrow" panose="020B0606020202030204" pitchFamily="34" charset="0"/>
              </a:rPr>
              <a:t>(Optional) Select a subset of word vectors for reduced computation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Arial Narrow" panose="020B0606020202030204" pitchFamily="34" charset="0"/>
              </a:rPr>
              <a:t>Analyze and visualize the cosine similarity matrix using heatmaps, clustering, or other visualization techniques</a:t>
            </a:r>
            <a:endParaRPr lang="en-US" altLang="ko-KR" sz="1600" dirty="0"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0576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/>
          <p:cNvCxnSpPr/>
          <p:nvPr/>
        </p:nvCxnSpPr>
        <p:spPr>
          <a:xfrm>
            <a:off x="361950" y="857250"/>
            <a:ext cx="5391150" cy="0"/>
          </a:xfrm>
          <a:prstGeom prst="line">
            <a:avLst/>
          </a:prstGeom>
          <a:ln w="38100">
            <a:solidFill>
              <a:schemeClr val="accent2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257550" y="933450"/>
            <a:ext cx="5391150" cy="0"/>
          </a:xfrm>
          <a:prstGeom prst="line">
            <a:avLst/>
          </a:prstGeom>
          <a:ln w="38100">
            <a:solidFill>
              <a:schemeClr val="accent6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7D8DF-F1AC-5E24-6D05-87B8D3343A78}"/>
              </a:ext>
            </a:extLst>
          </p:cNvPr>
          <p:cNvSpPr/>
          <p:nvPr/>
        </p:nvSpPr>
        <p:spPr>
          <a:xfrm>
            <a:off x="328771" y="1139130"/>
            <a:ext cx="8742077" cy="113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Prediction of Sentiment Labels on the IMDB Dataset</a:t>
            </a:r>
          </a:p>
          <a:p>
            <a:pPr marL="284400" indent="-28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222222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458C1-6B85-ECDF-7351-770B57E86129}"/>
              </a:ext>
            </a:extLst>
          </p:cNvPr>
          <p:cNvSpPr/>
          <p:nvPr/>
        </p:nvSpPr>
        <p:spPr>
          <a:xfrm>
            <a:off x="299839" y="70603"/>
            <a:ext cx="8544322" cy="657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22222"/>
                </a:solidFill>
                <a:latin typeface="Arial Narrow" panose="020B0606020202030204" pitchFamily="34" charset="0"/>
              </a:rPr>
              <a:t>Introduction to natural language processing</a:t>
            </a:r>
            <a:endParaRPr lang="en-US" altLang="ko-KR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63A2A2-E5F1-353F-9F2A-5395FC99A10B}"/>
              </a:ext>
            </a:extLst>
          </p:cNvPr>
          <p:cNvSpPr txBox="1"/>
          <p:nvPr/>
        </p:nvSpPr>
        <p:spPr>
          <a:xfrm>
            <a:off x="1935019" y="3161108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3"/>
              </a:rPr>
              <a:t>https://colab.research.google.com/github/JunetaeKim/DeepLearningClass/blob/main/Week14/IMDBClassification.ipynb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4567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28237</TotalTime>
  <Words>3209</Words>
  <Application>Microsoft Office PowerPoint</Application>
  <PresentationFormat>화면 슬라이드 쇼(4:3)</PresentationFormat>
  <Paragraphs>517</Paragraphs>
  <Slides>45</Slides>
  <Notes>44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1" baseType="lpstr">
      <vt:lpstr>맑은 고딕</vt:lpstr>
      <vt:lpstr>Arial</vt:lpstr>
      <vt:lpstr>Arial Narrow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김준태</dc:creator>
  <cp:lastModifiedBy>준태 김</cp:lastModifiedBy>
  <cp:revision>2831</cp:revision>
  <cp:lastPrinted>2017-04-16T10:58:23Z</cp:lastPrinted>
  <dcterms:created xsi:type="dcterms:W3CDTF">2017-03-22T07:59:28Z</dcterms:created>
  <dcterms:modified xsi:type="dcterms:W3CDTF">2025-06-11T23:10:09Z</dcterms:modified>
</cp:coreProperties>
</file>