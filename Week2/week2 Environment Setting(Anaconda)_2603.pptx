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handoutMasterIdLst>
    <p:handoutMasterId r:id="rId61"/>
  </p:handoutMasterIdLst>
  <p:sldIdLst>
    <p:sldId id="265" r:id="rId2"/>
    <p:sldId id="509" r:id="rId3"/>
    <p:sldId id="599" r:id="rId4"/>
    <p:sldId id="559" r:id="rId5"/>
    <p:sldId id="560" r:id="rId6"/>
    <p:sldId id="561" r:id="rId7"/>
    <p:sldId id="546" r:id="rId8"/>
    <p:sldId id="562" r:id="rId9"/>
    <p:sldId id="626" r:id="rId10"/>
    <p:sldId id="598" r:id="rId11"/>
    <p:sldId id="563" r:id="rId12"/>
    <p:sldId id="564" r:id="rId13"/>
    <p:sldId id="565" r:id="rId14"/>
    <p:sldId id="600" r:id="rId15"/>
    <p:sldId id="601" r:id="rId16"/>
    <p:sldId id="602" r:id="rId17"/>
    <p:sldId id="603" r:id="rId18"/>
    <p:sldId id="570" r:id="rId19"/>
    <p:sldId id="569" r:id="rId20"/>
    <p:sldId id="571" r:id="rId21"/>
    <p:sldId id="572" r:id="rId22"/>
    <p:sldId id="573" r:id="rId23"/>
    <p:sldId id="604" r:id="rId24"/>
    <p:sldId id="605" r:id="rId25"/>
    <p:sldId id="606" r:id="rId26"/>
    <p:sldId id="607" r:id="rId27"/>
    <p:sldId id="608" r:id="rId28"/>
    <p:sldId id="609" r:id="rId29"/>
    <p:sldId id="577" r:id="rId30"/>
    <p:sldId id="576" r:id="rId31"/>
    <p:sldId id="583" r:id="rId32"/>
    <p:sldId id="584" r:id="rId33"/>
    <p:sldId id="591" r:id="rId34"/>
    <p:sldId id="585" r:id="rId35"/>
    <p:sldId id="586" r:id="rId36"/>
    <p:sldId id="587" r:id="rId37"/>
    <p:sldId id="588" r:id="rId38"/>
    <p:sldId id="589" r:id="rId39"/>
    <p:sldId id="590" r:id="rId40"/>
    <p:sldId id="592" r:id="rId41"/>
    <p:sldId id="593" r:id="rId42"/>
    <p:sldId id="594" r:id="rId43"/>
    <p:sldId id="595" r:id="rId44"/>
    <p:sldId id="596" r:id="rId45"/>
    <p:sldId id="620" r:id="rId46"/>
    <p:sldId id="618" r:id="rId47"/>
    <p:sldId id="619" r:id="rId48"/>
    <p:sldId id="617" r:id="rId49"/>
    <p:sldId id="621" r:id="rId50"/>
    <p:sldId id="610" r:id="rId51"/>
    <p:sldId id="622" r:id="rId52"/>
    <p:sldId id="611" r:id="rId53"/>
    <p:sldId id="615" r:id="rId54"/>
    <p:sldId id="627" r:id="rId55"/>
    <p:sldId id="616" r:id="rId56"/>
    <p:sldId id="624" r:id="rId57"/>
    <p:sldId id="625" r:id="rId58"/>
    <p:sldId id="623" r:id="rId59"/>
  </p:sldIdLst>
  <p:sldSz cx="9144000" cy="6858000" type="screen4x3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CC3300"/>
    <a:srgbClr val="FF9966"/>
    <a:srgbClr val="CAABA2"/>
    <a:srgbClr val="FFFFCC"/>
    <a:srgbClr val="FFFF66"/>
    <a:srgbClr val="CCFF99"/>
    <a:srgbClr val="CCECFF"/>
    <a:srgbClr val="99CC00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7" autoAdjust="0"/>
    <p:restoredTop sz="95320" autoAdjust="0"/>
  </p:normalViewPr>
  <p:slideViewPr>
    <p:cSldViewPr snapToGrid="0" showGuides="1">
      <p:cViewPr varScale="1">
        <p:scale>
          <a:sx n="71" d="100"/>
          <a:sy n="71" d="100"/>
        </p:scale>
        <p:origin x="52" y="788"/>
      </p:cViewPr>
      <p:guideLst>
        <p:guide orient="horz" pos="2115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2A4DD-E6C5-4446-8814-DDCEAB64F4E0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E5394-4E77-4E42-BEDA-D88072962C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8754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4D36B7-6BC9-4358-A9C9-63F4AFA82B46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76338" y="1233488"/>
            <a:ext cx="444500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51982"/>
            <a:ext cx="5438140" cy="3887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DD7B4-6F0D-4FE3-8660-A7DE31D2A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96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314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412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196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478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173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726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029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AEF68-5DC7-5F95-D28F-8228078CD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AF1FB2-171A-BF11-C5AF-10A17DED1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CF3600-2B88-9B80-1C44-EA5BDFC01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13EAF-E978-749F-B8C2-4B75840062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510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835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576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027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2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6516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533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763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008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2211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295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9535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1809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285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8396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252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6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5710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632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7002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6884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0067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5904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6189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0427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6890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5619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8859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2462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0189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9131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5006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686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3846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1282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2265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3767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4677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0210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1405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00740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13443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57061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20523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0798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D6904-D382-6837-F1FE-0655D0BA8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22C252-5FAF-1C7F-9306-E99D591F3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C3DD5E-B927-9394-3B44-8E334EB33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5EC088-82CE-89AE-D0E3-B8C211471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79879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96685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54693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78903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308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06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67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150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069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98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04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42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56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683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21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58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ADFAC-D890-497A-A497-2A400DD02E74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82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chrome/answer/95417?co=GENIE.Platform%3DDesktop&amp;hl=en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port.google.com/chrome/answer/95417?co=GENIE.Platform%3DDesktop&amp;hl=ko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uanlan.zhihu.com/p/342003923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uanlan.zhihu.com/p/342003923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JunetaeKim/DeepLearningClass" TargetMode="External"/><Relationship Id="rId4" Type="http://schemas.openxmlformats.org/officeDocument/2006/relationships/hyperlink" Target="https://github.com/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2/TfTest.ipynb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938006" y="1591686"/>
            <a:ext cx="6941127" cy="736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Environment Setting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457200" y="3476625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352800" y="3571875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938006" y="3978237"/>
            <a:ext cx="694112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Ph.D. </a:t>
            </a:r>
            <a:r>
              <a:rPr lang="en-US" altLang="ko-KR" sz="3200" b="1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Junetae</a:t>
            </a:r>
            <a:r>
              <a:rPr lang="en-US" altLang="ko-KR" sz="32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, Kim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Assistant professor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223191" y="2645991"/>
            <a:ext cx="44610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/>
              <a:t>Deep Learning Algorithms 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095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144462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0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Contents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361950" y="1283856"/>
            <a:ext cx="8201891" cy="3870036"/>
          </a:xfrm>
          <a:prstGeom prst="roundRect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989013" y="1591027"/>
            <a:ext cx="5311203" cy="3669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Installing Anaconda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Installing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 and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Installing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17E81-BA7B-4208-89EB-64F55AD3E3A8}"/>
              </a:ext>
            </a:extLst>
          </p:cNvPr>
          <p:cNvSpPr txBox="1"/>
          <p:nvPr/>
        </p:nvSpPr>
        <p:spPr>
          <a:xfrm>
            <a:off x="868680" y="558049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https://www.anaconda.com/open-source</a:t>
            </a:r>
          </a:p>
        </p:txBody>
      </p:sp>
    </p:spTree>
    <p:extLst>
      <p:ext uri="{BB962C8B-B14F-4D97-AF65-F5344CB8AC3E}">
        <p14:creationId xmlns:p14="http://schemas.microsoft.com/office/powerpoint/2010/main" val="3807563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287931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000" dirty="0">
                <a:latin typeface="Arial Narrow" panose="020B0606020202030204" pitchFamily="34" charset="0"/>
                <a:cs typeface="Times New Roman" panose="02020603050405020304" pitchFamily="18" charset="0"/>
              </a:rPr>
              <a:t>What is anaconda?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17E81-BA7B-4208-89EB-64F55AD3E3A8}"/>
              </a:ext>
            </a:extLst>
          </p:cNvPr>
          <p:cNvSpPr txBox="1"/>
          <p:nvPr/>
        </p:nvSpPr>
        <p:spPr>
          <a:xfrm>
            <a:off x="649224" y="619774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https://www.anaconda.com/open-source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EB839D5-A0C0-4D8A-9308-6F19D7C5D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08" y="1680749"/>
            <a:ext cx="66675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17DCEE-7562-4581-964C-8D7F6C00E8B9}"/>
              </a:ext>
            </a:extLst>
          </p:cNvPr>
          <p:cNvSpPr txBox="1"/>
          <p:nvPr/>
        </p:nvSpPr>
        <p:spPr>
          <a:xfrm>
            <a:off x="521208" y="1107045"/>
            <a:ext cx="5916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A set of packages for data science including Python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5280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46928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(1) Checking computer </a:t>
            </a:r>
            <a:r>
              <a:rPr lang="en-US" altLang="ko-KR" b="1" i="1" dirty="0">
                <a:solidFill>
                  <a:srgbClr val="222222"/>
                </a:solidFill>
                <a:latin typeface="Arial Narrow" panose="020B0606020202030204" pitchFamily="34" charset="0"/>
              </a:rPr>
              <a:t>‘bit’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information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353" y="1302327"/>
            <a:ext cx="3899713" cy="525613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006108" y="5865091"/>
            <a:ext cx="581891" cy="4248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006108" y="1498463"/>
            <a:ext cx="1256147" cy="5981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62541" y="2311065"/>
            <a:ext cx="418334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</a:rPr>
              <a:t>①</a:t>
            </a:r>
            <a:r>
              <a:rPr lang="en-US" altLang="ko-KR" dirty="0">
                <a:latin typeface="Arial Narrow" panose="020B0606020202030204" pitchFamily="34" charset="0"/>
              </a:rPr>
              <a:t>Click the lower-left Start button to open the Start Menu, </a:t>
            </a:r>
          </a:p>
          <a:p>
            <a:endParaRPr lang="en-US" altLang="ko-KR" dirty="0">
              <a:latin typeface="Arial Narrow" panose="020B0606020202030204" pitchFamily="34" charset="0"/>
            </a:endParaRPr>
          </a:p>
          <a:p>
            <a:r>
              <a:rPr lang="ko-KR" altLang="en-US" dirty="0">
                <a:latin typeface="Arial Narrow" panose="020B0606020202030204" pitchFamily="34" charset="0"/>
              </a:rPr>
              <a:t>②</a:t>
            </a:r>
            <a:r>
              <a:rPr lang="en-US" altLang="ko-KR" dirty="0">
                <a:latin typeface="Arial Narrow" panose="020B0606020202030204" pitchFamily="34" charset="0"/>
              </a:rPr>
              <a:t>input </a:t>
            </a:r>
            <a:r>
              <a:rPr lang="en-US" altLang="ko-KR" b="1" i="1" dirty="0" err="1">
                <a:latin typeface="Arial Narrow" panose="020B0606020202030204" pitchFamily="34" charset="0"/>
              </a:rPr>
              <a:t>cmd</a:t>
            </a:r>
            <a:r>
              <a:rPr lang="en-US" altLang="ko-KR" dirty="0">
                <a:latin typeface="Arial Narrow" panose="020B0606020202030204" pitchFamily="34" charset="0"/>
              </a:rPr>
              <a:t> in the empty box and tap Command Prompt in the results.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93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46928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(1) Checking computer </a:t>
            </a:r>
            <a:r>
              <a:rPr lang="en-US" altLang="ko-KR" b="1" i="1" dirty="0">
                <a:solidFill>
                  <a:srgbClr val="222222"/>
                </a:solidFill>
                <a:latin typeface="Arial Narrow" panose="020B0606020202030204" pitchFamily="34" charset="0"/>
              </a:rPr>
              <a:t>‘bit’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information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54905" y="2043210"/>
            <a:ext cx="41833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</a:rPr>
              <a:t>③</a:t>
            </a:r>
            <a:r>
              <a:rPr lang="en-US" altLang="ko-KR" dirty="0">
                <a:latin typeface="Arial Narrow" panose="020B0606020202030204" pitchFamily="34" charset="0"/>
              </a:rPr>
              <a:t> input </a:t>
            </a:r>
            <a:r>
              <a:rPr lang="en-US" altLang="ko-KR" b="1" i="1" dirty="0">
                <a:latin typeface="Arial Narrow" panose="020B0606020202030204" pitchFamily="34" charset="0"/>
              </a:rPr>
              <a:t>set</a:t>
            </a:r>
            <a:r>
              <a:rPr lang="en-US" altLang="ko-KR" dirty="0">
                <a:latin typeface="Arial Narrow" panose="020B0606020202030204" pitchFamily="34" charset="0"/>
              </a:rPr>
              <a:t> and press </a:t>
            </a:r>
            <a:r>
              <a:rPr lang="en-US" altLang="ko-KR" b="1" dirty="0">
                <a:latin typeface="Arial Narrow" panose="020B0606020202030204" pitchFamily="34" charset="0"/>
              </a:rPr>
              <a:t>enter key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821" y="2693858"/>
            <a:ext cx="6625851" cy="354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61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46928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(1) Checking computer </a:t>
            </a:r>
            <a:r>
              <a:rPr lang="en-US" altLang="ko-KR" b="1" i="1" dirty="0">
                <a:solidFill>
                  <a:srgbClr val="222222"/>
                </a:solidFill>
                <a:latin typeface="Arial Narrow" panose="020B0606020202030204" pitchFamily="34" charset="0"/>
              </a:rPr>
              <a:t>‘bit’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information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54905" y="2043210"/>
            <a:ext cx="48114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Arial Narrow" panose="020B0606020202030204" pitchFamily="34" charset="0"/>
              </a:rPr>
              <a:t>④</a:t>
            </a:r>
            <a:r>
              <a:rPr lang="en-US" altLang="ko-KR" dirty="0">
                <a:latin typeface="Arial Narrow" panose="020B0606020202030204" pitchFamily="34" charset="0"/>
              </a:rPr>
              <a:t> Check PROCESSOR_ARCHITECTURE=??</a:t>
            </a:r>
            <a:endParaRPr lang="en-US" altLang="ko-KR" b="1" dirty="0">
              <a:latin typeface="Arial Narrow" panose="020B060602020203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2564550"/>
            <a:ext cx="7436427" cy="384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40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FE1AE08-5372-6B24-8F2D-83504A00B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129" y="1997713"/>
            <a:ext cx="5391150" cy="4393340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475631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Downloading the anaconda installer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41840" y="2839329"/>
            <a:ext cx="36963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Input anaconda in Google search box.</a:t>
            </a:r>
          </a:p>
          <a:p>
            <a:endParaRPr lang="en-US" altLang="ko-KR" dirty="0">
              <a:latin typeface="Arial Narrow" panose="020B0606020202030204" pitchFamily="34" charset="0"/>
            </a:endParaRPr>
          </a:p>
          <a:p>
            <a:r>
              <a:rPr lang="en-US" altLang="ko-KR" dirty="0">
                <a:latin typeface="Arial Narrow" panose="020B0606020202030204" pitchFamily="34" charset="0"/>
              </a:rPr>
              <a:t>Open the Web page - https://www.anaconda.com/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598897" y="2468356"/>
            <a:ext cx="3873553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568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D07620-4F9D-6A64-F6D8-FD7CEFE4A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97397"/>
            <a:ext cx="9144000" cy="4098238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475631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Downloading the anaconda installer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395390" y="2263078"/>
            <a:ext cx="1085170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988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900E7-5D87-771C-8780-8EAACC08D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15F7CE-9422-21CA-ADC0-BAD0F123D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6080"/>
            <a:ext cx="9144000" cy="4478535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72FF1AC-74DB-E516-0D2F-CCA0C1B34056}"/>
              </a:ext>
            </a:extLst>
          </p:cNvPr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67BE742-C3FE-CFC8-FAFA-F4406A50D09F}"/>
              </a:ext>
            </a:extLst>
          </p:cNvPr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58AA026-4151-FDAE-E603-F79B243F0B73}"/>
              </a:ext>
            </a:extLst>
          </p:cNvPr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472EAC-7AF8-6660-CC52-987DD6CA40E5}"/>
              </a:ext>
            </a:extLst>
          </p:cNvPr>
          <p:cNvSpPr/>
          <p:nvPr/>
        </p:nvSpPr>
        <p:spPr>
          <a:xfrm>
            <a:off x="462541" y="1110736"/>
            <a:ext cx="3475631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Downloading the anaconda installer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62E9490-D74E-2D14-41D6-C5602D45E8A3}"/>
              </a:ext>
            </a:extLst>
          </p:cNvPr>
          <p:cNvSpPr/>
          <p:nvPr/>
        </p:nvSpPr>
        <p:spPr>
          <a:xfrm>
            <a:off x="5753100" y="4256729"/>
            <a:ext cx="1307592" cy="473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2BC1C6-DFCF-67F9-D554-2F3F22EDB829}"/>
              </a:ext>
            </a:extLst>
          </p:cNvPr>
          <p:cNvSpPr/>
          <p:nvPr/>
        </p:nvSpPr>
        <p:spPr>
          <a:xfrm>
            <a:off x="757047" y="1620008"/>
            <a:ext cx="49960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Click Get Started</a:t>
            </a:r>
          </a:p>
          <a:p>
            <a:endParaRPr lang="en-US" altLang="ko-KR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73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475631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Downloading the anaconda installer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57047" y="1620008"/>
            <a:ext cx="49960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You nee to sign up and sign in</a:t>
            </a:r>
          </a:p>
          <a:p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4" name="그림 3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A7D2AA-E2CD-FCAE-FA2E-FBBE65887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9367"/>
            <a:ext cx="9144000" cy="406835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152127" y="4133544"/>
            <a:ext cx="2903502" cy="646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35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FA1B7E-C82F-C037-9CC0-CD6D5E1BE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4550"/>
            <a:ext cx="9144000" cy="3812596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321113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Downloading the python installer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57047" y="1620008"/>
            <a:ext cx="7306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Downloading </a:t>
            </a:r>
            <a:r>
              <a:rPr lang="en-US" altLang="ko-KR" b="1" i="1" dirty="0">
                <a:latin typeface="Arial Narrow" panose="020B0606020202030204" pitchFamily="34" charset="0"/>
              </a:rPr>
              <a:t>Windows installer (64-bit) </a:t>
            </a:r>
            <a:r>
              <a:rPr lang="en-US" altLang="ko-KR" dirty="0">
                <a:latin typeface="Arial Narrow" panose="020B0606020202030204" pitchFamily="34" charset="0"/>
              </a:rPr>
              <a:t>(pc bit version ==64)</a:t>
            </a:r>
            <a:r>
              <a:rPr lang="en-US" altLang="ko-KR" b="1" i="1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50354BA-30A4-4370-BB6F-83F92EF5695F}"/>
              </a:ext>
            </a:extLst>
          </p:cNvPr>
          <p:cNvSpPr/>
          <p:nvPr/>
        </p:nvSpPr>
        <p:spPr>
          <a:xfrm>
            <a:off x="541680" y="5889756"/>
            <a:ext cx="2315672" cy="2583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428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5347F7-D029-82E3-276E-76EC20961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9479"/>
            <a:ext cx="9144000" cy="1999041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110736"/>
            <a:ext cx="1375698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57047" y="1620008"/>
            <a:ext cx="7306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Execute the install file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595D5A-4DAE-40AC-BD4B-32B8FAE76E7E}"/>
              </a:ext>
            </a:extLst>
          </p:cNvPr>
          <p:cNvSpPr/>
          <p:nvPr/>
        </p:nvSpPr>
        <p:spPr>
          <a:xfrm>
            <a:off x="2343942" y="4174117"/>
            <a:ext cx="2463582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454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290A6F-683A-421D-11F4-D214FCA2A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834" y="2019400"/>
            <a:ext cx="4620332" cy="3628003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1375698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(3)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E40071-5FD9-DFE4-C964-BF43B6040D42}"/>
              </a:ext>
            </a:extLst>
          </p:cNvPr>
          <p:cNvSpPr/>
          <p:nvPr/>
        </p:nvSpPr>
        <p:spPr>
          <a:xfrm>
            <a:off x="5230368" y="5295391"/>
            <a:ext cx="829056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067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67ECEA-669A-EBE9-FD8A-E9DF350C0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528" y="1883302"/>
            <a:ext cx="4986023" cy="3857499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1375698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(3)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8E5706-C7F6-EA09-6F35-089EE19B2FF5}"/>
              </a:ext>
            </a:extLst>
          </p:cNvPr>
          <p:cNvSpPr/>
          <p:nvPr/>
        </p:nvSpPr>
        <p:spPr>
          <a:xfrm>
            <a:off x="5289804" y="5436445"/>
            <a:ext cx="829056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617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9DA3953-2044-F23B-29F8-CCE8506F9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04" y="2133678"/>
            <a:ext cx="4686300" cy="3600450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1375698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(3)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F2FDED-5B75-4577-886F-E9664E84CD68}"/>
              </a:ext>
            </a:extLst>
          </p:cNvPr>
          <p:cNvSpPr/>
          <p:nvPr/>
        </p:nvSpPr>
        <p:spPr>
          <a:xfrm>
            <a:off x="5060007" y="5384448"/>
            <a:ext cx="750606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187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9B940D6-D1E2-DF7A-108A-48D639FA6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126" y="2043699"/>
            <a:ext cx="4638675" cy="3552825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1375698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(3)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40E4A2-EC22-473B-B038-5D40F4D98F7E}"/>
              </a:ext>
            </a:extLst>
          </p:cNvPr>
          <p:cNvSpPr/>
          <p:nvPr/>
        </p:nvSpPr>
        <p:spPr>
          <a:xfrm>
            <a:off x="5211282" y="5292168"/>
            <a:ext cx="750606" cy="30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200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웹 페이지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1B6E34-32B3-8B86-11C7-3F80049C2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305" y="1993111"/>
            <a:ext cx="4817390" cy="3761524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1375698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(3)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6D2DC5-96AD-B526-966B-5ED3347D814E}"/>
              </a:ext>
            </a:extLst>
          </p:cNvPr>
          <p:cNvSpPr/>
          <p:nvPr/>
        </p:nvSpPr>
        <p:spPr>
          <a:xfrm>
            <a:off x="2248424" y="3115580"/>
            <a:ext cx="4309822" cy="9598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132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40639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Checking whether Python is working or not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83830" y="1647136"/>
            <a:ext cx="373377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start the </a:t>
            </a:r>
            <a:r>
              <a:rPr lang="en-US" altLang="ko-KR" b="1" dirty="0"/>
              <a:t>Run</a:t>
            </a:r>
            <a:r>
              <a:rPr lang="en-US" altLang="ko-KR" dirty="0"/>
              <a:t> box and enter</a:t>
            </a:r>
            <a:r>
              <a:rPr lang="en-US" altLang="ko-KR" b="1" dirty="0"/>
              <a:t> </a:t>
            </a:r>
            <a:r>
              <a:rPr lang="en-US" altLang="ko-KR" dirty="0" err="1"/>
              <a:t>sysdm.cpl</a:t>
            </a:r>
            <a:endParaRPr lang="en-US" altLang="ko-KR" dirty="0"/>
          </a:p>
          <a:p>
            <a:br>
              <a:rPr lang="en-US" altLang="ko-KR" dirty="0"/>
            </a:b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329" y="2570466"/>
            <a:ext cx="487680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342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40639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Checking whether Python is working or not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83830" y="1647136"/>
            <a:ext cx="65521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Go to the </a:t>
            </a:r>
            <a:r>
              <a:rPr lang="en-US" altLang="ko-KR" b="1" dirty="0"/>
              <a:t>Advanced</a:t>
            </a:r>
            <a:r>
              <a:rPr lang="en-US" altLang="ko-KR" dirty="0"/>
              <a:t> tab and click the </a:t>
            </a:r>
            <a:r>
              <a:rPr lang="en-US" altLang="ko-KR" b="1" dirty="0"/>
              <a:t>Environment Variables</a:t>
            </a:r>
            <a:r>
              <a:rPr lang="en-US" altLang="ko-KR" dirty="0"/>
              <a:t> button</a:t>
            </a:r>
            <a:br>
              <a:rPr lang="en-US" altLang="ko-KR" dirty="0"/>
            </a:b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115" y="1970301"/>
            <a:ext cx="4111276" cy="4675108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3543729" y="2359044"/>
            <a:ext cx="825072" cy="2653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526473" y="5707226"/>
            <a:ext cx="1394035" cy="194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508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40639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Checking whether Python is working or not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83830" y="1647136"/>
            <a:ext cx="76314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In the </a:t>
            </a:r>
            <a:r>
              <a:rPr lang="en-US" altLang="ko-KR" b="1" dirty="0">
                <a:latin typeface="Arial Narrow" panose="020B0606020202030204" pitchFamily="34" charset="0"/>
              </a:rPr>
              <a:t>System variable/ User variables</a:t>
            </a:r>
            <a:r>
              <a:rPr lang="en-US" altLang="ko-KR" dirty="0">
                <a:latin typeface="Arial Narrow" panose="020B0606020202030204" pitchFamily="34" charset="0"/>
              </a:rPr>
              <a:t> window, find the </a:t>
            </a:r>
            <a:r>
              <a:rPr lang="en-US" altLang="ko-KR" b="1" dirty="0">
                <a:latin typeface="Arial Narrow" panose="020B0606020202030204" pitchFamily="34" charset="0"/>
              </a:rPr>
              <a:t>Path</a:t>
            </a:r>
            <a:r>
              <a:rPr lang="en-US" altLang="ko-KR" dirty="0">
                <a:latin typeface="Arial Narrow" panose="020B0606020202030204" pitchFamily="34" charset="0"/>
              </a:rPr>
              <a:t> variable and click </a:t>
            </a:r>
            <a:r>
              <a:rPr lang="en-US" altLang="ko-KR" b="1" dirty="0">
                <a:latin typeface="Arial Narrow" panose="020B0606020202030204" pitchFamily="34" charset="0"/>
              </a:rPr>
              <a:t>Edit</a:t>
            </a:r>
            <a:br>
              <a:rPr lang="en-US" altLang="ko-KR" dirty="0">
                <a:latin typeface="Arial Narrow" panose="020B0606020202030204" pitchFamily="34" charset="0"/>
              </a:rPr>
            </a:b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489" y="2149849"/>
            <a:ext cx="4026911" cy="4506105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5170844" y="5753407"/>
            <a:ext cx="842029" cy="2040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507246-D083-406F-900A-7421B1CD0349}"/>
              </a:ext>
            </a:extLst>
          </p:cNvPr>
          <p:cNvSpPr/>
          <p:nvPr/>
        </p:nvSpPr>
        <p:spPr>
          <a:xfrm>
            <a:off x="5111096" y="3966371"/>
            <a:ext cx="842029" cy="2040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왼쪽 중괄호 3">
            <a:extLst>
              <a:ext uri="{FF2B5EF4-FFF2-40B4-BE49-F238E27FC236}">
                <a16:creationId xmlns:a16="http://schemas.microsoft.com/office/drawing/2014/main" id="{4AC9A25B-335E-4FDB-B183-CF6C33E13550}"/>
              </a:ext>
            </a:extLst>
          </p:cNvPr>
          <p:cNvSpPr/>
          <p:nvPr/>
        </p:nvSpPr>
        <p:spPr>
          <a:xfrm flipH="1">
            <a:off x="6122304" y="4068394"/>
            <a:ext cx="642004" cy="1774928"/>
          </a:xfrm>
          <a:prstGeom prst="lef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EE4ADE-2FD5-4519-8787-41AB6BC5C713}"/>
              </a:ext>
            </a:extLst>
          </p:cNvPr>
          <p:cNvSpPr txBox="1"/>
          <p:nvPr/>
        </p:nvSpPr>
        <p:spPr>
          <a:xfrm>
            <a:off x="6764308" y="4786581"/>
            <a:ext cx="6974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C00000"/>
                </a:solidFill>
                <a:latin typeface="Arial Narrow" panose="020B0606020202030204" pitchFamily="34" charset="0"/>
              </a:rPr>
              <a:t>Or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46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BA2F140-B93F-4843-A819-96B8F8946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225" y="2016468"/>
            <a:ext cx="4943475" cy="4467225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4063933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Checking whether Python is working or not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83830" y="1647136"/>
            <a:ext cx="4879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Check whether there several lines related to anaconda3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841176" y="2234076"/>
            <a:ext cx="2916239" cy="895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289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4063933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Checking whether Python is working or not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83830" y="1647136"/>
            <a:ext cx="3094117" cy="17019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Input: python, press enter key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Input: print(‘hello’), press enter key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ctr + z to exit python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88C8EE8-F4B4-4627-A814-7F2DC7A39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30" y="3429000"/>
            <a:ext cx="8193470" cy="309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35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839239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Creating virtual environment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DE1AA-8165-491D-BE85-E30F7AFF4429}"/>
              </a:ext>
            </a:extLst>
          </p:cNvPr>
          <p:cNvSpPr txBox="1"/>
          <p:nvPr/>
        </p:nvSpPr>
        <p:spPr>
          <a:xfrm>
            <a:off x="771525" y="17081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Open Anaconda Prompt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8B2087-A7FE-4E51-B7B7-53ECA8226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0" y="1799593"/>
            <a:ext cx="5391150" cy="466261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FED6C9-8823-4EB1-BFFE-29600714EF2C}"/>
              </a:ext>
            </a:extLst>
          </p:cNvPr>
          <p:cNvSpPr/>
          <p:nvPr/>
        </p:nvSpPr>
        <p:spPr>
          <a:xfrm>
            <a:off x="3283492" y="2373605"/>
            <a:ext cx="2041745" cy="3659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800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839239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Creating virtual environment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DE1AA-8165-491D-BE85-E30F7AFF4429}"/>
              </a:ext>
            </a:extLst>
          </p:cNvPr>
          <p:cNvSpPr txBox="1"/>
          <p:nvPr/>
        </p:nvSpPr>
        <p:spPr>
          <a:xfrm>
            <a:off x="771524" y="1708142"/>
            <a:ext cx="73757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Open Anaconda Prompt</a:t>
            </a:r>
          </a:p>
          <a:p>
            <a:r>
              <a:rPr lang="en-US" altLang="ko-KR" dirty="0"/>
              <a:t>Type: </a:t>
            </a:r>
            <a:r>
              <a:rPr lang="en-US" altLang="ko-K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conda</a:t>
            </a:r>
            <a:r>
              <a:rPr lang="en-US" altLang="ko-K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create -n &lt;</a:t>
            </a:r>
            <a:r>
              <a:rPr lang="en-US" altLang="ko-K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my_environment</a:t>
            </a:r>
            <a:r>
              <a:rPr lang="en-US" altLang="ko-K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 python=&lt;</a:t>
            </a:r>
            <a:r>
              <a:rPr lang="en-US" altLang="ko-KR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new_version</a:t>
            </a:r>
            <a:r>
              <a:rPr lang="en-US" altLang="ko-K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en-US" altLang="ko-KR" dirty="0"/>
              <a:t>           </a:t>
            </a:r>
            <a:r>
              <a:rPr lang="en-US" altLang="ko-KR" dirty="0" err="1"/>
              <a:t>conda</a:t>
            </a:r>
            <a:r>
              <a:rPr lang="en-US" altLang="ko-KR" dirty="0"/>
              <a:t> create -n </a:t>
            </a:r>
            <a:r>
              <a:rPr lang="en-US" altLang="ko-KR" dirty="0" err="1"/>
              <a:t>AIClass</a:t>
            </a:r>
            <a:r>
              <a:rPr lang="en-US" altLang="ko-KR" dirty="0"/>
              <a:t> python=3.10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A1E56E-16FD-4F41-A081-3F0777043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772097"/>
            <a:ext cx="7635240" cy="385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28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839239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Creating virtual environment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0CF79-25C1-4833-9526-2807B2E08040}"/>
              </a:ext>
            </a:extLst>
          </p:cNvPr>
          <p:cNvSpPr txBox="1"/>
          <p:nvPr/>
        </p:nvSpPr>
        <p:spPr>
          <a:xfrm>
            <a:off x="771525" y="163952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Install related packages: Press y and enter key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E2E1FA-9EC1-1794-01D2-EF42E2AAA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37" y="2109559"/>
            <a:ext cx="5946839" cy="438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688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839239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Creating virtual environment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54D37A-B844-4D19-A459-124DC3159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56" y="2527363"/>
            <a:ext cx="6581775" cy="2790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F3251E-EB18-4E72-B358-148AB37D64FC}"/>
              </a:ext>
            </a:extLst>
          </p:cNvPr>
          <p:cNvSpPr txBox="1"/>
          <p:nvPr/>
        </p:nvSpPr>
        <p:spPr>
          <a:xfrm>
            <a:off x="859536" y="1602742"/>
            <a:ext cx="7004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Now, you have just created virtual environment named as ‘</a:t>
            </a:r>
            <a:r>
              <a:rPr lang="en-US" altLang="ko-KR" dirty="0" err="1">
                <a:latin typeface="Arial Narrow" panose="020B0606020202030204" pitchFamily="34" charset="0"/>
              </a:rPr>
              <a:t>AIClass</a:t>
            </a:r>
            <a:r>
              <a:rPr lang="en-US" altLang="ko-KR" dirty="0">
                <a:latin typeface="Arial Narrow" panose="020B0606020202030204" pitchFamily="34" charset="0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4213788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839239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Creating virtual environment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1101A-870F-4D02-B961-E8063AE9FC2D}"/>
              </a:ext>
            </a:extLst>
          </p:cNvPr>
          <p:cNvSpPr txBox="1"/>
          <p:nvPr/>
        </p:nvSpPr>
        <p:spPr>
          <a:xfrm>
            <a:off x="859536" y="1602742"/>
            <a:ext cx="7004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You should activate the virtual environment before doing your python task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activate &lt;your environment name&gt;</a:t>
            </a:r>
            <a:r>
              <a:rPr lang="en-US" altLang="ko-KR" dirty="0">
                <a:latin typeface="Arial Narrow" panose="020B0606020202030204" pitchFamily="34" charset="0"/>
              </a:rPr>
              <a:t>   </a:t>
            </a:r>
          </a:p>
          <a:p>
            <a:pPr marL="285750" indent="-285750">
              <a:buFontTx/>
              <a:buChar char="-"/>
            </a:pPr>
            <a:r>
              <a:rPr lang="en-US" altLang="ko-KR" dirty="0" err="1">
                <a:latin typeface="Arial Narrow" panose="020B0606020202030204" pitchFamily="34" charset="0"/>
              </a:rPr>
              <a:t>conda</a:t>
            </a:r>
            <a:r>
              <a:rPr lang="en-US" altLang="ko-KR" dirty="0">
                <a:latin typeface="Arial Narrow" panose="020B0606020202030204" pitchFamily="34" charset="0"/>
              </a:rPr>
              <a:t> activate </a:t>
            </a:r>
            <a:r>
              <a:rPr lang="en-US" altLang="ko-KR" dirty="0" err="1">
                <a:latin typeface="Arial Narrow" panose="020B0606020202030204" pitchFamily="34" charset="0"/>
              </a:rPr>
              <a:t>AIClass</a:t>
            </a: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483578-EDC6-41C1-9290-43D5AE7C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750" y="2828692"/>
            <a:ext cx="661987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887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975495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Removing virtual environment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1101A-870F-4D02-B961-E8063AE9FC2D}"/>
              </a:ext>
            </a:extLst>
          </p:cNvPr>
          <p:cNvSpPr txBox="1"/>
          <p:nvPr/>
        </p:nvSpPr>
        <p:spPr>
          <a:xfrm>
            <a:off x="859536" y="1602742"/>
            <a:ext cx="7004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Sometime you need to remove your environment for several reasons</a:t>
            </a: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conda</a:t>
            </a:r>
            <a:r>
              <a:rPr lang="en-US" altLang="ko-KR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 env remove --n &lt;your environment name&gt;</a:t>
            </a:r>
            <a:r>
              <a:rPr lang="en-US" altLang="ko-KR" dirty="0">
                <a:latin typeface="Arial Narrow" panose="020B0606020202030204" pitchFamily="34" charset="0"/>
              </a:rPr>
              <a:t>   </a:t>
            </a:r>
          </a:p>
          <a:p>
            <a:pPr marL="285750" indent="-285750">
              <a:buFontTx/>
              <a:buChar char="-"/>
            </a:pPr>
            <a:r>
              <a:rPr lang="en-US" altLang="ko-KR" dirty="0" err="1">
                <a:latin typeface="Arial Narrow" panose="020B0606020202030204" pitchFamily="34" charset="0"/>
              </a:rPr>
              <a:t>conda</a:t>
            </a:r>
            <a:r>
              <a:rPr lang="en-US" altLang="ko-KR" dirty="0">
                <a:latin typeface="Arial Narrow" panose="020B0606020202030204" pitchFamily="34" charset="0"/>
              </a:rPr>
              <a:t> env remove --n </a:t>
            </a:r>
            <a:r>
              <a:rPr lang="en-US" altLang="ko-KR" dirty="0" err="1">
                <a:latin typeface="Arial Narrow" panose="020B0606020202030204" pitchFamily="34" charset="0"/>
              </a:rPr>
              <a:t>AIClass</a:t>
            </a: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87AB8D-E2B8-4F06-8700-D8083AFFD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267" y="2828692"/>
            <a:ext cx="657225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05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345514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919014" y="1773554"/>
            <a:ext cx="8086441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Arial Narrow" panose="020B0606020202030204" pitchFamily="34" charset="0"/>
              </a:rPr>
              <a:t>What is </a:t>
            </a:r>
            <a:r>
              <a:rPr lang="en-US" altLang="ko-KR" sz="2000" dirty="0" err="1">
                <a:latin typeface="Arial Narrow" panose="020B0606020202030204" pitchFamily="34" charset="0"/>
              </a:rPr>
              <a:t>Jupyter</a:t>
            </a:r>
            <a:r>
              <a:rPr lang="en-US" altLang="ko-KR" sz="2000" dirty="0">
                <a:latin typeface="Arial Narrow" panose="020B0606020202030204" pitchFamily="34" charset="0"/>
              </a:rPr>
              <a:t> lab?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Arial Narrow" panose="020B0606020202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latin typeface="Arial Narrow" panose="020B0606020202030204" pitchFamily="34" charset="0"/>
              </a:rPr>
              <a:t>It’s a convenient tool for python programming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latin typeface="Arial Narrow" panose="020B0606020202030204" pitchFamily="34" charset="0"/>
              </a:rPr>
              <a:t>It enables you to work with documents and activities such as </a:t>
            </a:r>
            <a:r>
              <a:rPr lang="en-US" altLang="ko-KR" dirty="0" err="1"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latin typeface="Arial Narrow" panose="020B0606020202030204" pitchFamily="34" charset="0"/>
              </a:rPr>
              <a:t> notebooks, text editors, terminals, and custom components in a flexible, integrated, and extensible manner. 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775" y="3312999"/>
            <a:ext cx="6011152" cy="341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91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345514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 installation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83830" y="1647136"/>
            <a:ext cx="5447325" cy="8708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Open CMD, activate &lt;</a:t>
            </a:r>
            <a:r>
              <a:rPr lang="en-US" altLang="ko-KR" dirty="0" err="1">
                <a:latin typeface="Arial Narrow" panose="020B0606020202030204" pitchFamily="34" charset="0"/>
              </a:rPr>
              <a:t>your_enviorment</a:t>
            </a:r>
            <a:r>
              <a:rPr lang="en-US" altLang="ko-KR" dirty="0">
                <a:latin typeface="Arial Narrow" panose="020B0606020202030204" pitchFamily="34" charset="0"/>
              </a:rPr>
              <a:t> &gt;,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then input: pip install </a:t>
            </a:r>
            <a:r>
              <a:rPr lang="en-US" altLang="ko-KR" b="1" dirty="0" err="1">
                <a:latin typeface="Arial Narrow" panose="020B0606020202030204" pitchFamily="34" charset="0"/>
              </a:rPr>
              <a:t>jupyterlab</a:t>
            </a:r>
            <a:r>
              <a:rPr lang="en-US" altLang="ko-KR" dirty="0">
                <a:latin typeface="Arial Narrow" panose="020B0606020202030204" pitchFamily="34" charset="0"/>
              </a:rPr>
              <a:t> (no blank between two words)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013380-BD99-47B7-A72A-D7444A035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994" y="2623328"/>
            <a:ext cx="5532692" cy="402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2856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1797287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Run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83830" y="1647136"/>
            <a:ext cx="7591490" cy="870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Open CMD, activate &lt;</a:t>
            </a:r>
            <a:r>
              <a:rPr lang="en-US" altLang="ko-KR" dirty="0" err="1">
                <a:latin typeface="Arial Narrow" panose="020B0606020202030204" pitchFamily="34" charset="0"/>
              </a:rPr>
              <a:t>your_enviorment</a:t>
            </a:r>
            <a:r>
              <a:rPr lang="en-US" altLang="ko-KR" dirty="0">
                <a:latin typeface="Arial Narrow" panose="020B0606020202030204" pitchFamily="34" charset="0"/>
              </a:rPr>
              <a:t> &gt;,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 Narrow" panose="020B0606020202030204" pitchFamily="34" charset="0"/>
              </a:rPr>
              <a:t>then input: </a:t>
            </a:r>
            <a:r>
              <a:rPr lang="en-US" altLang="ko-KR" b="1" dirty="0" err="1">
                <a:latin typeface="Arial Narrow" panose="020B0606020202030204" pitchFamily="34" charset="0"/>
              </a:rPr>
              <a:t>jupyter</a:t>
            </a:r>
            <a:r>
              <a:rPr lang="en-US" altLang="ko-KR" b="1" dirty="0">
                <a:latin typeface="Arial Narrow" panose="020B0606020202030204" pitchFamily="34" charset="0"/>
              </a:rPr>
              <a:t> lab</a:t>
            </a:r>
            <a:r>
              <a:rPr lang="en-US" altLang="ko-KR" dirty="0">
                <a:latin typeface="Arial Narrow" panose="020B0606020202030204" pitchFamily="34" charset="0"/>
              </a:rPr>
              <a:t> (blank between two words!)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E7D1AC-271B-4D70-BF8C-19820D3BA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185" y="3054112"/>
            <a:ext cx="5304792" cy="150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310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3245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(5) Set the chrome as default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381125" y="243524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  <a:hlinkClick r:id="rId3"/>
              </a:rPr>
              <a:t>https://support.google.com/chrome/answer/95417?co=GENIE.Platform%3DDesktop&amp;hl=en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381125" y="415878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  <a:hlinkClick r:id="rId4"/>
              </a:rPr>
              <a:t>https://support.google.com/chrome/answer/95417?co=GENIE.Platform%3DDesktop&amp;hl=ko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381125" y="2107761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English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375451" y="3870420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Korean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288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94765" y="2671679"/>
            <a:ext cx="22681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600" b="1" i="1" dirty="0"/>
              <a:t>Break time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84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85" y="1757067"/>
            <a:ext cx="7178448" cy="4743155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520638" y="1936055"/>
            <a:ext cx="626489" cy="2806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227219" y="2696171"/>
            <a:ext cx="991326" cy="12108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33336" y="203206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①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3626133" y="160730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②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3833882" y="311691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③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162697" y="2079888"/>
            <a:ext cx="841594" cy="2772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315166" y="3188915"/>
            <a:ext cx="59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Click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01585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417" y="1881246"/>
            <a:ext cx="6813910" cy="4808515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4442799" y="2815435"/>
            <a:ext cx="30372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Type it, then press ctrl + enter key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4323840" y="2542567"/>
            <a:ext cx="991326" cy="2687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84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881246"/>
            <a:ext cx="8141919" cy="4514685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4669410" y="2755003"/>
            <a:ext cx="1315753" cy="302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669410" y="3093245"/>
            <a:ext cx="991326" cy="2318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6077864" y="2723913"/>
            <a:ext cx="1044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Your Input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5794432" y="3069640"/>
            <a:ext cx="753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Return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25626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41" y="2142422"/>
            <a:ext cx="8238737" cy="3775219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679301" y="3536635"/>
            <a:ext cx="1315753" cy="302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736536" y="2676715"/>
            <a:ext cx="327464" cy="2604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202134" y="2582000"/>
            <a:ext cx="617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Save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0496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41" y="2065973"/>
            <a:ext cx="8358091" cy="4297881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658355" y="4036088"/>
            <a:ext cx="1315753" cy="302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2974108" y="4030247"/>
            <a:ext cx="901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Rename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54523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55" y="2144524"/>
            <a:ext cx="7456955" cy="383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06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11" y="1881246"/>
            <a:ext cx="6552480" cy="457212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131309" y="2225761"/>
            <a:ext cx="1315753" cy="302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992683" y="5698633"/>
            <a:ext cx="760418" cy="7547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15811" y="213408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①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165143" y="532930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28872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771217"/>
            <a:ext cx="8323844" cy="3705204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676930" y="2318125"/>
            <a:ext cx="1315753" cy="302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25483" y="3833091"/>
            <a:ext cx="760418" cy="2678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037286" y="2626825"/>
            <a:ext cx="876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①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Type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485901" y="3782352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②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Save the file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2036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81" y="1881246"/>
            <a:ext cx="8067740" cy="3313316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770511" y="3648425"/>
            <a:ext cx="760418" cy="2678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63865" y="3968642"/>
            <a:ext cx="2704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Rename the file as ‘week2.py’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58051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11" y="1881246"/>
            <a:ext cx="6552480" cy="4572126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216831" y="5698633"/>
            <a:ext cx="760418" cy="7547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783672" y="5329301"/>
            <a:ext cx="2705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Open Terminal (CMD window)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64729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629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2.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2541" y="1046083"/>
            <a:ext cx="2653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(6) Introduction to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Jupyter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lab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68" y="2271834"/>
            <a:ext cx="6105525" cy="291465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4023254" y="4535055"/>
            <a:ext cx="1306128" cy="2770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016818" y="4673600"/>
            <a:ext cx="1306128" cy="2770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1366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3. Understanding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and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82C875-1E1A-4B10-B16C-55C109B1654E}"/>
              </a:ext>
            </a:extLst>
          </p:cNvPr>
          <p:cNvSpPr/>
          <p:nvPr/>
        </p:nvSpPr>
        <p:spPr>
          <a:xfrm>
            <a:off x="361950" y="734533"/>
            <a:ext cx="2573267" cy="611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vs </a:t>
            </a: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39F826-FA00-4708-8B2F-D2E966FF4A91}"/>
              </a:ext>
            </a:extLst>
          </p:cNvPr>
          <p:cNvSpPr txBox="1"/>
          <p:nvPr/>
        </p:nvSpPr>
        <p:spPr>
          <a:xfrm>
            <a:off x="103254" y="6498252"/>
            <a:ext cx="61695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https://blog.csdn.net/zhr1030635594/article/details/104621957</a:t>
            </a:r>
            <a:endParaRPr lang="ko-KR" altLang="en-US" sz="1200" dirty="0"/>
          </a:p>
        </p:txBody>
      </p:sp>
      <p:pic>
        <p:nvPicPr>
          <p:cNvPr id="8" name="Picture 2" descr="深度学习编程环境概念（GPU, Tensorflow, Docker, CUDA, CPU, CUDNN, Keras, Anaconda,  PyTorch介绍）">
            <a:extLst>
              <a:ext uri="{FF2B5EF4-FFF2-40B4-BE49-F238E27FC236}">
                <a16:creationId xmlns:a16="http://schemas.microsoft.com/office/drawing/2014/main" id="{7688CCD5-5E83-489F-AE33-7C07670BB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136" y="1874400"/>
            <a:ext cx="3634964" cy="343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4873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3. Understanding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and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82C875-1E1A-4B10-B16C-55C109B1654E}"/>
              </a:ext>
            </a:extLst>
          </p:cNvPr>
          <p:cNvSpPr/>
          <p:nvPr/>
        </p:nvSpPr>
        <p:spPr>
          <a:xfrm>
            <a:off x="361950" y="734533"/>
            <a:ext cx="2573267" cy="611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vs </a:t>
            </a: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7D84305-BD90-4D0D-9E38-681F8CA85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421264"/>
              </p:ext>
            </p:extLst>
          </p:nvPr>
        </p:nvGraphicFramePr>
        <p:xfrm>
          <a:off x="544837" y="1624779"/>
          <a:ext cx="8297411" cy="419309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38678">
                  <a:extLst>
                    <a:ext uri="{9D8B030D-6E8A-4147-A177-3AD203B41FA5}">
                      <a16:colId xmlns:a16="http://schemas.microsoft.com/office/drawing/2014/main" val="790593286"/>
                    </a:ext>
                  </a:extLst>
                </a:gridCol>
                <a:gridCol w="3808401">
                  <a:extLst>
                    <a:ext uri="{9D8B030D-6E8A-4147-A177-3AD203B41FA5}">
                      <a16:colId xmlns:a16="http://schemas.microsoft.com/office/drawing/2014/main" val="482171952"/>
                    </a:ext>
                  </a:extLst>
                </a:gridCol>
                <a:gridCol w="3050332">
                  <a:extLst>
                    <a:ext uri="{9D8B030D-6E8A-4147-A177-3AD203B41FA5}">
                      <a16:colId xmlns:a16="http://schemas.microsoft.com/office/drawing/2014/main" val="2534594233"/>
                    </a:ext>
                  </a:extLst>
                </a:gridCol>
              </a:tblGrid>
              <a:tr h="283019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Parameters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 err="1">
                          <a:effectLst/>
                        </a:rPr>
                        <a:t>Keras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>
                          <a:effectLst/>
                        </a:rPr>
                        <a:t>TensorFlow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extLst>
                  <a:ext uri="{0D108BD9-81ED-4DB2-BD59-A6C34878D82A}">
                    <a16:rowId xmlns:a16="http://schemas.microsoft.com/office/drawing/2014/main" val="67696737"/>
                  </a:ext>
                </a:extLst>
              </a:tr>
              <a:tr h="283019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Developed By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Francois Chollet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Google Brain Team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extLst>
                  <a:ext uri="{0D108BD9-81ED-4DB2-BD59-A6C34878D82A}">
                    <a16:rowId xmlns:a16="http://schemas.microsoft.com/office/drawing/2014/main" val="1947053608"/>
                  </a:ext>
                </a:extLst>
              </a:tr>
              <a:tr h="831659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Definition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 err="1">
                          <a:effectLst/>
                        </a:rPr>
                        <a:t>Keras</a:t>
                      </a:r>
                      <a:r>
                        <a:rPr lang="en-US" sz="1600" u="none" strike="noStrike" dirty="0">
                          <a:effectLst/>
                        </a:rPr>
                        <a:t> is a high-level neural network library that executes on top of TensorFlow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TensorFlow is a comprehensive open-source framework for multiple machine learning tasks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extLst>
                  <a:ext uri="{0D108BD9-81ED-4DB2-BD59-A6C34878D82A}">
                    <a16:rowId xmlns:a16="http://schemas.microsoft.com/office/drawing/2014/main" val="567448577"/>
                  </a:ext>
                </a:extLst>
              </a:tr>
              <a:tr h="831659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Architecture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>
                          <a:effectLst/>
                        </a:rPr>
                        <a:t>High-level architecture API and simple architecture, readable and concise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Low-level architecture API and complex architecture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extLst>
                  <a:ext uri="{0D108BD9-81ED-4DB2-BD59-A6C34878D82A}">
                    <a16:rowId xmlns:a16="http://schemas.microsoft.com/office/drawing/2014/main" val="3148152813"/>
                  </a:ext>
                </a:extLst>
              </a:tr>
              <a:tr h="283019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Written In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>
                          <a:effectLst/>
                        </a:rPr>
                        <a:t>Python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C++, Python, CUDA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extLst>
                  <a:ext uri="{0D108BD9-81ED-4DB2-BD59-A6C34878D82A}">
                    <a16:rowId xmlns:a16="http://schemas.microsoft.com/office/drawing/2014/main" val="3770441988"/>
                  </a:ext>
                </a:extLst>
              </a:tr>
              <a:tr h="557339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Ease of Use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More user friendly and easy to use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>
                          <a:effectLst/>
                        </a:rPr>
                        <a:t>Not as easy to use as </a:t>
                      </a:r>
                      <a:r>
                        <a:rPr lang="en-US" sz="1600" u="none" strike="noStrike" dirty="0" err="1">
                          <a:effectLst/>
                        </a:rPr>
                        <a:t>Keras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extLst>
                  <a:ext uri="{0D108BD9-81ED-4DB2-BD59-A6C34878D82A}">
                    <a16:rowId xmlns:a16="http://schemas.microsoft.com/office/drawing/2014/main" val="1333077831"/>
                  </a:ext>
                </a:extLst>
              </a:tr>
              <a:tr h="557339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Functionalities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General-purpose operations to create deep learning models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>
                          <a:effectLst/>
                        </a:rPr>
                        <a:t>Advanced functionalities for creating neural networks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extLst>
                  <a:ext uri="{0D108BD9-81ED-4DB2-BD59-A6C34878D82A}">
                    <a16:rowId xmlns:a16="http://schemas.microsoft.com/office/drawing/2014/main" val="602288164"/>
                  </a:ext>
                </a:extLst>
              </a:tr>
              <a:tr h="283019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Debugging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Easier to debug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>
                          <a:effectLst/>
                        </a:rPr>
                        <a:t>Difficult to debug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extLst>
                  <a:ext uri="{0D108BD9-81ED-4DB2-BD59-A6C34878D82A}">
                    <a16:rowId xmlns:a16="http://schemas.microsoft.com/office/drawing/2014/main" val="354680069"/>
                  </a:ext>
                </a:extLst>
              </a:tr>
              <a:tr h="283019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Data Sets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>
                          <a:effectLst/>
                        </a:rPr>
                        <a:t>It has smaller data 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>
                          <a:effectLst/>
                        </a:rPr>
                        <a:t>It has larger data 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699" marR="8699" marT="8699" marB="0" anchor="ctr"/>
                </a:tc>
                <a:extLst>
                  <a:ext uri="{0D108BD9-81ED-4DB2-BD59-A6C34878D82A}">
                    <a16:rowId xmlns:a16="http://schemas.microsoft.com/office/drawing/2014/main" val="31519600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639F826-FA00-4708-8B2F-D2E966FF4A91}"/>
              </a:ext>
            </a:extLst>
          </p:cNvPr>
          <p:cNvSpPr txBox="1"/>
          <p:nvPr/>
        </p:nvSpPr>
        <p:spPr>
          <a:xfrm>
            <a:off x="103254" y="6498252"/>
            <a:ext cx="61695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https://www.spec-india.com/blog/keras-vs-tensorflow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215229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01130B-4C7B-4C13-9347-8CC2C3F13FDE}"/>
              </a:ext>
            </a:extLst>
          </p:cNvPr>
          <p:cNvSpPr/>
          <p:nvPr/>
        </p:nvSpPr>
        <p:spPr>
          <a:xfrm>
            <a:off x="266700" y="20585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3. Understanding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and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084860-4E53-49F1-B90D-521670FC22ED}"/>
              </a:ext>
            </a:extLst>
          </p:cNvPr>
          <p:cNvSpPr/>
          <p:nvPr/>
        </p:nvSpPr>
        <p:spPr>
          <a:xfrm>
            <a:off x="361950" y="734533"/>
            <a:ext cx="2573267" cy="611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vs </a:t>
            </a: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332127A-08AE-4C8F-8497-FEDDB9E18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387176"/>
              </p:ext>
            </p:extLst>
          </p:nvPr>
        </p:nvGraphicFramePr>
        <p:xfrm>
          <a:off x="544837" y="1624778"/>
          <a:ext cx="8297410" cy="49731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57699">
                  <a:extLst>
                    <a:ext uri="{9D8B030D-6E8A-4147-A177-3AD203B41FA5}">
                      <a16:colId xmlns:a16="http://schemas.microsoft.com/office/drawing/2014/main" val="1616653289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1380744003"/>
                    </a:ext>
                  </a:extLst>
                </a:gridCol>
                <a:gridCol w="3044951">
                  <a:extLst>
                    <a:ext uri="{9D8B030D-6E8A-4147-A177-3AD203B41FA5}">
                      <a16:colId xmlns:a16="http://schemas.microsoft.com/office/drawing/2014/main" val="1894030123"/>
                    </a:ext>
                  </a:extLst>
                </a:gridCol>
              </a:tblGrid>
              <a:tr h="252718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Parameters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Keras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TensorFlow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extLst>
                  <a:ext uri="{0D108BD9-81ED-4DB2-BD59-A6C34878D82A}">
                    <a16:rowId xmlns:a16="http://schemas.microsoft.com/office/drawing/2014/main" val="567811069"/>
                  </a:ext>
                </a:extLst>
              </a:tr>
              <a:tr h="497509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Complexity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Facilitates model development with ease and makes it comfortable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Users need to handle computations making it complex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extLst>
                  <a:ext uri="{0D108BD9-81ED-4DB2-BD59-A6C34878D82A}">
                    <a16:rowId xmlns:a16="http://schemas.microsoft.com/office/drawing/2014/main" val="1575914779"/>
                  </a:ext>
                </a:extLst>
              </a:tr>
              <a:tr h="497509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Development Time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Fewer lines of code, faster development time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>
                          <a:effectLst/>
                        </a:rPr>
                        <a:t>Development time is more since more coding involved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extLst>
                  <a:ext uri="{0D108BD9-81ED-4DB2-BD59-A6C34878D82A}">
                    <a16:rowId xmlns:a16="http://schemas.microsoft.com/office/drawing/2014/main" val="2333001312"/>
                  </a:ext>
                </a:extLst>
              </a:tr>
              <a:tr h="7423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Performance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>
                          <a:effectLst/>
                        </a:rPr>
                        <a:t>Based on backend engines and hence slow in performance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Has a focus on lessening cognitive computational load hence faster performance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extLst>
                  <a:ext uri="{0D108BD9-81ED-4DB2-BD59-A6C34878D82A}">
                    <a16:rowId xmlns:a16="http://schemas.microsoft.com/office/drawing/2014/main" val="3580224040"/>
                  </a:ext>
                </a:extLst>
              </a:tr>
              <a:tr h="7423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Debugging Capacity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 err="1">
                          <a:effectLst/>
                        </a:rPr>
                        <a:t>Keras</a:t>
                      </a:r>
                      <a:r>
                        <a:rPr lang="en-US" sz="1600" u="none" strike="noStrike" dirty="0">
                          <a:effectLst/>
                        </a:rPr>
                        <a:t> has lesser backend computation and debugging the code is easier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There is code involved and hence debugging is done through the TensorFlow debugger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extLst>
                  <a:ext uri="{0D108BD9-81ED-4DB2-BD59-A6C34878D82A}">
                    <a16:rowId xmlns:a16="http://schemas.microsoft.com/office/drawing/2014/main" val="4054893924"/>
                  </a:ext>
                </a:extLst>
              </a:tr>
              <a:tr h="252718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Trained Models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Keras has trained models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TensorFlow has trained models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extLst>
                  <a:ext uri="{0D108BD9-81ED-4DB2-BD59-A6C34878D82A}">
                    <a16:rowId xmlns:a16="http://schemas.microsoft.com/office/drawing/2014/main" val="1821764295"/>
                  </a:ext>
                </a:extLst>
              </a:tr>
              <a:tr h="7423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Best For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Quick implementations, rapid prototyping, multiple backend support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Deep learning and complicated tasks, high performance, object detection, functionality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extLst>
                  <a:ext uri="{0D108BD9-81ED-4DB2-BD59-A6C34878D82A}">
                    <a16:rowId xmlns:a16="http://schemas.microsoft.com/office/drawing/2014/main" val="3373030265"/>
                  </a:ext>
                </a:extLst>
              </a:tr>
              <a:tr h="252718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Community Support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Less but growing community support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Large community support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extLst>
                  <a:ext uri="{0D108BD9-81ED-4DB2-BD59-A6C34878D82A}">
                    <a16:rowId xmlns:a16="http://schemas.microsoft.com/office/drawing/2014/main" val="1753907290"/>
                  </a:ext>
                </a:extLst>
              </a:tr>
              <a:tr h="497509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Popularity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Keras tops the popularity chart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TensorFlow follows Keras on the popularity chart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extLst>
                  <a:ext uri="{0D108BD9-81ED-4DB2-BD59-A6C34878D82A}">
                    <a16:rowId xmlns:a16="http://schemas.microsoft.com/office/drawing/2014/main" val="2343100905"/>
                  </a:ext>
                </a:extLst>
              </a:tr>
              <a:tr h="252718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>
                          <a:effectLst/>
                        </a:rPr>
                        <a:t>User Friendliness</a:t>
                      </a:r>
                      <a:endParaRPr lang="en-US" sz="16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 err="1">
                          <a:effectLst/>
                        </a:rPr>
                        <a:t>Keras</a:t>
                      </a:r>
                      <a:r>
                        <a:rPr lang="en-US" sz="1600" u="none" strike="noStrike" dirty="0">
                          <a:effectLst/>
                        </a:rPr>
                        <a:t> in novice-friendly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600" u="none" strike="noStrike" dirty="0">
                          <a:effectLst/>
                        </a:rPr>
                        <a:t>TensorFlow is tough for novices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97" marR="7897" marT="7897" marB="0" anchor="ctr"/>
                </a:tc>
                <a:extLst>
                  <a:ext uri="{0D108BD9-81ED-4DB2-BD59-A6C34878D82A}">
                    <a16:rowId xmlns:a16="http://schemas.microsoft.com/office/drawing/2014/main" val="1118636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311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C413F9-7D61-485C-AF5B-4DBA8E810EC5}"/>
              </a:ext>
            </a:extLst>
          </p:cNvPr>
          <p:cNvSpPr/>
          <p:nvPr/>
        </p:nvSpPr>
        <p:spPr>
          <a:xfrm>
            <a:off x="266700" y="20585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3. Understanding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and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3AE2F8-1BE4-46E0-8134-235DA8F4863C}"/>
              </a:ext>
            </a:extLst>
          </p:cNvPr>
          <p:cNvSpPr/>
          <p:nvPr/>
        </p:nvSpPr>
        <p:spPr>
          <a:xfrm>
            <a:off x="462541" y="753475"/>
            <a:ext cx="4851008" cy="6111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Understanding </a:t>
            </a: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middlewares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when GPUs are used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A282130-E137-4D25-9DAB-53FE368F0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193" y="1700203"/>
            <a:ext cx="4292346" cy="2752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E8396F-BF2F-4583-8ED1-40011A1AFB66}"/>
              </a:ext>
            </a:extLst>
          </p:cNvPr>
          <p:cNvSpPr txBox="1"/>
          <p:nvPr/>
        </p:nvSpPr>
        <p:spPr>
          <a:xfrm>
            <a:off x="0" y="6564630"/>
            <a:ext cx="69498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hlinkClick r:id="rId4"/>
              </a:rPr>
              <a:t>https://zhuanlan.zhihu.com/p/342003923</a:t>
            </a:r>
            <a:endParaRPr lang="en-US" altLang="ko-KR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092DCB-5C51-4751-9DCD-C143277DF81F}"/>
              </a:ext>
            </a:extLst>
          </p:cNvPr>
          <p:cNvSpPr txBox="1"/>
          <p:nvPr/>
        </p:nvSpPr>
        <p:spPr>
          <a:xfrm>
            <a:off x="398101" y="4959964"/>
            <a:ext cx="848944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CUDA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/>
              <a:t>It ensures that the compiler is directed to the part that matches the GPU core. It makes the processing unit efficient for the operation to be performed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32285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C413F9-7D61-485C-AF5B-4DBA8E810EC5}"/>
              </a:ext>
            </a:extLst>
          </p:cNvPr>
          <p:cNvSpPr/>
          <p:nvPr/>
        </p:nvSpPr>
        <p:spPr>
          <a:xfrm>
            <a:off x="266700" y="20585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3. Understanding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and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A282130-E137-4D25-9DAB-53FE368F0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193" y="1700203"/>
            <a:ext cx="4292346" cy="2752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E8396F-BF2F-4583-8ED1-40011A1AFB66}"/>
              </a:ext>
            </a:extLst>
          </p:cNvPr>
          <p:cNvSpPr txBox="1"/>
          <p:nvPr/>
        </p:nvSpPr>
        <p:spPr>
          <a:xfrm>
            <a:off x="0" y="6564630"/>
            <a:ext cx="69498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hlinkClick r:id="rId4"/>
              </a:rPr>
              <a:t>https://zhuanlan.zhihu.com/p/342003923</a:t>
            </a:r>
            <a:endParaRPr lang="en-US" altLang="ko-KR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092DCB-5C51-4751-9DCD-C143277DF81F}"/>
              </a:ext>
            </a:extLst>
          </p:cNvPr>
          <p:cNvSpPr txBox="1"/>
          <p:nvPr/>
        </p:nvSpPr>
        <p:spPr>
          <a:xfrm>
            <a:off x="398101" y="4959964"/>
            <a:ext cx="848944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cuDNN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/>
              <a:t>It provides a performance boost when training a neural network with a GPU.</a:t>
            </a:r>
            <a:endParaRPr lang="ko-KR" altLang="en-US" sz="16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C4BCA9-5CC6-47C9-9DFB-01D0A4B80092}"/>
              </a:ext>
            </a:extLst>
          </p:cNvPr>
          <p:cNvSpPr/>
          <p:nvPr/>
        </p:nvSpPr>
        <p:spPr>
          <a:xfrm>
            <a:off x="462541" y="753475"/>
            <a:ext cx="4851008" cy="6111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Understanding </a:t>
            </a: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middlewares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 when GPUs are used</a:t>
            </a:r>
          </a:p>
        </p:txBody>
      </p:sp>
    </p:spTree>
    <p:extLst>
      <p:ext uri="{BB962C8B-B14F-4D97-AF65-F5344CB8AC3E}">
        <p14:creationId xmlns:p14="http://schemas.microsoft.com/office/powerpoint/2010/main" val="32639328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8C023C7-C3DC-9AD7-12EC-509F1ACEB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69" y="2536335"/>
            <a:ext cx="6195251" cy="4099695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5864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4.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102DF0-0AEC-4592-89E3-CC9EBF071DC8}"/>
              </a:ext>
            </a:extLst>
          </p:cNvPr>
          <p:cNvSpPr txBox="1"/>
          <p:nvPr/>
        </p:nvSpPr>
        <p:spPr>
          <a:xfrm>
            <a:off x="1512668" y="2167003"/>
            <a:ext cx="5486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https://www.tensorflow.org/install/source_windows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82C875-1E1A-4B10-B16C-55C109B1654E}"/>
              </a:ext>
            </a:extLst>
          </p:cNvPr>
          <p:cNvSpPr/>
          <p:nvPr/>
        </p:nvSpPr>
        <p:spPr>
          <a:xfrm>
            <a:off x="462541" y="1046083"/>
            <a:ext cx="2100255" cy="559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(1) Compatibility check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0F06A23-FD87-4FF2-B389-767A3119EF67}"/>
              </a:ext>
            </a:extLst>
          </p:cNvPr>
          <p:cNvSpPr/>
          <p:nvPr/>
        </p:nvSpPr>
        <p:spPr>
          <a:xfrm>
            <a:off x="2562796" y="2981325"/>
            <a:ext cx="1009460" cy="36708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5352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266700" y="205859"/>
            <a:ext cx="35864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4.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82C875-1E1A-4B10-B16C-55C109B1654E}"/>
              </a:ext>
            </a:extLst>
          </p:cNvPr>
          <p:cNvSpPr/>
          <p:nvPr/>
        </p:nvSpPr>
        <p:spPr>
          <a:xfrm>
            <a:off x="462541" y="1046083"/>
            <a:ext cx="2100255" cy="559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(1) Compatibility check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572B2BF-6F7B-6460-580C-7FCAEFBD6F2A}"/>
              </a:ext>
            </a:extLst>
          </p:cNvPr>
          <p:cNvGrpSpPr/>
          <p:nvPr/>
        </p:nvGrpSpPr>
        <p:grpSpPr>
          <a:xfrm>
            <a:off x="1060704" y="2536335"/>
            <a:ext cx="6705600" cy="4046751"/>
            <a:chOff x="1219200" y="2415677"/>
            <a:chExt cx="6705600" cy="404675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7569AC5-819C-EC47-B9DE-C2A5D6EB9F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435"/>
            <a:stretch/>
          </p:blipFill>
          <p:spPr>
            <a:xfrm>
              <a:off x="1219200" y="2415677"/>
              <a:ext cx="6705600" cy="4046751"/>
            </a:xfrm>
            <a:prstGeom prst="rect">
              <a:avLst/>
            </a:prstGeom>
          </p:spPr>
        </p:pic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A04F89DA-2F14-41FF-9FE4-18FD6A5E43AD}"/>
                </a:ext>
              </a:extLst>
            </p:cNvPr>
            <p:cNvSpPr/>
            <p:nvPr/>
          </p:nvSpPr>
          <p:spPr>
            <a:xfrm>
              <a:off x="2800635" y="3633215"/>
              <a:ext cx="913829" cy="282921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C0839476-0059-48D1-B005-6D305EF67035}"/>
                </a:ext>
              </a:extLst>
            </p:cNvPr>
            <p:cNvSpPr/>
            <p:nvPr/>
          </p:nvSpPr>
          <p:spPr>
            <a:xfrm>
              <a:off x="6541772" y="3625035"/>
              <a:ext cx="1383028" cy="283739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D102DF0-0AEC-4592-89E3-CC9EBF071DC8}"/>
              </a:ext>
            </a:extLst>
          </p:cNvPr>
          <p:cNvSpPr txBox="1"/>
          <p:nvPr/>
        </p:nvSpPr>
        <p:spPr>
          <a:xfrm>
            <a:off x="1512668" y="2167003"/>
            <a:ext cx="5486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https://www.tensorflow.org/install/source_windows</a:t>
            </a:r>
          </a:p>
        </p:txBody>
      </p:sp>
    </p:spTree>
    <p:extLst>
      <p:ext uri="{BB962C8B-B14F-4D97-AF65-F5344CB8AC3E}">
        <p14:creationId xmlns:p14="http://schemas.microsoft.com/office/powerpoint/2010/main" val="5136773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62541" y="1046083"/>
            <a:ext cx="2934650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(2) </a:t>
            </a:r>
            <a:r>
              <a:rPr lang="en-US" altLang="ko-KR" dirty="0">
                <a:latin typeface="Arial Narrow" panose="020B0606020202030204" pitchFamily="34" charset="0"/>
              </a:rPr>
              <a:t>Activating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virtual environment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1101A-870F-4D02-B961-E8063AE9FC2D}"/>
              </a:ext>
            </a:extLst>
          </p:cNvPr>
          <p:cNvSpPr txBox="1"/>
          <p:nvPr/>
        </p:nvSpPr>
        <p:spPr>
          <a:xfrm>
            <a:off x="859536" y="1602742"/>
            <a:ext cx="7004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You should activate the virtual environment before installing </a:t>
            </a:r>
            <a:r>
              <a:rPr lang="en-US" altLang="ko-KR" dirty="0" err="1">
                <a:latin typeface="Arial Narrow" panose="020B0606020202030204" pitchFamily="34" charset="0"/>
              </a:rPr>
              <a:t>tensorflow</a:t>
            </a:r>
            <a:endParaRPr lang="en-US" altLang="ko-KR" dirty="0">
              <a:latin typeface="Arial Narrow" panose="020B0606020202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activate &lt;your environment name&gt;</a:t>
            </a:r>
            <a:r>
              <a:rPr lang="en-US" altLang="ko-KR" dirty="0">
                <a:latin typeface="Arial Narrow" panose="020B0606020202030204" pitchFamily="34" charset="0"/>
              </a:rPr>
              <a:t>   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latin typeface="Arial Narrow" panose="020B0606020202030204" pitchFamily="34" charset="0"/>
              </a:rPr>
              <a:t>Activate </a:t>
            </a:r>
            <a:r>
              <a:rPr lang="en-US" altLang="ko-KR" dirty="0" err="1">
                <a:latin typeface="Arial Narrow" panose="020B0606020202030204" pitchFamily="34" charset="0"/>
              </a:rPr>
              <a:t>AIClass</a:t>
            </a: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483578-EDC6-41C1-9290-43D5AE7C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750" y="2828692"/>
            <a:ext cx="6619875" cy="27813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D8DC272-78E5-435C-9091-403E64AB28AF}"/>
              </a:ext>
            </a:extLst>
          </p:cNvPr>
          <p:cNvSpPr/>
          <p:nvPr/>
        </p:nvSpPr>
        <p:spPr>
          <a:xfrm>
            <a:off x="266700" y="205859"/>
            <a:ext cx="35864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4.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6930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62541" y="1046083"/>
            <a:ext cx="3272050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(3) </a:t>
            </a:r>
            <a:r>
              <a:rPr lang="en-US" altLang="ko-KR" dirty="0">
                <a:latin typeface="Arial Narrow" panose="020B0606020202030204" pitchFamily="34" charset="0"/>
              </a:rPr>
              <a:t>Installing </a:t>
            </a:r>
            <a:r>
              <a:rPr lang="en-US" altLang="ko-KR" dirty="0" err="1">
                <a:latin typeface="Arial Narrow" panose="020B0606020202030204" pitchFamily="34" charset="0"/>
              </a:rPr>
              <a:t>tensorflow</a:t>
            </a:r>
            <a:r>
              <a:rPr lang="en-US" altLang="ko-KR" dirty="0">
                <a:latin typeface="Arial Narrow" panose="020B0606020202030204" pitchFamily="34" charset="0"/>
              </a:rPr>
              <a:t> via pip install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1101A-870F-4D02-B961-E8063AE9FC2D}"/>
              </a:ext>
            </a:extLst>
          </p:cNvPr>
          <p:cNvSpPr txBox="1"/>
          <p:nvPr/>
        </p:nvSpPr>
        <p:spPr>
          <a:xfrm>
            <a:off x="859536" y="1602742"/>
            <a:ext cx="7004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pip install </a:t>
            </a:r>
            <a:r>
              <a:rPr lang="en-US" altLang="ko-KR" dirty="0" err="1">
                <a:latin typeface="Arial Narrow" panose="020B0606020202030204" pitchFamily="34" charset="0"/>
              </a:rPr>
              <a:t>tensorflow</a:t>
            </a:r>
            <a:r>
              <a:rPr lang="en-US" altLang="ko-KR" dirty="0">
                <a:latin typeface="Arial Narrow" panose="020B0606020202030204" pitchFamily="34" charset="0"/>
              </a:rPr>
              <a:t>==2.10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8DC272-78E5-435C-9091-403E64AB28AF}"/>
              </a:ext>
            </a:extLst>
          </p:cNvPr>
          <p:cNvSpPr/>
          <p:nvPr/>
        </p:nvSpPr>
        <p:spPr>
          <a:xfrm>
            <a:off x="266700" y="205859"/>
            <a:ext cx="35864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4.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E71519-8E06-A5E1-7F51-D64ED600E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2159401"/>
            <a:ext cx="8436864" cy="4395459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152E8DC-2A22-0565-5F07-FB95D1081A17}"/>
              </a:ext>
            </a:extLst>
          </p:cNvPr>
          <p:cNvSpPr/>
          <p:nvPr/>
        </p:nvSpPr>
        <p:spPr>
          <a:xfrm>
            <a:off x="361950" y="2528733"/>
            <a:ext cx="3893058" cy="470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5523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BF8BC-AC64-1D35-0351-6B1222D1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8FD7C9E-7C58-C9B5-7B25-C2A1F804A27E}"/>
              </a:ext>
            </a:extLst>
          </p:cNvPr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A7C8B998-EC47-41E3-0B5C-38954C2414FF}"/>
              </a:ext>
            </a:extLst>
          </p:cNvPr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916E5B4-1FC4-4387-A679-4334ED548A5E}"/>
              </a:ext>
            </a:extLst>
          </p:cNvPr>
          <p:cNvSpPr/>
          <p:nvPr/>
        </p:nvSpPr>
        <p:spPr>
          <a:xfrm>
            <a:off x="266700" y="205859"/>
            <a:ext cx="3481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1. Installing Anaconda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67ABBB-DCA1-4A53-DFC8-E778DC83D3E8}"/>
              </a:ext>
            </a:extLst>
          </p:cNvPr>
          <p:cNvSpPr/>
          <p:nvPr/>
        </p:nvSpPr>
        <p:spPr>
          <a:xfrm>
            <a:off x="462541" y="1046083"/>
            <a:ext cx="2553904" cy="16673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(4) Other library installations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	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464140-5D3B-C7B5-9B38-5F2A24E391C1}"/>
              </a:ext>
            </a:extLst>
          </p:cNvPr>
          <p:cNvSpPr txBox="1"/>
          <p:nvPr/>
        </p:nvSpPr>
        <p:spPr>
          <a:xfrm>
            <a:off x="859536" y="1602742"/>
            <a:ext cx="7004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latin typeface="Arial Narrow" panose="020B0606020202030204" pitchFamily="34" charset="0"/>
              </a:rPr>
              <a:t>pip install </a:t>
            </a:r>
            <a:r>
              <a:rPr lang="en-US" altLang="ko-KR" dirty="0" err="1">
                <a:latin typeface="Arial Narrow" panose="020B0606020202030204" pitchFamily="34" charset="0"/>
              </a:rPr>
              <a:t>numpy</a:t>
            </a:r>
            <a:r>
              <a:rPr lang="en-US" altLang="ko-KR" dirty="0">
                <a:latin typeface="Arial Narrow" panose="020B0606020202030204" pitchFamily="34" charset="0"/>
              </a:rPr>
              <a:t>==1.25.0 pandas==2.2.3 matplotlib==3.9.2 seaborn==0.13.2 </a:t>
            </a:r>
            <a:r>
              <a:rPr lang="en-US" altLang="ko-KR" dirty="0" err="1">
                <a:latin typeface="Arial Narrow" panose="020B0606020202030204" pitchFamily="34" charset="0"/>
              </a:rPr>
              <a:t>scipy</a:t>
            </a:r>
            <a:r>
              <a:rPr lang="en-US" altLang="ko-KR" dirty="0">
                <a:latin typeface="Arial Narrow" panose="020B0606020202030204" pitchFamily="34" charset="0"/>
              </a:rPr>
              <a:t>==1.13.1 scikit-learn==1.5.2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2931C3-9645-BE2E-91EF-4A68A6EEF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267" y="2828692"/>
            <a:ext cx="657225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067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62541" y="1046083"/>
            <a:ext cx="6253635" cy="1113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(5) </a:t>
            </a:r>
            <a:r>
              <a:rPr lang="en-US" altLang="ko-KR" dirty="0">
                <a:latin typeface="Arial Narrow" panose="020B0606020202030204" pitchFamily="34" charset="0"/>
              </a:rPr>
              <a:t>Check if </a:t>
            </a:r>
            <a:r>
              <a:rPr lang="en-US" altLang="ko-KR" dirty="0" err="1">
                <a:latin typeface="Arial Narrow" panose="020B0606020202030204" pitchFamily="34" charset="0"/>
              </a:rPr>
              <a:t>tensorflow</a:t>
            </a:r>
            <a:r>
              <a:rPr lang="en-US" altLang="ko-KR" dirty="0">
                <a:latin typeface="Arial Narrow" panose="020B0606020202030204" pitchFamily="34" charset="0"/>
              </a:rPr>
              <a:t> is installed properly, and which version is installed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8DC272-78E5-435C-9091-403E64AB28AF}"/>
              </a:ext>
            </a:extLst>
          </p:cNvPr>
          <p:cNvSpPr/>
          <p:nvPr/>
        </p:nvSpPr>
        <p:spPr>
          <a:xfrm>
            <a:off x="266700" y="205859"/>
            <a:ext cx="35864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4. Installing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6ABB30-F979-432D-AE6B-03B1058E50ED}"/>
              </a:ext>
            </a:extLst>
          </p:cNvPr>
          <p:cNvSpPr txBox="1"/>
          <p:nvPr/>
        </p:nvSpPr>
        <p:spPr>
          <a:xfrm>
            <a:off x="859536" y="1602742"/>
            <a:ext cx="70043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latin typeface="Arial Narrow" panose="020B0606020202030204" pitchFamily="34" charset="0"/>
              </a:rPr>
              <a:t>python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latin typeface="Arial Narrow" panose="020B0606020202030204" pitchFamily="34" charset="0"/>
              </a:rPr>
              <a:t>import </a:t>
            </a:r>
            <a:r>
              <a:rPr lang="en-US" altLang="ko-KR" dirty="0" err="1">
                <a:latin typeface="Arial Narrow" panose="020B0606020202030204" pitchFamily="34" charset="0"/>
              </a:rPr>
              <a:t>tensorflow</a:t>
            </a:r>
            <a:r>
              <a:rPr lang="en-US" altLang="ko-KR" dirty="0">
                <a:latin typeface="Arial Narrow" panose="020B0606020202030204" pitchFamily="34" charset="0"/>
              </a:rPr>
              <a:t> as </a:t>
            </a:r>
            <a:r>
              <a:rPr lang="en-US" altLang="ko-KR" dirty="0" err="1">
                <a:latin typeface="Arial Narrow" panose="020B0606020202030204" pitchFamily="34" charset="0"/>
              </a:rPr>
              <a:t>tf</a:t>
            </a:r>
            <a:endParaRPr lang="en-US" altLang="ko-KR" dirty="0">
              <a:latin typeface="Arial Narrow" panose="020B0606020202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dirty="0" err="1">
                <a:latin typeface="Arial Narrow" panose="020B0606020202030204" pitchFamily="34" charset="0"/>
              </a:rPr>
              <a:t>tf</a:t>
            </a:r>
            <a:r>
              <a:rPr lang="en-US" altLang="ko-KR" dirty="0">
                <a:latin typeface="Arial Narrow" panose="020B0606020202030204" pitchFamily="34" charset="0"/>
              </a:rPr>
              <a:t>.__version__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4A980F-E72F-6B27-88D2-F2300C168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48" y="2592941"/>
            <a:ext cx="6507480" cy="40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03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62541" y="1046083"/>
            <a:ext cx="5206875" cy="38833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Google driver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hlinkClick r:id="rId3"/>
              </a:rPr>
              <a:t>https://drive.google.com/drive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Github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hlinkClick r:id="rId4"/>
              </a:rPr>
              <a:t>https://github.com/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hlinkClick r:id="rId5"/>
              </a:rPr>
              <a:t>https://github.com/JunetaeKim/DeepLearningClass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8DC272-78E5-435C-9091-403E64AB28AF}"/>
              </a:ext>
            </a:extLst>
          </p:cNvPr>
          <p:cNvSpPr/>
          <p:nvPr/>
        </p:nvSpPr>
        <p:spPr>
          <a:xfrm>
            <a:off x="266700" y="205859"/>
            <a:ext cx="37978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5. Google drive &amp;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github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8735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62541" y="1046083"/>
            <a:ext cx="5590787" cy="1667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Google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colab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hlinkClick r:id="rId3"/>
              </a:rPr>
              <a:t>https://colab.research.google.com/github/JunetaeKim/DeepLearningClass/blob/main/Week2/TfTest.ipynb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8DC272-78E5-435C-9091-403E64AB28AF}"/>
              </a:ext>
            </a:extLst>
          </p:cNvPr>
          <p:cNvSpPr/>
          <p:nvPr/>
        </p:nvSpPr>
        <p:spPr>
          <a:xfrm>
            <a:off x="266700" y="205859"/>
            <a:ext cx="15327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1"/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6. </a:t>
            </a:r>
            <a:r>
              <a:rPr lang="en-US" altLang="ko-KR" sz="32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Colab</a:t>
            </a:r>
            <a:r>
              <a:rPr lang="en-US" altLang="ko-KR" sz="32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endParaRPr lang="ko-KR" altLang="en-US" sz="3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9569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2547372" y="2734064"/>
            <a:ext cx="5087868" cy="92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dirty="0">
                <a:latin typeface="Arial Narrow" panose="020B0606020202030204" pitchFamily="34" charset="0"/>
              </a:rPr>
              <a:t>Assignment presentation</a:t>
            </a:r>
            <a:endParaRPr lang="en-US" altLang="ko-KR" sz="32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758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16721</TotalTime>
  <Words>1622</Words>
  <Application>Microsoft Office PowerPoint</Application>
  <PresentationFormat>화면 슬라이드 쇼(4:3)</PresentationFormat>
  <Paragraphs>319</Paragraphs>
  <Slides>58</Slides>
  <Notes>57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4" baseType="lpstr">
      <vt:lpstr>맑은 고딕</vt:lpstr>
      <vt:lpstr>Arial</vt:lpstr>
      <vt:lpstr>Arial Narrow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김준태</dc:creator>
  <cp:lastModifiedBy>준태 김</cp:lastModifiedBy>
  <cp:revision>1544</cp:revision>
  <cp:lastPrinted>2017-04-16T10:58:23Z</cp:lastPrinted>
  <dcterms:created xsi:type="dcterms:W3CDTF">2017-03-22T07:59:28Z</dcterms:created>
  <dcterms:modified xsi:type="dcterms:W3CDTF">2026-02-27T08:46:07Z</dcterms:modified>
</cp:coreProperties>
</file>