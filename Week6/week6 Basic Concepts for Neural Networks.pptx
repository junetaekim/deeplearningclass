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65" r:id="rId2"/>
    <p:sldId id="509" r:id="rId3"/>
    <p:sldId id="599" r:id="rId4"/>
    <p:sldId id="600" r:id="rId5"/>
    <p:sldId id="601" r:id="rId6"/>
    <p:sldId id="602" r:id="rId7"/>
    <p:sldId id="603" r:id="rId8"/>
    <p:sldId id="604" r:id="rId9"/>
    <p:sldId id="605" r:id="rId10"/>
    <p:sldId id="606" r:id="rId11"/>
    <p:sldId id="607" r:id="rId12"/>
    <p:sldId id="608" r:id="rId13"/>
    <p:sldId id="609" r:id="rId14"/>
    <p:sldId id="610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630" r:id="rId35"/>
    <p:sldId id="632" r:id="rId36"/>
    <p:sldId id="631" r:id="rId37"/>
    <p:sldId id="633" r:id="rId38"/>
    <p:sldId id="634" r:id="rId39"/>
    <p:sldId id="644" r:id="rId40"/>
    <p:sldId id="635" r:id="rId41"/>
    <p:sldId id="636" r:id="rId42"/>
    <p:sldId id="637" r:id="rId43"/>
    <p:sldId id="638" r:id="rId44"/>
    <p:sldId id="639" r:id="rId45"/>
    <p:sldId id="640" r:id="rId46"/>
    <p:sldId id="641" r:id="rId47"/>
    <p:sldId id="642" r:id="rId48"/>
    <p:sldId id="643" r:id="rId49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준태" initials="김준" lastIdx="1" clrIdx="0">
    <p:extLst>
      <p:ext uri="{19B8F6BF-5375-455C-9EA6-DF929625EA0E}">
        <p15:presenceInfo xmlns:p15="http://schemas.microsoft.com/office/powerpoint/2012/main" userId="e588e086b754a5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2B1"/>
    <a:srgbClr val="FF7C80"/>
    <a:srgbClr val="CC3300"/>
    <a:srgbClr val="FF9966"/>
    <a:srgbClr val="CAABA2"/>
    <a:srgbClr val="FFFFCC"/>
    <a:srgbClr val="FFFF66"/>
    <a:srgbClr val="CCFF99"/>
    <a:srgbClr val="CCEC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5566" autoAdjust="0"/>
  </p:normalViewPr>
  <p:slideViewPr>
    <p:cSldViewPr snapToGrid="0" showGuides="1">
      <p:cViewPr varScale="1">
        <p:scale>
          <a:sx n="102" d="100"/>
          <a:sy n="102" d="100"/>
        </p:scale>
        <p:origin x="1944" y="102"/>
      </p:cViewPr>
      <p:guideLst>
        <p:guide orient="horz" pos="3657"/>
        <p:guide pos="2880"/>
      </p:guideLst>
    </p:cSldViewPr>
  </p:slideViewPr>
  <p:notesTextViewPr>
    <p:cViewPr>
      <p:scale>
        <a:sx n="200" d="100"/>
        <a:sy n="200" d="100"/>
      </p:scale>
      <p:origin x="0" y="-5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A4DD-E6C5-4446-8814-DDCEAB64F4E0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E5394-4E77-4E42-BEDA-D88072962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75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36B7-6BC9-4358-A9C9-63F4AFA82B46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6338" y="1233488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DD7B4-6F0D-4FE3-8660-A7DE31D2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56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31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1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71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80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26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369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60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731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317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004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030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5785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372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58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233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48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884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244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45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402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488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234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165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405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540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777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9361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7120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398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2681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3168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1214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828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511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386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7312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8672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1731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7002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870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720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967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5677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8894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7127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2343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0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06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5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5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6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DFAC-D890-497A-A497-2A400DD02E74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8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6/Week6_MatMul.ipyn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6/Week6_XOR_MLP.ipynb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6/Week6_GradVanish.ipynb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99839" y="1441108"/>
            <a:ext cx="8544322" cy="817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457200" y="3476625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352800" y="3571875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1075166" y="3978237"/>
            <a:ext cx="6941127" cy="1314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Ph.D. </a:t>
            </a:r>
            <a:r>
              <a:rPr lang="en-US" altLang="ko-KR" sz="32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Junetae</a:t>
            </a: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Kim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Associate professor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B9B8D-4441-4FDD-9D76-E9EA305C96FA}"/>
              </a:ext>
            </a:extLst>
          </p:cNvPr>
          <p:cNvSpPr txBox="1"/>
          <p:nvPr/>
        </p:nvSpPr>
        <p:spPr>
          <a:xfrm>
            <a:off x="4096512" y="2580947"/>
            <a:ext cx="1179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Week 6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095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8277" y="2627376"/>
            <a:ext cx="45262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Perceptron Working Mechanism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80756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2163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perceptron?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Algorithm that returns true if the input data exceeds a certain level by the activation function and false otherwise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What this circuit does is similar to the role of neurons in the human brain.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451340" y="3335172"/>
            <a:ext cx="2493315" cy="2249611"/>
            <a:chOff x="2933203" y="3967825"/>
            <a:chExt cx="2493315" cy="2249611"/>
          </a:xfrm>
        </p:grpSpPr>
        <p:grpSp>
          <p:nvGrpSpPr>
            <p:cNvPr id="11" name="그룹 10"/>
            <p:cNvGrpSpPr/>
            <p:nvPr/>
          </p:nvGrpSpPr>
          <p:grpSpPr>
            <a:xfrm>
              <a:off x="2933203" y="4375309"/>
              <a:ext cx="2272938" cy="1403577"/>
              <a:chOff x="2933203" y="4375309"/>
              <a:chExt cx="2272938" cy="1403577"/>
            </a:xfrm>
          </p:grpSpPr>
          <p:grpSp>
            <p:nvGrpSpPr>
              <p:cNvPr id="4" name="그룹 3"/>
              <p:cNvGrpSpPr/>
              <p:nvPr/>
            </p:nvGrpSpPr>
            <p:grpSpPr>
              <a:xfrm>
                <a:off x="2933203" y="4375309"/>
                <a:ext cx="2272938" cy="1403577"/>
                <a:chOff x="1921056" y="4880406"/>
                <a:chExt cx="2272938" cy="1403577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2" name="모서리가 둥근 직사각형 1"/>
                <p:cNvSpPr/>
                <p:nvPr/>
              </p:nvSpPr>
              <p:spPr>
                <a:xfrm>
                  <a:off x="1921056" y="5103223"/>
                  <a:ext cx="2272938" cy="95794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" name="순서도: 수동 연산 2"/>
                <p:cNvSpPr/>
                <p:nvPr/>
              </p:nvSpPr>
              <p:spPr>
                <a:xfrm>
                  <a:off x="2185851" y="4880406"/>
                  <a:ext cx="408487" cy="223660"/>
                </a:xfrm>
                <a:prstGeom prst="flowChartManualOperati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순서도: 수동 연산 9"/>
                <p:cNvSpPr/>
                <p:nvPr/>
              </p:nvSpPr>
              <p:spPr>
                <a:xfrm rot="10800000">
                  <a:off x="3528553" y="6061166"/>
                  <a:ext cx="396191" cy="222817"/>
                </a:xfrm>
                <a:prstGeom prst="flowChartManualOperati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" name="모서리가 둥근 직사각형 6"/>
              <p:cNvSpPr/>
              <p:nvPr/>
            </p:nvSpPr>
            <p:spPr>
              <a:xfrm>
                <a:off x="3238580" y="4786950"/>
                <a:ext cx="1658302" cy="593502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3840051" y="4877042"/>
                <a:ext cx="4892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f(x)</a:t>
                </a:r>
                <a:endParaRPr lang="ko-KR" altLang="en-US" sz="20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3105709" y="3967825"/>
              <a:ext cx="8611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rPr>
                <a:t>Input, x </a:t>
              </a:r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17909" y="5848104"/>
              <a:ext cx="10086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rPr>
                <a:t>Output, y </a:t>
              </a:r>
              <a:endParaRPr lang="ko-KR" alt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9DB4C327-D9C3-63AC-F9E9-A765FCBBB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3954" y="3220312"/>
            <a:ext cx="3516865" cy="305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28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1748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Basic mechanism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mechanism of </a:t>
            </a:r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perceptron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is to connect multiple layers of perceptron together and combine them in complex ways to make decisions when given inputs.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2068D1-B5C2-1782-DE14-A68FD369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25" y="2660904"/>
            <a:ext cx="5069002" cy="39957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632EC6-3E26-B4B5-32EE-3F3795431797}"/>
              </a:ext>
            </a:extLst>
          </p:cNvPr>
          <p:cNvSpPr txBox="1"/>
          <p:nvPr/>
        </p:nvSpPr>
        <p:spPr>
          <a:xfrm>
            <a:off x="822960" y="3178260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Stimulation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DE4D4-0F02-00DB-6913-171F5DAE0B1C}"/>
              </a:ext>
            </a:extLst>
          </p:cNvPr>
          <p:cNvSpPr txBox="1"/>
          <p:nvPr/>
        </p:nvSpPr>
        <p:spPr>
          <a:xfrm>
            <a:off x="6537960" y="3178260"/>
            <a:ext cx="104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Decision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964194-B5FC-FA14-50BA-108B3B1F9734}"/>
              </a:ext>
            </a:extLst>
          </p:cNvPr>
          <p:cNvSpPr txBox="1"/>
          <p:nvPr/>
        </p:nvSpPr>
        <p:spPr>
          <a:xfrm>
            <a:off x="1337786" y="5113740"/>
            <a:ext cx="688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Input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9BA6B9-C264-D00A-7797-F9584A46D435}"/>
              </a:ext>
            </a:extLst>
          </p:cNvPr>
          <p:cNvSpPr txBox="1"/>
          <p:nvPr/>
        </p:nvSpPr>
        <p:spPr>
          <a:xfrm>
            <a:off x="6561487" y="5113740"/>
            <a:ext cx="90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Output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4DA933-18E3-690C-8E55-1D960C399D28}"/>
              </a:ext>
            </a:extLst>
          </p:cNvPr>
          <p:cNvSpPr txBox="1"/>
          <p:nvPr/>
        </p:nvSpPr>
        <p:spPr>
          <a:xfrm>
            <a:off x="3630168" y="5159013"/>
            <a:ext cx="7485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Narrow" panose="020B0606020202030204" pitchFamily="34" charset="0"/>
              </a:rPr>
              <a:t>weighted sum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0DA0CF-87EB-F5A5-21E8-4616E1A6596C}"/>
              </a:ext>
            </a:extLst>
          </p:cNvPr>
          <p:cNvSpPr txBox="1"/>
          <p:nvPr/>
        </p:nvSpPr>
        <p:spPr>
          <a:xfrm>
            <a:off x="4460277" y="5205180"/>
            <a:ext cx="7485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Narrow" panose="020B0606020202030204" pitchFamily="34" charset="0"/>
              </a:rPr>
              <a:t>activation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A66220-CCA1-86B0-254F-FDB6495F33D8}"/>
              </a:ext>
            </a:extLst>
          </p:cNvPr>
          <p:cNvSpPr txBox="1"/>
          <p:nvPr/>
        </p:nvSpPr>
        <p:spPr>
          <a:xfrm>
            <a:off x="4133639" y="4836741"/>
            <a:ext cx="589225" cy="261610"/>
          </a:xfrm>
          <a:prstGeom prst="rect">
            <a:avLst/>
          </a:prstGeom>
          <a:solidFill>
            <a:srgbClr val="D3C2B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Narrow" panose="020B0606020202030204" pitchFamily="34" charset="0"/>
              </a:rPr>
              <a:t>Nodes</a:t>
            </a:r>
            <a:endParaRPr lang="ko-KR" altLang="en-US" sz="1100" dirty="0">
              <a:latin typeface="Arial Narrow" panose="020B0606020202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D45384-9C46-7D3F-57BC-9D86DF2E2EB5}"/>
              </a:ext>
            </a:extLst>
          </p:cNvPr>
          <p:cNvSpPr txBox="1"/>
          <p:nvPr/>
        </p:nvSpPr>
        <p:spPr>
          <a:xfrm>
            <a:off x="4618558" y="6000750"/>
            <a:ext cx="118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 Narrow" panose="020B0606020202030204" pitchFamily="34" charset="0"/>
              </a:rPr>
              <a:t>ex) sigmoid </a:t>
            </a:r>
            <a:endParaRPr lang="ko-KR" altLang="en-US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64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Basic mechanism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8A9C93-71CB-AD8E-0DE2-699BE07C15C0}"/>
              </a:ext>
            </a:extLst>
          </p:cNvPr>
          <p:cNvGrpSpPr/>
          <p:nvPr/>
        </p:nvGrpSpPr>
        <p:grpSpPr>
          <a:xfrm>
            <a:off x="1218914" y="1800209"/>
            <a:ext cx="6124289" cy="2514409"/>
            <a:chOff x="1218914" y="2056241"/>
            <a:chExt cx="6124289" cy="251440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E88C932-D0D1-9DDA-3730-B26D47804453}"/>
                </a:ext>
              </a:extLst>
            </p:cNvPr>
            <p:cNvGrpSpPr/>
            <p:nvPr/>
          </p:nvGrpSpPr>
          <p:grpSpPr>
            <a:xfrm>
              <a:off x="1218914" y="2056241"/>
              <a:ext cx="6124289" cy="2514409"/>
              <a:chOff x="1337786" y="4142232"/>
              <a:chExt cx="6124289" cy="2514409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32068D1-B5C2-1782-DE14-A68FD36900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7073"/>
              <a:stretch/>
            </p:blipFill>
            <p:spPr>
              <a:xfrm>
                <a:off x="1681925" y="4142232"/>
                <a:ext cx="5069002" cy="2514409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964194-B5FC-FA14-50BA-108B3B1F9734}"/>
                  </a:ext>
                </a:extLst>
              </p:cNvPr>
              <p:cNvSpPr txBox="1"/>
              <p:nvPr/>
            </p:nvSpPr>
            <p:spPr>
              <a:xfrm>
                <a:off x="1337786" y="5113740"/>
                <a:ext cx="6882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latin typeface="Arial Narrow" panose="020B0606020202030204" pitchFamily="34" charset="0"/>
                  </a:rPr>
                  <a:t>Input</a:t>
                </a:r>
                <a:endParaRPr lang="ko-KR" altLang="en-US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9BA6B9-C264-D00A-7797-F9584A46D435}"/>
                  </a:ext>
                </a:extLst>
              </p:cNvPr>
              <p:cNvSpPr txBox="1"/>
              <p:nvPr/>
            </p:nvSpPr>
            <p:spPr>
              <a:xfrm>
                <a:off x="6561487" y="5113740"/>
                <a:ext cx="9005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latin typeface="Arial Narrow" panose="020B0606020202030204" pitchFamily="34" charset="0"/>
                  </a:rPr>
                  <a:t>Output</a:t>
                </a:r>
                <a:endParaRPr lang="ko-KR" altLang="en-US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4DA933-18E3-690C-8E55-1D960C399D28}"/>
                  </a:ext>
                </a:extLst>
              </p:cNvPr>
              <p:cNvSpPr txBox="1"/>
              <p:nvPr/>
            </p:nvSpPr>
            <p:spPr>
              <a:xfrm>
                <a:off x="3630168" y="5159013"/>
                <a:ext cx="74855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Arial Narrow" panose="020B0606020202030204" pitchFamily="34" charset="0"/>
                  </a:rPr>
                  <a:t>weighted sum</a:t>
                </a:r>
                <a:endParaRPr lang="ko-KR" altLang="en-US" sz="11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0DA0CF-87EB-F5A5-21E8-4616E1A6596C}"/>
                  </a:ext>
                </a:extLst>
              </p:cNvPr>
              <p:cNvSpPr txBox="1"/>
              <p:nvPr/>
            </p:nvSpPr>
            <p:spPr>
              <a:xfrm>
                <a:off x="4460277" y="5205180"/>
                <a:ext cx="748558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Arial Narrow" panose="020B0606020202030204" pitchFamily="34" charset="0"/>
                  </a:rPr>
                  <a:t>activation</a:t>
                </a:r>
                <a:endParaRPr lang="ko-KR" altLang="en-US" sz="11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A66220-CCA1-86B0-254F-FDB6495F33D8}"/>
                  </a:ext>
                </a:extLst>
              </p:cNvPr>
              <p:cNvSpPr txBox="1"/>
              <p:nvPr/>
            </p:nvSpPr>
            <p:spPr>
              <a:xfrm>
                <a:off x="4133639" y="4836741"/>
                <a:ext cx="589225" cy="261610"/>
              </a:xfrm>
              <a:prstGeom prst="rect">
                <a:avLst/>
              </a:prstGeom>
              <a:solidFill>
                <a:srgbClr val="D3C2B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atin typeface="Arial Narrow" panose="020B0606020202030204" pitchFamily="34" charset="0"/>
                  </a:rPr>
                  <a:t>Nodes</a:t>
                </a:r>
                <a:endParaRPr lang="ko-KR" altLang="en-US" sz="1100" dirty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96812F-4653-B1C1-6158-2A0BFC2460BD}"/>
                </a:ext>
              </a:extLst>
            </p:cNvPr>
            <p:cNvSpPr txBox="1"/>
            <p:nvPr/>
          </p:nvSpPr>
          <p:spPr>
            <a:xfrm>
              <a:off x="4499686" y="3964987"/>
              <a:ext cx="118055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Arial Narrow" panose="020B0606020202030204" pitchFamily="34" charset="0"/>
                </a:rPr>
                <a:t>ex) sigmoid </a:t>
              </a:r>
              <a:endParaRPr lang="ko-KR" altLang="en-US" sz="14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B6D314E-360C-D1FB-DB27-05DDC86003AC}"/>
              </a:ext>
            </a:extLst>
          </p:cNvPr>
          <p:cNvGrpSpPr/>
          <p:nvPr/>
        </p:nvGrpSpPr>
        <p:grpSpPr>
          <a:xfrm>
            <a:off x="954673" y="4692233"/>
            <a:ext cx="7401422" cy="862219"/>
            <a:chOff x="954673" y="4975697"/>
            <a:chExt cx="7401422" cy="8622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6B4EE4-28F4-9FB5-BB26-BB506D01B1EB}"/>
                    </a:ext>
                  </a:extLst>
                </p:cNvPr>
                <p:cNvSpPr txBox="1"/>
                <p:nvPr/>
              </p:nvSpPr>
              <p:spPr>
                <a:xfrm>
                  <a:off x="954673" y="4975697"/>
                  <a:ext cx="12512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6B4EE4-28F4-9FB5-BB26-BB506D01B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673" y="4975697"/>
                  <a:ext cx="125124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2FDC70-EFF2-BCB7-C01A-E3C6DEE3D527}"/>
                    </a:ext>
                  </a:extLst>
                </p:cNvPr>
                <p:cNvSpPr txBox="1"/>
                <p:nvPr/>
              </p:nvSpPr>
              <p:spPr>
                <a:xfrm>
                  <a:off x="954673" y="5468584"/>
                  <a:ext cx="12749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2FDC70-EFF2-BCB7-C01A-E3C6DEE3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673" y="5468584"/>
                  <a:ext cx="127490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오른쪽 중괄호 4">
              <a:extLst>
                <a:ext uri="{FF2B5EF4-FFF2-40B4-BE49-F238E27FC236}">
                  <a16:creationId xmlns:a16="http://schemas.microsoft.com/office/drawing/2014/main" id="{6CFE4FD6-225C-4FD2-8A5A-85BDAADE6293}"/>
                </a:ext>
              </a:extLst>
            </p:cNvPr>
            <p:cNvSpPr/>
            <p:nvPr/>
          </p:nvSpPr>
          <p:spPr>
            <a:xfrm>
              <a:off x="2171066" y="5093207"/>
              <a:ext cx="272111" cy="684911"/>
            </a:xfrm>
            <a:prstGeom prst="rightBrace">
              <a:avLst>
                <a:gd name="adj1" fmla="val 62926"/>
                <a:gd name="adj2" fmla="val 50000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5DE3EB6-BADF-87BF-5769-3E6D74EEDAC1}"/>
                    </a:ext>
                  </a:extLst>
                </p:cNvPr>
                <p:cNvSpPr txBox="1"/>
                <p:nvPr/>
              </p:nvSpPr>
              <p:spPr>
                <a:xfrm>
                  <a:off x="3017525" y="5240070"/>
                  <a:ext cx="230657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5DE3EB6-BADF-87BF-5769-3E6D74EE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7525" y="5240070"/>
                  <a:ext cx="230657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07753919-09FD-F474-EC46-F23E9ADE155F}"/>
                </a:ext>
              </a:extLst>
            </p:cNvPr>
            <p:cNvSpPr/>
            <p:nvPr/>
          </p:nvSpPr>
          <p:spPr>
            <a:xfrm>
              <a:off x="2697480" y="5242325"/>
              <a:ext cx="393192" cy="373841"/>
            </a:xfrm>
            <a:prstGeom prst="rightArrow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30C4A232-5A09-2F66-0A95-DE5B2AF964A1}"/>
                </a:ext>
              </a:extLst>
            </p:cNvPr>
            <p:cNvSpPr/>
            <p:nvPr/>
          </p:nvSpPr>
          <p:spPr>
            <a:xfrm>
              <a:off x="5324098" y="5240070"/>
              <a:ext cx="393192" cy="373841"/>
            </a:xfrm>
            <a:prstGeom prst="rightArrow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ACA560-FDF9-9B58-653A-B9580088948B}"/>
                    </a:ext>
                  </a:extLst>
                </p:cNvPr>
                <p:cNvSpPr txBox="1"/>
                <p:nvPr/>
              </p:nvSpPr>
              <p:spPr>
                <a:xfrm>
                  <a:off x="5520694" y="5113812"/>
                  <a:ext cx="2835401" cy="597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e>
                              <m: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0ACA560-FDF9-9B58-653A-B95800889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694" y="5113812"/>
                  <a:ext cx="2835401" cy="5976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1A4FA72-13E5-DAFA-6B71-C69038239C94}"/>
              </a:ext>
            </a:extLst>
          </p:cNvPr>
          <p:cNvSpPr txBox="1"/>
          <p:nvPr/>
        </p:nvSpPr>
        <p:spPr>
          <a:xfrm>
            <a:off x="954673" y="5865802"/>
            <a:ext cx="1856362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1" dirty="0">
                <a:solidFill>
                  <a:srgbClr val="202124"/>
                </a:solidFill>
                <a:effectLst/>
                <a:latin typeface="Arial Narrow" panose="020B0606020202030204" pitchFamily="34" charset="0"/>
              </a:rPr>
              <a:t>w: weight </a:t>
            </a:r>
            <a:r>
              <a:rPr lang="ko-KR" altLang="en-US" sz="1600" b="0" i="1" dirty="0">
                <a:solidFill>
                  <a:srgbClr val="202124"/>
                </a:solidFill>
                <a:effectLst/>
                <a:latin typeface="Arial Narrow" panose="020B0606020202030204" pitchFamily="34" charset="0"/>
              </a:rPr>
              <a:t>≈ </a:t>
            </a:r>
            <a:r>
              <a:rPr lang="en-US" altLang="ko-KR" sz="1600" b="0" i="1" dirty="0">
                <a:solidFill>
                  <a:srgbClr val="202124"/>
                </a:solidFill>
                <a:effectLst/>
                <a:latin typeface="Arial Narrow" panose="020B0606020202030204" pitchFamily="34" charset="0"/>
              </a:rPr>
              <a:t>slope </a:t>
            </a:r>
          </a:p>
          <a:p>
            <a:pPr>
              <a:lnSpc>
                <a:spcPct val="150000"/>
              </a:lnSpc>
            </a:pPr>
            <a:r>
              <a:rPr lang="en-US" altLang="ko-KR" sz="1600" i="1" dirty="0">
                <a:solidFill>
                  <a:srgbClr val="202124"/>
                </a:solidFill>
                <a:latin typeface="Arial Narrow" panose="020B0606020202030204" pitchFamily="34" charset="0"/>
              </a:rPr>
              <a:t>b: intercept </a:t>
            </a:r>
            <a:r>
              <a:rPr lang="ko-KR" altLang="en-US" sz="1600" b="0" i="1" dirty="0">
                <a:solidFill>
                  <a:srgbClr val="202124"/>
                </a:solidFill>
                <a:effectLst/>
                <a:latin typeface="Arial Narrow" panose="020B0606020202030204" pitchFamily="34" charset="0"/>
              </a:rPr>
              <a:t>≈ </a:t>
            </a:r>
            <a:r>
              <a:rPr lang="en-US" altLang="ko-KR" sz="1600" b="0" i="1" dirty="0">
                <a:solidFill>
                  <a:srgbClr val="202124"/>
                </a:solidFill>
                <a:effectLst/>
                <a:latin typeface="Arial Narrow" panose="020B0606020202030204" pitchFamily="34" charset="0"/>
              </a:rPr>
              <a:t>bias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00C8F27-A196-2921-4074-365878DBC41F}"/>
              </a:ext>
            </a:extLst>
          </p:cNvPr>
          <p:cNvSpPr/>
          <p:nvPr/>
        </p:nvSpPr>
        <p:spPr>
          <a:xfrm>
            <a:off x="6938394" y="4826337"/>
            <a:ext cx="1092711" cy="684911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A55DF-3EE8-D74F-A5D3-22334CE13895}"/>
              </a:ext>
            </a:extLst>
          </p:cNvPr>
          <p:cNvSpPr txBox="1"/>
          <p:nvPr/>
        </p:nvSpPr>
        <p:spPr>
          <a:xfrm>
            <a:off x="6677078" y="5494654"/>
            <a:ext cx="160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0" i="1" dirty="0">
                <a:solidFill>
                  <a:schemeClr val="accent6"/>
                </a:solidFill>
                <a:effectLst/>
                <a:latin typeface="Arial Narrow" panose="020B0606020202030204" pitchFamily="34" charset="0"/>
              </a:rPr>
              <a:t>Sigmoid transformation</a:t>
            </a:r>
            <a:endParaRPr lang="ko-KR" altLang="en-US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2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perceptron mechanism in terms of data structure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7" name="표 11">
            <a:extLst>
              <a:ext uri="{FF2B5EF4-FFF2-40B4-BE49-F238E27FC236}">
                <a16:creationId xmlns:a16="http://schemas.microsoft.com/office/drawing/2014/main" id="{4C3D2298-501B-5664-74DE-EDFA219B5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746012"/>
              </p:ext>
            </p:extLst>
          </p:nvPr>
        </p:nvGraphicFramePr>
        <p:xfrm>
          <a:off x="774192" y="2147681"/>
          <a:ext cx="351434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316174420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1585871739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3107499662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Patient ID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Age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Height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387228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2"/>
                          </a:solidFill>
                          <a:latin typeface="Arial Narrow" panose="020B0606020202030204" pitchFamily="34" charset="0"/>
                        </a:rPr>
                        <a:t>56</a:t>
                      </a:r>
                      <a:endParaRPr lang="ko-KR" altLang="en-US" sz="1600" dirty="0">
                        <a:solidFill>
                          <a:schemeClr val="accent2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</a:rPr>
                        <a:t>181</a:t>
                      </a:r>
                      <a:endParaRPr lang="ko-KR" altLang="en-US" sz="1600" dirty="0">
                        <a:solidFill>
                          <a:schemeClr val="accent5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869915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33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168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36005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0866B9F-28C3-F4C9-BD16-124F5331B068}"/>
              </a:ext>
            </a:extLst>
          </p:cNvPr>
          <p:cNvSpPr txBox="1"/>
          <p:nvPr/>
        </p:nvSpPr>
        <p:spPr>
          <a:xfrm>
            <a:off x="1785366" y="3213846"/>
            <a:ext cx="14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Given dataset</a:t>
            </a:r>
            <a:endParaRPr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3A5F916-B7C5-8647-B324-C23123511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795603"/>
              </p:ext>
            </p:extLst>
          </p:nvPr>
        </p:nvGraphicFramePr>
        <p:xfrm>
          <a:off x="4944618" y="2147681"/>
          <a:ext cx="2342896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048076506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2743831636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W</a:t>
                      </a:r>
                      <a:r>
                        <a:rPr lang="en-US" altLang="ko-KR" sz="1600" baseline="-250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baseline="-250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W</a:t>
                      </a:r>
                      <a:r>
                        <a:rPr lang="en-US" altLang="ko-KR" sz="1600" baseline="-25000" dirty="0">
                          <a:latin typeface="Arial Narrow" panose="020B0606020202030204" pitchFamily="34" charset="0"/>
                        </a:rPr>
                        <a:t>2</a:t>
                      </a:r>
                      <a:endParaRPr lang="ko-KR" altLang="en-US" sz="1600" baseline="-250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685584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arrow" panose="020B0606020202030204" pitchFamily="34" charset="0"/>
                        </a:rPr>
                        <a:t>0.5</a:t>
                      </a:r>
                      <a:endParaRPr lang="ko-KR" altLang="en-US" sz="1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6"/>
                          </a:solidFill>
                          <a:latin typeface="Arial Narrow" panose="020B0606020202030204" pitchFamily="34" charset="0"/>
                        </a:rPr>
                        <a:t>-0.2</a:t>
                      </a:r>
                      <a:endParaRPr lang="ko-KR" altLang="en-US" sz="1600" dirty="0">
                        <a:solidFill>
                          <a:schemeClr val="accent6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1065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F455632-90EB-8DC1-1E42-56B832AF1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083497"/>
              </p:ext>
            </p:extLst>
          </p:nvPr>
        </p:nvGraphicFramePr>
        <p:xfrm>
          <a:off x="7568946" y="2147681"/>
          <a:ext cx="1171448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226523346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Bias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552340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9.5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6829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088EACB-8DA5-FBB7-D145-9770706CE996}"/>
              </a:ext>
            </a:extLst>
          </p:cNvPr>
          <p:cNvSpPr txBox="1"/>
          <p:nvPr/>
        </p:nvSpPr>
        <p:spPr>
          <a:xfrm>
            <a:off x="5753100" y="2880063"/>
            <a:ext cx="921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 Narrow" panose="020B0606020202030204" pitchFamily="34" charset="0"/>
              </a:rPr>
              <a:t>Weights</a:t>
            </a:r>
            <a:endParaRPr lang="ko-KR" alt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10A38C-FB55-EF65-ADC1-5F0BA756F452}"/>
              </a:ext>
            </a:extLst>
          </p:cNvPr>
          <p:cNvSpPr txBox="1"/>
          <p:nvPr/>
        </p:nvSpPr>
        <p:spPr>
          <a:xfrm>
            <a:off x="7686421" y="2880063"/>
            <a:ext cx="921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Arial Narrow" panose="020B0606020202030204" pitchFamily="34" charset="0"/>
              </a:rPr>
              <a:t>Bias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C014B0E-87C6-EB46-9F23-6681E0D42050}"/>
                  </a:ext>
                </a:extLst>
              </p:cNvPr>
              <p:cNvSpPr txBox="1"/>
              <p:nvPr/>
            </p:nvSpPr>
            <p:spPr>
              <a:xfrm>
                <a:off x="2413809" y="4617094"/>
                <a:ext cx="39869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181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9.5=</m:t>
                      </m:r>
                      <m:r>
                        <a:rPr lang="en-US" altLang="ko-K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1.3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C014B0E-87C6-EB46-9F23-6681E0D4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809" y="4617094"/>
                <a:ext cx="3986991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650DCF3-FFA8-1AEC-83DF-30862CF308CD}"/>
                  </a:ext>
                </a:extLst>
              </p:cNvPr>
              <p:cNvSpPr txBox="1"/>
              <p:nvPr/>
            </p:nvSpPr>
            <p:spPr>
              <a:xfrm>
                <a:off x="1876806" y="5144666"/>
                <a:ext cx="4572000" cy="66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𝑜𝑢𝑡𝑐𝑜𝑚𝑒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1.3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=0.786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650DCF3-FFA8-1AEC-83DF-30862CF3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806" y="5144666"/>
                <a:ext cx="4572000" cy="66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39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perceptron mechanism in terms of matrix operations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7" name="표 11">
            <a:extLst>
              <a:ext uri="{FF2B5EF4-FFF2-40B4-BE49-F238E27FC236}">
                <a16:creationId xmlns:a16="http://schemas.microsoft.com/office/drawing/2014/main" id="{4C3D2298-501B-5664-74DE-EDFA219B55E3}"/>
              </a:ext>
            </a:extLst>
          </p:cNvPr>
          <p:cNvGraphicFramePr>
            <a:graphicFrameLocks noGrp="1"/>
          </p:cNvGraphicFramePr>
          <p:nvPr/>
        </p:nvGraphicFramePr>
        <p:xfrm>
          <a:off x="774192" y="2147681"/>
          <a:ext cx="351434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316174420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1585871739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3107499662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Patient ID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Age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Height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387228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2"/>
                          </a:solidFill>
                          <a:latin typeface="Arial Narrow" panose="020B0606020202030204" pitchFamily="34" charset="0"/>
                        </a:rPr>
                        <a:t>56</a:t>
                      </a:r>
                      <a:endParaRPr lang="ko-KR" altLang="en-US" sz="1600" dirty="0">
                        <a:solidFill>
                          <a:schemeClr val="accent2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</a:rPr>
                        <a:t>181</a:t>
                      </a:r>
                      <a:endParaRPr lang="ko-KR" altLang="en-US" sz="1600" dirty="0">
                        <a:solidFill>
                          <a:schemeClr val="accent5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869915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33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168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36005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0866B9F-28C3-F4C9-BD16-124F5331B068}"/>
              </a:ext>
            </a:extLst>
          </p:cNvPr>
          <p:cNvSpPr txBox="1"/>
          <p:nvPr/>
        </p:nvSpPr>
        <p:spPr>
          <a:xfrm>
            <a:off x="1785366" y="3213846"/>
            <a:ext cx="14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Given dataset</a:t>
            </a:r>
            <a:endParaRPr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3A5F916-B7C5-8647-B324-C231235118A0}"/>
              </a:ext>
            </a:extLst>
          </p:cNvPr>
          <p:cNvGraphicFramePr>
            <a:graphicFrameLocks noGrp="1"/>
          </p:cNvGraphicFramePr>
          <p:nvPr/>
        </p:nvGraphicFramePr>
        <p:xfrm>
          <a:off x="4944618" y="2147681"/>
          <a:ext cx="2342896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048076506"/>
                    </a:ext>
                  </a:extLst>
                </a:gridCol>
                <a:gridCol w="1171448">
                  <a:extLst>
                    <a:ext uri="{9D8B030D-6E8A-4147-A177-3AD203B41FA5}">
                      <a16:colId xmlns:a16="http://schemas.microsoft.com/office/drawing/2014/main" val="2743831636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W</a:t>
                      </a:r>
                      <a:r>
                        <a:rPr lang="en-US" altLang="ko-KR" sz="1600" baseline="-250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baseline="-250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W</a:t>
                      </a:r>
                      <a:r>
                        <a:rPr lang="en-US" altLang="ko-KR" sz="1600" baseline="-25000" dirty="0">
                          <a:latin typeface="Arial Narrow" panose="020B0606020202030204" pitchFamily="34" charset="0"/>
                        </a:rPr>
                        <a:t>2</a:t>
                      </a:r>
                      <a:endParaRPr lang="ko-KR" altLang="en-US" sz="1600" baseline="-250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685584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arrow" panose="020B0606020202030204" pitchFamily="34" charset="0"/>
                        </a:rPr>
                        <a:t>0.5</a:t>
                      </a:r>
                      <a:endParaRPr lang="ko-KR" altLang="en-US" sz="1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6"/>
                          </a:solidFill>
                          <a:latin typeface="Arial Narrow" panose="020B0606020202030204" pitchFamily="34" charset="0"/>
                        </a:rPr>
                        <a:t>-0.2</a:t>
                      </a:r>
                      <a:endParaRPr lang="ko-KR" altLang="en-US" sz="1600" dirty="0">
                        <a:solidFill>
                          <a:schemeClr val="accent6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1065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F455632-90EB-8DC1-1E42-56B832AF16BC}"/>
              </a:ext>
            </a:extLst>
          </p:cNvPr>
          <p:cNvGraphicFramePr>
            <a:graphicFrameLocks noGrp="1"/>
          </p:cNvGraphicFramePr>
          <p:nvPr/>
        </p:nvGraphicFramePr>
        <p:xfrm>
          <a:off x="7568946" y="2147681"/>
          <a:ext cx="1171448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1448">
                  <a:extLst>
                    <a:ext uri="{9D8B030D-6E8A-4147-A177-3AD203B41FA5}">
                      <a16:colId xmlns:a16="http://schemas.microsoft.com/office/drawing/2014/main" val="2226523346"/>
                    </a:ext>
                  </a:extLst>
                </a:gridCol>
              </a:tblGrid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Bias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552340"/>
                  </a:ext>
                </a:extLst>
              </a:tr>
              <a:tr h="267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9.5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6829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088EACB-8DA5-FBB7-D145-9770706CE996}"/>
              </a:ext>
            </a:extLst>
          </p:cNvPr>
          <p:cNvSpPr txBox="1"/>
          <p:nvPr/>
        </p:nvSpPr>
        <p:spPr>
          <a:xfrm>
            <a:off x="5753100" y="2880063"/>
            <a:ext cx="921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 Narrow" panose="020B0606020202030204" pitchFamily="34" charset="0"/>
              </a:rPr>
              <a:t>Weights</a:t>
            </a:r>
            <a:endParaRPr lang="ko-KR" alt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10A38C-FB55-EF65-ADC1-5F0BA756F452}"/>
              </a:ext>
            </a:extLst>
          </p:cNvPr>
          <p:cNvSpPr txBox="1"/>
          <p:nvPr/>
        </p:nvSpPr>
        <p:spPr>
          <a:xfrm>
            <a:off x="7686421" y="2880063"/>
            <a:ext cx="921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Arial Narrow" panose="020B0606020202030204" pitchFamily="34" charset="0"/>
              </a:rPr>
              <a:t>Bias</a:t>
            </a:r>
            <a:endParaRPr lang="ko-KR" altLang="en-US" sz="1600" dirty="0"/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9AAC6CDA-D7FF-9067-DF8D-89D13CDABBF8}"/>
              </a:ext>
            </a:extLst>
          </p:cNvPr>
          <p:cNvSpPr/>
          <p:nvPr/>
        </p:nvSpPr>
        <p:spPr>
          <a:xfrm>
            <a:off x="2267712" y="3643502"/>
            <a:ext cx="457200" cy="4438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F5217EE7-6CD3-7B48-206D-8F1A6DDFA832}"/>
              </a:ext>
            </a:extLst>
          </p:cNvPr>
          <p:cNvSpPr/>
          <p:nvPr/>
        </p:nvSpPr>
        <p:spPr>
          <a:xfrm>
            <a:off x="5887466" y="3643502"/>
            <a:ext cx="457200" cy="4438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74E2C4F-8078-1DEB-E373-F6BD52D42215}"/>
              </a:ext>
            </a:extLst>
          </p:cNvPr>
          <p:cNvSpPr/>
          <p:nvPr/>
        </p:nvSpPr>
        <p:spPr>
          <a:xfrm>
            <a:off x="7926070" y="3639384"/>
            <a:ext cx="457200" cy="4438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77A32-77BD-A340-169E-28B7A400D88F}"/>
                  </a:ext>
                </a:extLst>
              </p:cNvPr>
              <p:cNvSpPr txBox="1"/>
              <p:nvPr/>
            </p:nvSpPr>
            <p:spPr>
              <a:xfrm>
                <a:off x="1920673" y="4282441"/>
                <a:ext cx="1151277" cy="465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181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77A32-77BD-A340-169E-28B7A400D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73" y="4282441"/>
                <a:ext cx="1151277" cy="465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D5CE5B-60B2-91E5-6159-315E18D74155}"/>
                  </a:ext>
                </a:extLst>
              </p:cNvPr>
              <p:cNvSpPr txBox="1"/>
              <p:nvPr/>
            </p:nvSpPr>
            <p:spPr>
              <a:xfrm>
                <a:off x="5540427" y="4279399"/>
                <a:ext cx="125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D5CE5B-60B2-91E5-6159-315E18D74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427" y="4279399"/>
                <a:ext cx="1257588" cy="276999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7DA482-1673-2CAA-A93D-33DFA03E3F02}"/>
                  </a:ext>
                </a:extLst>
              </p:cNvPr>
              <p:cNvSpPr txBox="1"/>
              <p:nvPr/>
            </p:nvSpPr>
            <p:spPr>
              <a:xfrm>
                <a:off x="7934706" y="4279398"/>
                <a:ext cx="549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9.5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7DA482-1673-2CAA-A93D-33DFA03E3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706" y="4279398"/>
                <a:ext cx="549061" cy="276999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/>
              <p:nvPr/>
            </p:nvSpPr>
            <p:spPr>
              <a:xfrm>
                <a:off x="2844419" y="5694297"/>
                <a:ext cx="29086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𝑊𝑀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𝑏𝑖𝑎𝑠</m:t>
                      </m:r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419" y="5694297"/>
                <a:ext cx="2908681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789EFC2-B018-D270-8923-742BF35828F8}"/>
              </a:ext>
            </a:extLst>
          </p:cNvPr>
          <p:cNvSpPr txBox="1"/>
          <p:nvPr/>
        </p:nvSpPr>
        <p:spPr>
          <a:xfrm>
            <a:off x="1785366" y="4786630"/>
            <a:ext cx="158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Data Matrix(DM)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9E74A4-C80C-7AC9-2977-01AAD0F6060F}"/>
              </a:ext>
            </a:extLst>
          </p:cNvPr>
          <p:cNvSpPr txBox="1"/>
          <p:nvPr/>
        </p:nvSpPr>
        <p:spPr>
          <a:xfrm>
            <a:off x="5281168" y="4563480"/>
            <a:ext cx="1865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Weight Matrix(WM)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804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perceptron mechanism in terms of matrix operations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/>
              <p:nvPr/>
            </p:nvSpPr>
            <p:spPr>
              <a:xfrm>
                <a:off x="869315" y="2261920"/>
                <a:ext cx="29086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𝑊𝑀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𝑏𝑖𝑎𝑠</m:t>
                      </m:r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2261920"/>
                <a:ext cx="2908681" cy="400110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A387B-9044-F3C9-6402-A4778BA52018}"/>
                  </a:ext>
                </a:extLst>
              </p:cNvPr>
              <p:cNvSpPr txBox="1"/>
              <p:nvPr/>
            </p:nvSpPr>
            <p:spPr>
              <a:xfrm>
                <a:off x="869445" y="3029944"/>
                <a:ext cx="4883655" cy="559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altLang="ko-K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𝑊𝑀</m:t>
                          </m:r>
                        </m:e>
                        <m:sup>
                          <m:r>
                            <a:rPr lang="en-US" altLang="ko-K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181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168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A387B-9044-F3C9-6402-A4778BA52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45" y="3029944"/>
                <a:ext cx="4883655" cy="55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559EC8-D668-EC6B-0418-FB907EA4DC64}"/>
                  </a:ext>
                </a:extLst>
              </p:cNvPr>
              <p:cNvSpPr txBox="1"/>
              <p:nvPr/>
            </p:nvSpPr>
            <p:spPr>
              <a:xfrm>
                <a:off x="869315" y="3957691"/>
                <a:ext cx="3135757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−17.1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+9.5=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559EC8-D668-EC6B-0418-FB907EA4D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3957691"/>
                <a:ext cx="3135757" cy="554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DC1313-A14E-0910-FAC5-B94F3FF55EEB}"/>
                  </a:ext>
                </a:extLst>
              </p:cNvPr>
              <p:cNvSpPr txBox="1"/>
              <p:nvPr/>
            </p:nvSpPr>
            <p:spPr>
              <a:xfrm>
                <a:off x="869315" y="4879859"/>
                <a:ext cx="3684397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𝑜𝑢𝑡𝑐𝑜𝑚𝑒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0.786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DC1313-A14E-0910-FAC5-B94F3FF55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4879859"/>
                <a:ext cx="3684397" cy="6594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5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perceptron mechanism in terms of matrix operations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/>
              <p:nvPr/>
            </p:nvSpPr>
            <p:spPr>
              <a:xfrm>
                <a:off x="869315" y="2261920"/>
                <a:ext cx="29086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𝑊𝑀</m:t>
                          </m:r>
                        </m:e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𝑏𝑖𝑎𝑠</m:t>
                      </m:r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9D6807-5FE8-AF79-A734-0AEADD75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2261920"/>
                <a:ext cx="2908681" cy="400110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A387B-9044-F3C9-6402-A4778BA52018}"/>
                  </a:ext>
                </a:extLst>
              </p:cNvPr>
              <p:cNvSpPr txBox="1"/>
              <p:nvPr/>
            </p:nvSpPr>
            <p:spPr>
              <a:xfrm>
                <a:off x="869445" y="3029944"/>
                <a:ext cx="4883655" cy="559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altLang="ko-K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𝑊𝑀</m:t>
                          </m:r>
                        </m:e>
                        <m:sup>
                          <m:r>
                            <a:rPr lang="en-US" altLang="ko-K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181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168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A387B-9044-F3C9-6402-A4778BA52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45" y="3029944"/>
                <a:ext cx="4883655" cy="559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559EC8-D668-EC6B-0418-FB907EA4DC64}"/>
                  </a:ext>
                </a:extLst>
              </p:cNvPr>
              <p:cNvSpPr txBox="1"/>
              <p:nvPr/>
            </p:nvSpPr>
            <p:spPr>
              <a:xfrm>
                <a:off x="869315" y="3957691"/>
                <a:ext cx="3135757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−17.1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+9.5=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559EC8-D668-EC6B-0418-FB907EA4D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3957691"/>
                <a:ext cx="3135757" cy="554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DC1313-A14E-0910-FAC5-B94F3FF55EEB}"/>
                  </a:ext>
                </a:extLst>
              </p:cNvPr>
              <p:cNvSpPr txBox="1"/>
              <p:nvPr/>
            </p:nvSpPr>
            <p:spPr>
              <a:xfrm>
                <a:off x="869315" y="4879859"/>
                <a:ext cx="3684397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𝑜𝑢𝑡𝑐𝑜𝑚𝑒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0.786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DC1313-A14E-0910-FAC5-B94F3FF55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15" y="4879859"/>
                <a:ext cx="3684397" cy="6594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표 11">
            <a:extLst>
              <a:ext uri="{FF2B5EF4-FFF2-40B4-BE49-F238E27FC236}">
                <a16:creationId xmlns:a16="http://schemas.microsoft.com/office/drawing/2014/main" id="{1EE9E04B-BE45-F6D8-C965-DD54B9F79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794247"/>
              </p:ext>
            </p:extLst>
          </p:nvPr>
        </p:nvGraphicFramePr>
        <p:xfrm>
          <a:off x="5393713" y="4579230"/>
          <a:ext cx="3091919" cy="113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3268">
                  <a:extLst>
                    <a:ext uri="{9D8B030D-6E8A-4147-A177-3AD203B41FA5}">
                      <a16:colId xmlns:a16="http://schemas.microsoft.com/office/drawing/2014/main" val="231617442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585871739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107499662"/>
                    </a:ext>
                  </a:extLst>
                </a:gridCol>
                <a:gridCol w="797051">
                  <a:extLst>
                    <a:ext uri="{9D8B030D-6E8A-4147-A177-3AD203B41FA5}">
                      <a16:colId xmlns:a16="http://schemas.microsoft.com/office/drawing/2014/main" val="1879701818"/>
                    </a:ext>
                  </a:extLst>
                </a:gridCol>
              </a:tblGrid>
              <a:tr h="469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Patient ID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Age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Height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Prob.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387228"/>
                  </a:ext>
                </a:extLst>
              </a:tr>
              <a:tr h="271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56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181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0.786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869915"/>
                  </a:ext>
                </a:extLst>
              </a:tr>
              <a:tr h="271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0.001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360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37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31AA36-91F1-4552-AC73-F21533D2650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735BC-AE4C-4D07-AF6F-938EFDB3D2EC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perceptron mechanism by python manual code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A894A-CFB5-EEE6-78D1-65891130EBD6}"/>
              </a:ext>
            </a:extLst>
          </p:cNvPr>
          <p:cNvSpPr txBox="1"/>
          <p:nvPr/>
        </p:nvSpPr>
        <p:spPr>
          <a:xfrm>
            <a:off x="1105856" y="2494440"/>
            <a:ext cx="646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https://colab.research.google.com/github/JunetaeKim/DeepLearningClass/blob/main/Week6/Week6_MatMul.ipynb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970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8277" y="2773680"/>
            <a:ext cx="452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Perceptron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04813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a single perceptron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If classification problems get a little complicated, it cannot be solved with a single perceptron</a:t>
            </a:r>
          </a:p>
        </p:txBody>
      </p:sp>
    </p:spTree>
    <p:extLst>
      <p:ext uri="{BB962C8B-B14F-4D97-AF65-F5344CB8AC3E}">
        <p14:creationId xmlns:p14="http://schemas.microsoft.com/office/powerpoint/2010/main" val="310692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a single perceptron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Let's establish the basic concept of a neural network by examining the limitations of the perceptron and the process of solving it with an example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B7A2BE6-AF71-2279-F733-7033E34D3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9423" y="3119613"/>
            <a:ext cx="2803677" cy="26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02A93-41CD-5229-0614-0F51F5516046}"/>
              </a:ext>
            </a:extLst>
          </p:cNvPr>
          <p:cNvSpPr txBox="1"/>
          <p:nvPr/>
        </p:nvSpPr>
        <p:spPr>
          <a:xfrm>
            <a:off x="2267505" y="58542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Two black dots and two white dots inside a square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9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Perceptron (Neural Network)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1748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a single perceptron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Can there be a straight line that classifies one side with only black points and the other with only white points?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02A93-41CD-5229-0614-0F51F5516046}"/>
              </a:ext>
            </a:extLst>
          </p:cNvPr>
          <p:cNvSpPr txBox="1"/>
          <p:nvPr/>
        </p:nvSpPr>
        <p:spPr>
          <a:xfrm>
            <a:off x="2267505" y="58542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Two black dots and two white dots inside a square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A012FA5-D08F-392F-3FFF-180D9397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505" y="2855666"/>
            <a:ext cx="4261311" cy="3714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1026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1748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a single perceptron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Can there be a straight line that classifies one side with only black points and the other with only white points?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02A93-41CD-5229-0614-0F51F5516046}"/>
              </a:ext>
            </a:extLst>
          </p:cNvPr>
          <p:cNvSpPr txBox="1"/>
          <p:nvPr/>
        </p:nvSpPr>
        <p:spPr>
          <a:xfrm>
            <a:off x="2267505" y="58542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Two black dots and two white dots inside a square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A012FA5-D08F-392F-3FFF-180D9397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505" y="2855666"/>
            <a:ext cx="4261311" cy="3714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65FF4B-D153-299A-96BD-C3BEBBBD6895}"/>
              </a:ext>
            </a:extLst>
          </p:cNvPr>
          <p:cNvSpPr txBox="1"/>
          <p:nvPr/>
        </p:nvSpPr>
        <p:spPr>
          <a:xfrm>
            <a:off x="493776" y="4615570"/>
            <a:ext cx="2249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Impossible with one line</a:t>
            </a:r>
          </a:p>
        </p:txBody>
      </p:sp>
    </p:spTree>
    <p:extLst>
      <p:ext uri="{BB962C8B-B14F-4D97-AF65-F5344CB8AC3E}">
        <p14:creationId xmlns:p14="http://schemas.microsoft.com/office/powerpoint/2010/main" val="3689503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1BEF38A2-7422-A6A5-AD50-7B927EF00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13346"/>
              </p:ext>
            </p:extLst>
          </p:nvPr>
        </p:nvGraphicFramePr>
        <p:xfrm>
          <a:off x="1482146" y="3299915"/>
          <a:ext cx="1892427" cy="195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809">
                  <a:extLst>
                    <a:ext uri="{9D8B030D-6E8A-4147-A177-3AD203B41FA5}">
                      <a16:colId xmlns:a16="http://schemas.microsoft.com/office/drawing/2014/main" val="1503835976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406674630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748018756"/>
                    </a:ext>
                  </a:extLst>
                </a:gridCol>
              </a:tblGrid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return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58663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937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228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83007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26689"/>
                  </a:ext>
                </a:extLst>
              </a:tr>
            </a:tbl>
          </a:graphicData>
        </a:graphic>
      </p:graphicFrame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D0CE5953-AED8-EA3F-BE39-B0BC28938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18333"/>
              </p:ext>
            </p:extLst>
          </p:nvPr>
        </p:nvGraphicFramePr>
        <p:xfrm>
          <a:off x="3643178" y="3299915"/>
          <a:ext cx="1892427" cy="195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809">
                  <a:extLst>
                    <a:ext uri="{9D8B030D-6E8A-4147-A177-3AD203B41FA5}">
                      <a16:colId xmlns:a16="http://schemas.microsoft.com/office/drawing/2014/main" val="1503835976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406674630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748018756"/>
                    </a:ext>
                  </a:extLst>
                </a:gridCol>
              </a:tblGrid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return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58663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937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228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83007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26689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4EFA4B5C-4DB2-9C82-6568-1D55B9908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063868"/>
              </p:ext>
            </p:extLst>
          </p:nvPr>
        </p:nvGraphicFramePr>
        <p:xfrm>
          <a:off x="5804210" y="3299915"/>
          <a:ext cx="1892427" cy="195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809">
                  <a:extLst>
                    <a:ext uri="{9D8B030D-6E8A-4147-A177-3AD203B41FA5}">
                      <a16:colId xmlns:a16="http://schemas.microsoft.com/office/drawing/2014/main" val="1503835976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406674630"/>
                    </a:ext>
                  </a:extLst>
                </a:gridCol>
                <a:gridCol w="630809">
                  <a:extLst>
                    <a:ext uri="{9D8B030D-6E8A-4147-A177-3AD203B41FA5}">
                      <a16:colId xmlns:a16="http://schemas.microsoft.com/office/drawing/2014/main" val="1748018756"/>
                    </a:ext>
                  </a:extLst>
                </a:gridCol>
              </a:tblGrid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return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58663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937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2282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83007"/>
                  </a:ext>
                </a:extLst>
              </a:tr>
              <a:tr h="390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266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B395490-43FE-6B4F-6AD4-E3EAC28EFA1C}"/>
              </a:ext>
            </a:extLst>
          </p:cNvPr>
          <p:cNvSpPr txBox="1"/>
          <p:nvPr/>
        </p:nvSpPr>
        <p:spPr>
          <a:xfrm>
            <a:off x="2097461" y="2930583"/>
            <a:ext cx="703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AND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03DF9-3691-0F1A-1030-4999716D7AF7}"/>
              </a:ext>
            </a:extLst>
          </p:cNvPr>
          <p:cNvSpPr txBox="1"/>
          <p:nvPr/>
        </p:nvSpPr>
        <p:spPr>
          <a:xfrm>
            <a:off x="4261541" y="2936679"/>
            <a:ext cx="703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OR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B0244-22FE-73EF-D46D-E0A1AC498479}"/>
              </a:ext>
            </a:extLst>
          </p:cNvPr>
          <p:cNvSpPr txBox="1"/>
          <p:nvPr/>
        </p:nvSpPr>
        <p:spPr>
          <a:xfrm>
            <a:off x="6398855" y="2930583"/>
            <a:ext cx="703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XOR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412343" y="5466963"/>
            <a:ext cx="20494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1 is returned, </a:t>
            </a:r>
            <a:br>
              <a:rPr lang="en-US" altLang="ko-KR" sz="1400" dirty="0">
                <a:latin typeface="Arial Narrow" panose="020B0606020202030204" pitchFamily="34" charset="0"/>
              </a:rPr>
            </a:br>
            <a:r>
              <a:rPr lang="en-US" altLang="ko-KR" sz="1400" dirty="0">
                <a:latin typeface="Arial Narrow" panose="020B0606020202030204" pitchFamily="34" charset="0"/>
              </a:rPr>
              <a:t>when both x1 and x2 are 1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721072" y="5466963"/>
            <a:ext cx="18036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1 is returned,</a:t>
            </a:r>
          </a:p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if either one of them is 1</a:t>
            </a:r>
            <a:endParaRPr lang="ko-KR" altLang="en-US" sz="1400" dirty="0">
              <a:latin typeface="Arial Narrow" panose="020B060602020203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784051" y="5466963"/>
            <a:ext cx="21083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1 is returned,</a:t>
            </a:r>
          </a:p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if only one of the two inputs is exclusively true</a:t>
            </a:r>
            <a:endParaRPr lang="ko-KR" altLang="en-US" sz="1400" dirty="0">
              <a:latin typeface="Arial Narrow" panose="020B0606020202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8B6A5C-091A-5D8F-F827-8202030E6E3D}"/>
              </a:ext>
            </a:extLst>
          </p:cNvPr>
          <p:cNvSpPr/>
          <p:nvPr/>
        </p:nvSpPr>
        <p:spPr>
          <a:xfrm>
            <a:off x="328771" y="1135201"/>
            <a:ext cx="89523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XOR (exclusive OR) problems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XOR is a concept that appears in logic circuits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There are 3 gates (AND, OR, XOR), and a gate is a rule that, given an input, returns an output</a:t>
            </a:r>
          </a:p>
        </p:txBody>
      </p:sp>
    </p:spTree>
    <p:extLst>
      <p:ext uri="{BB962C8B-B14F-4D97-AF65-F5344CB8AC3E}">
        <p14:creationId xmlns:p14="http://schemas.microsoft.com/office/powerpoint/2010/main" val="3019732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34" y="2658635"/>
            <a:ext cx="77438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1023257" y="5997081"/>
            <a:ext cx="2503714" cy="697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Arial Narrow" panose="020B0606020202030204" pitchFamily="34" charset="0"/>
              </a:rPr>
              <a:t>White points if 0 is returned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Arial Narrow" panose="020B0606020202030204" pitchFamily="34" charset="0"/>
              </a:rPr>
              <a:t>Black points if 1 is returned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8B6A5C-091A-5D8F-F827-8202030E6E3D}"/>
              </a:ext>
            </a:extLst>
          </p:cNvPr>
          <p:cNvSpPr/>
          <p:nvPr/>
        </p:nvSpPr>
        <p:spPr>
          <a:xfrm>
            <a:off x="328771" y="1135201"/>
            <a:ext cx="83199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XOR (exclusive OR) problems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Whether there is a straight line that classifies black dots on one side and white dots on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157605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8B6A5C-091A-5D8F-F827-8202030E6E3D}"/>
              </a:ext>
            </a:extLst>
          </p:cNvPr>
          <p:cNvSpPr/>
          <p:nvPr/>
        </p:nvSpPr>
        <p:spPr>
          <a:xfrm>
            <a:off x="328771" y="1135201"/>
            <a:ext cx="8121133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XOR (exclusive OR) problems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In AND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and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OR gates, one line can classify both groups, but in XOR gates it cannot.</a:t>
            </a: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34" y="2658635"/>
            <a:ext cx="77438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5"/>
          <p:cNvSpPr/>
          <p:nvPr/>
        </p:nvSpPr>
        <p:spPr>
          <a:xfrm>
            <a:off x="496389" y="2595154"/>
            <a:ext cx="5320937" cy="3431177"/>
          </a:xfrm>
          <a:prstGeom prst="roundRect">
            <a:avLst>
              <a:gd name="adj" fmla="val 11083"/>
            </a:avLst>
          </a:prstGeom>
          <a:solidFill>
            <a:srgbClr val="C00000">
              <a:alpha val="3000"/>
            </a:srgbClr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988231" y="2595154"/>
            <a:ext cx="2461673" cy="3431177"/>
          </a:xfrm>
          <a:prstGeom prst="roundRect">
            <a:avLst>
              <a:gd name="adj" fmla="val 11083"/>
            </a:avLst>
          </a:prstGeom>
          <a:solidFill>
            <a:schemeClr val="tx1">
              <a:alpha val="3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곱셈 기호 1"/>
          <p:cNvSpPr/>
          <p:nvPr/>
        </p:nvSpPr>
        <p:spPr>
          <a:xfrm>
            <a:off x="5606348" y="1941755"/>
            <a:ext cx="3225437" cy="4476462"/>
          </a:xfrm>
          <a:prstGeom prst="mathMultiply">
            <a:avLst>
              <a:gd name="adj1" fmla="val 12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54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8277" y="2773680"/>
            <a:ext cx="489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Multilayer Perceptron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084103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Background and motivation for multilayer perceptron development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was proven that one line cannot solve the XOR problem by Marvin Minsky(1969)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New approaches were attempted to solve this problem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267" y="3110339"/>
            <a:ext cx="7809642" cy="213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직사각형 1"/>
          <p:cNvSpPr/>
          <p:nvPr/>
        </p:nvSpPr>
        <p:spPr>
          <a:xfrm>
            <a:off x="2157548" y="5347968"/>
            <a:ext cx="48289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The solution to the XOR problem is to bend the plane!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082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2163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multilayer perceptron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Attempts were made to solve the XOR problem by developing perceptron models that connects multiple layers.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This type of models is called ‘multilayer-perceptron’, multiple layers are called ‘hidden layers’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25D7D8-CF0B-EB7E-74B0-970E06B3118B}"/>
              </a:ext>
            </a:extLst>
          </p:cNvPr>
          <p:cNvGrpSpPr/>
          <p:nvPr/>
        </p:nvGrpSpPr>
        <p:grpSpPr>
          <a:xfrm>
            <a:off x="1187029" y="4010880"/>
            <a:ext cx="6347627" cy="1795560"/>
            <a:chOff x="1187029" y="3837144"/>
            <a:chExt cx="6347627" cy="179556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A3EECF99-B31B-E989-BC38-DEC2B52458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t="16585" b="14189"/>
            <a:stretch/>
          </p:blipFill>
          <p:spPr bwMode="auto">
            <a:xfrm>
              <a:off x="1187029" y="3837144"/>
              <a:ext cx="6347627" cy="17955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22EDB57-5EF8-AD0B-2C50-71F792003472}"/>
                </a:ext>
              </a:extLst>
            </p:cNvPr>
            <p:cNvSpPr/>
            <p:nvPr/>
          </p:nvSpPr>
          <p:spPr>
            <a:xfrm>
              <a:off x="1187029" y="5532120"/>
              <a:ext cx="585215" cy="10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4167578-B8CA-9882-0F81-86B3BD167FF7}"/>
                </a:ext>
              </a:extLst>
            </p:cNvPr>
            <p:cNvSpPr/>
            <p:nvPr/>
          </p:nvSpPr>
          <p:spPr>
            <a:xfrm>
              <a:off x="2461474" y="5062728"/>
              <a:ext cx="58521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8479315-4F3A-BBAF-3DB2-8DB854D930BF}"/>
              </a:ext>
            </a:extLst>
          </p:cNvPr>
          <p:cNvSpPr txBox="1"/>
          <p:nvPr/>
        </p:nvSpPr>
        <p:spPr>
          <a:xfrm>
            <a:off x="1435652" y="3351181"/>
            <a:ext cx="1289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Perceptron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26971-D7C1-E0E4-3280-8239C3385093}"/>
              </a:ext>
            </a:extLst>
          </p:cNvPr>
          <p:cNvSpPr txBox="1"/>
          <p:nvPr/>
        </p:nvSpPr>
        <p:spPr>
          <a:xfrm>
            <a:off x="4751854" y="3362111"/>
            <a:ext cx="21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Multilayer Perceptron</a:t>
            </a:r>
            <a:endParaRPr lang="ko-KR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4D4C3C-EAD6-60A1-C257-017FC57391C7}"/>
              </a:ext>
            </a:extLst>
          </p:cNvPr>
          <p:cNvSpPr txBox="1"/>
          <p:nvPr/>
        </p:nvSpPr>
        <p:spPr>
          <a:xfrm>
            <a:off x="1187029" y="5706919"/>
            <a:ext cx="694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Input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EFFDB-9A7F-ED25-80F3-CD7A636980BD}"/>
              </a:ext>
            </a:extLst>
          </p:cNvPr>
          <p:cNvSpPr txBox="1"/>
          <p:nvPr/>
        </p:nvSpPr>
        <p:spPr>
          <a:xfrm>
            <a:off x="2462069" y="5093485"/>
            <a:ext cx="795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Output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6A7803-F704-1593-810F-E733E47EB659}"/>
              </a:ext>
            </a:extLst>
          </p:cNvPr>
          <p:cNvSpPr txBox="1"/>
          <p:nvPr/>
        </p:nvSpPr>
        <p:spPr>
          <a:xfrm>
            <a:off x="4352337" y="5780532"/>
            <a:ext cx="694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Input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BC335-6304-68FC-5A04-92FECDA8C1AB}"/>
              </a:ext>
            </a:extLst>
          </p:cNvPr>
          <p:cNvSpPr txBox="1"/>
          <p:nvPr/>
        </p:nvSpPr>
        <p:spPr>
          <a:xfrm>
            <a:off x="5358280" y="5780532"/>
            <a:ext cx="1325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Hidden layer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1D53D-748D-35E7-060C-38870E3BC608}"/>
              </a:ext>
            </a:extLst>
          </p:cNvPr>
          <p:cNvSpPr txBox="1"/>
          <p:nvPr/>
        </p:nvSpPr>
        <p:spPr>
          <a:xfrm>
            <a:off x="6859737" y="5094286"/>
            <a:ext cx="795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53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1748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multilayer perceptron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When values are given, a straight line cannot separate the 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blue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dirty="0">
                <a:solidFill>
                  <a:srgbClr val="FF0000"/>
                </a:solidFill>
                <a:latin typeface="Arial Narrow" panose="020B0606020202030204" pitchFamily="34" charset="0"/>
              </a:rPr>
              <a:t>red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areas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hidden layer creates the effect of creating a new coordinate system by bending the coordinate plane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5A92BDC1-1F3F-CEF2-9B1A-E41F7092F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b="15922"/>
          <a:stretch/>
        </p:blipFill>
        <p:spPr bwMode="auto">
          <a:xfrm>
            <a:off x="1071917" y="3304336"/>
            <a:ext cx="6322004" cy="247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510CC98-4E8A-5181-6F5A-231E6FA802EE}"/>
              </a:ext>
            </a:extLst>
          </p:cNvPr>
          <p:cNvSpPr txBox="1"/>
          <p:nvPr/>
        </p:nvSpPr>
        <p:spPr>
          <a:xfrm>
            <a:off x="1534501" y="5801166"/>
            <a:ext cx="694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Input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5CBCAF-F9B7-A5EE-4DB1-43042E9B74B5}"/>
              </a:ext>
            </a:extLst>
          </p:cNvPr>
          <p:cNvSpPr txBox="1"/>
          <p:nvPr/>
        </p:nvSpPr>
        <p:spPr>
          <a:xfrm>
            <a:off x="6668309" y="5801166"/>
            <a:ext cx="795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Output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C1DC50-A97C-925A-0DED-AB29D34DBC77}"/>
              </a:ext>
            </a:extLst>
          </p:cNvPr>
          <p:cNvSpPr txBox="1"/>
          <p:nvPr/>
        </p:nvSpPr>
        <p:spPr>
          <a:xfrm>
            <a:off x="3785885" y="5779008"/>
            <a:ext cx="1325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Hidden 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383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Basic structure of multilayer perceptron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AA46D97-1795-3353-4130-39A8689C1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39" y="2216188"/>
            <a:ext cx="3804264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69A959-0CDF-F968-6C6D-EE5116928873}"/>
              </a:ext>
            </a:extLst>
          </p:cNvPr>
          <p:cNvSpPr txBox="1"/>
          <p:nvPr/>
        </p:nvSpPr>
        <p:spPr>
          <a:xfrm>
            <a:off x="4321675" y="2228671"/>
            <a:ext cx="46851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The input data is multiplied by weights(W</a:t>
            </a:r>
            <a:r>
              <a:rPr lang="en-US" altLang="ko-KR" baseline="-25000" dirty="0">
                <a:latin typeface="Arial Narrow" panose="020B0606020202030204" pitchFamily="34" charset="0"/>
              </a:rPr>
              <a:t>(1)</a:t>
            </a:r>
            <a:r>
              <a:rPr lang="en-US" altLang="ko-KR" dirty="0">
                <a:latin typeface="Arial Narrow" panose="020B0606020202030204" pitchFamily="34" charset="0"/>
              </a:rPr>
              <a:t>) and added with bias(B</a:t>
            </a:r>
            <a:r>
              <a:rPr lang="en-US" altLang="ko-KR" baseline="-25000" dirty="0">
                <a:latin typeface="Arial Narrow" panose="020B0606020202030204" pitchFamily="34" charset="0"/>
              </a:rPr>
              <a:t>(1)</a:t>
            </a:r>
            <a:r>
              <a:rPr lang="en-US" altLang="ko-KR" dirty="0">
                <a:latin typeface="Arial Narrow" panose="020B0606020202030204" pitchFamily="34" charset="0"/>
              </a:rPr>
              <a:t>), then sent to the hidden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The values ​​of the hidden layer are once again multiplied with the weights(W</a:t>
            </a:r>
            <a:r>
              <a:rPr lang="en-US" altLang="ko-KR" baseline="-25000" dirty="0">
                <a:latin typeface="Arial Narrow" panose="020B0606020202030204" pitchFamily="34" charset="0"/>
              </a:rPr>
              <a:t>(2)</a:t>
            </a:r>
            <a:r>
              <a:rPr lang="en-US" altLang="ko-KR" dirty="0">
                <a:latin typeface="Arial Narrow" panose="020B0606020202030204" pitchFamily="34" charset="0"/>
              </a:rPr>
              <a:t>) and added with bias(B</a:t>
            </a:r>
            <a:r>
              <a:rPr lang="en-US" altLang="ko-KR" baseline="-25000" dirty="0">
                <a:latin typeface="Arial Narrow" panose="020B0606020202030204" pitchFamily="34" charset="0"/>
              </a:rPr>
              <a:t>(2)</a:t>
            </a:r>
            <a:r>
              <a:rPr lang="en-US" altLang="ko-KR" dirty="0">
                <a:latin typeface="Arial Narrow" panose="020B0606020202030204" pitchFamily="34" charset="0"/>
              </a:rPr>
              <a:t>), then the final output value is calculated through the sigmoid transformation.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n</a:t>
            </a:r>
            <a:r>
              <a:rPr lang="en-US" altLang="ko-KR" baseline="-25000" dirty="0">
                <a:latin typeface="Arial Narrow" panose="020B0606020202030204" pitchFamily="34" charset="0"/>
              </a:rPr>
              <a:t>1</a:t>
            </a:r>
            <a:r>
              <a:rPr lang="en-US" altLang="ko-KR" dirty="0">
                <a:latin typeface="Arial Narrow" panose="020B0606020202030204" pitchFamily="34" charset="0"/>
              </a:rPr>
              <a:t> and n</a:t>
            </a:r>
            <a:r>
              <a:rPr lang="en-US" altLang="ko-KR" baseline="-25000" dirty="0">
                <a:latin typeface="Arial Narrow" panose="020B0606020202030204" pitchFamily="34" charset="0"/>
              </a:rPr>
              <a:t>2</a:t>
            </a:r>
            <a:r>
              <a:rPr lang="en-US" altLang="ko-KR" dirty="0">
                <a:latin typeface="Arial Narrow" panose="020B0606020202030204" pitchFamily="34" charset="0"/>
              </a:rPr>
              <a:t> represent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1C427-9FAB-B8C9-C8AD-2B488C741710}"/>
              </a:ext>
            </a:extLst>
          </p:cNvPr>
          <p:cNvSpPr txBox="1"/>
          <p:nvPr/>
        </p:nvSpPr>
        <p:spPr>
          <a:xfrm>
            <a:off x="1799815" y="5090993"/>
            <a:ext cx="123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hidden layer </a:t>
            </a:r>
            <a:endParaRPr lang="ko-KR" altLang="en-US" i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69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Basic structure of multilayer perceptron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AA46D97-1795-3353-4130-39A8689C1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39" y="2216188"/>
            <a:ext cx="3804264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69A959-0CDF-F968-6C6D-EE5116928873}"/>
                  </a:ext>
                </a:extLst>
              </p:cNvPr>
              <p:cNvSpPr txBox="1"/>
              <p:nvPr/>
            </p:nvSpPr>
            <p:spPr>
              <a:xfrm>
                <a:off x="4705723" y="2137231"/>
                <a:ext cx="3597029" cy="385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69A959-0CDF-F968-6C6D-EE5116928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23" y="2137231"/>
                <a:ext cx="3597029" cy="3858300"/>
              </a:xfrm>
              <a:prstGeom prst="rect">
                <a:avLst/>
              </a:prstGeom>
              <a:blipFill>
                <a:blip r:embed="rId4"/>
                <a:stretch>
                  <a:fillRect l="-6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3F1C427-9FAB-B8C9-C8AD-2B488C741710}"/>
              </a:ext>
            </a:extLst>
          </p:cNvPr>
          <p:cNvSpPr txBox="1"/>
          <p:nvPr/>
        </p:nvSpPr>
        <p:spPr>
          <a:xfrm>
            <a:off x="1799815" y="5090993"/>
            <a:ext cx="123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hidden layer </a:t>
            </a:r>
            <a:endParaRPr lang="ko-KR" altLang="en-US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46369E-4642-BECE-E929-108AA884BB22}"/>
              </a:ext>
            </a:extLst>
          </p:cNvPr>
          <p:cNvSpPr txBox="1"/>
          <p:nvPr/>
        </p:nvSpPr>
        <p:spPr>
          <a:xfrm>
            <a:off x="4674108" y="1861600"/>
            <a:ext cx="2157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Mathematical notation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1250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Solving the XOR problem using multilayer perceptron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32A41EE-AACE-8437-31A8-4656653AD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9410" y="2226736"/>
            <a:ext cx="3954751" cy="316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65EC8E-444C-FB4B-7D42-07527B3781EC}"/>
                  </a:ext>
                </a:extLst>
              </p:cNvPr>
              <p:cNvSpPr txBox="1"/>
              <p:nvPr/>
            </p:nvSpPr>
            <p:spPr>
              <a:xfrm>
                <a:off x="201695" y="2638880"/>
                <a:ext cx="2390394" cy="2340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65EC8E-444C-FB4B-7D42-07527B378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5" y="2638880"/>
                <a:ext cx="2390394" cy="2340577"/>
              </a:xfrm>
              <a:prstGeom prst="rect">
                <a:avLst/>
              </a:prstGeom>
              <a:blipFill>
                <a:blip r:embed="rId4"/>
                <a:stretch>
                  <a:fillRect l="-1020" b="-18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B51AB0-5EF1-BDC2-57B2-77175BDD59A9}"/>
                  </a:ext>
                </a:extLst>
              </p:cNvPr>
              <p:cNvSpPr txBox="1"/>
              <p:nvPr/>
            </p:nvSpPr>
            <p:spPr>
              <a:xfrm>
                <a:off x="2592089" y="2638880"/>
                <a:ext cx="2390394" cy="2255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B51AB0-5EF1-BDC2-57B2-77175BDD5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089" y="2638880"/>
                <a:ext cx="2390394" cy="2255746"/>
              </a:xfrm>
              <a:prstGeom prst="rect">
                <a:avLst/>
              </a:prstGeom>
              <a:blipFill>
                <a:blip r:embed="rId5"/>
                <a:stretch>
                  <a:fillRect l="-1020" b="-18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27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Solving the XOR problem using multilayer perceptron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D8E22345-5844-160B-70DE-A52F22DF9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18474"/>
          <a:stretch/>
        </p:blipFill>
        <p:spPr bwMode="auto">
          <a:xfrm>
            <a:off x="514350" y="1785753"/>
            <a:ext cx="6801140" cy="191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3166AC-390A-0F11-9B9F-6B3DC9848836}"/>
              </a:ext>
            </a:extLst>
          </p:cNvPr>
          <p:cNvSpPr txBox="1"/>
          <p:nvPr/>
        </p:nvSpPr>
        <p:spPr>
          <a:xfrm>
            <a:off x="7672106" y="1785753"/>
            <a:ext cx="563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y</a:t>
            </a:r>
            <a:r>
              <a:rPr lang="en-US" altLang="ko-KR" sz="1600" baseline="-25000" dirty="0">
                <a:solidFill>
                  <a:srgbClr val="222222"/>
                </a:solidFill>
                <a:latin typeface="Arial Narrow" panose="020B0606020202030204" pitchFamily="34" charset="0"/>
              </a:rPr>
              <a:t>true</a:t>
            </a:r>
            <a:endParaRPr lang="ko-KR" altLang="en-US" sz="1600" baseline="-25000" dirty="0"/>
          </a:p>
        </p:txBody>
      </p:sp>
      <p:graphicFrame>
        <p:nvGraphicFramePr>
          <p:cNvPr id="19" name="표 3">
            <a:extLst>
              <a:ext uri="{FF2B5EF4-FFF2-40B4-BE49-F238E27FC236}">
                <a16:creationId xmlns:a16="http://schemas.microsoft.com/office/drawing/2014/main" id="{57E8F1C5-89BB-BEFA-D17F-DB82850DA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557514"/>
              </p:ext>
            </p:extLst>
          </p:nvPr>
        </p:nvGraphicFramePr>
        <p:xfrm>
          <a:off x="7672106" y="2197459"/>
          <a:ext cx="456910" cy="1437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910">
                  <a:extLst>
                    <a:ext uri="{9D8B030D-6E8A-4147-A177-3AD203B41FA5}">
                      <a16:colId xmlns:a16="http://schemas.microsoft.com/office/drawing/2014/main" val="2800840443"/>
                    </a:ext>
                  </a:extLst>
                </a:gridCol>
              </a:tblGrid>
              <a:tr h="377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754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6344"/>
                  </a:ext>
                </a:extLst>
              </a:tr>
              <a:tr h="3187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1898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252224"/>
                  </a:ext>
                </a:extLst>
              </a:tr>
            </a:tbl>
          </a:graphicData>
        </a:graphic>
      </p:graphicFrame>
      <p:pic>
        <p:nvPicPr>
          <p:cNvPr id="20" name="Picture 2">
            <a:extLst>
              <a:ext uri="{FF2B5EF4-FFF2-40B4-BE49-F238E27FC236}">
                <a16:creationId xmlns:a16="http://schemas.microsoft.com/office/drawing/2014/main" id="{038FC97F-7DF0-364F-9909-74E18B7CA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7525" y="4143375"/>
            <a:ext cx="2152609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7561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1" y="1139130"/>
            <a:ext cx="8742077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Solving the XOR problem using multilayer perceptron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BF4F5232-C530-43A0-33E7-D300918FF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18474"/>
          <a:stretch/>
        </p:blipFill>
        <p:spPr bwMode="auto">
          <a:xfrm>
            <a:off x="514350" y="1785753"/>
            <a:ext cx="6801140" cy="191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4F665D-85E4-ED54-9C69-89170D0AB2C5}"/>
              </a:ext>
            </a:extLst>
          </p:cNvPr>
          <p:cNvSpPr txBox="1"/>
          <p:nvPr/>
        </p:nvSpPr>
        <p:spPr>
          <a:xfrm>
            <a:off x="7672106" y="1785753"/>
            <a:ext cx="563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y</a:t>
            </a:r>
            <a:r>
              <a:rPr lang="en-US" altLang="ko-KR" sz="1600" baseline="-25000" dirty="0">
                <a:solidFill>
                  <a:srgbClr val="222222"/>
                </a:solidFill>
                <a:latin typeface="Arial Narrow" panose="020B0606020202030204" pitchFamily="34" charset="0"/>
              </a:rPr>
              <a:t>true</a:t>
            </a:r>
            <a:endParaRPr lang="ko-KR" altLang="en-US" sz="1600" baseline="-25000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5CEEEE98-07B7-48A2-C20C-523A97262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77676"/>
              </p:ext>
            </p:extLst>
          </p:nvPr>
        </p:nvGraphicFramePr>
        <p:xfrm>
          <a:off x="7672106" y="2197459"/>
          <a:ext cx="456910" cy="1437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910">
                  <a:extLst>
                    <a:ext uri="{9D8B030D-6E8A-4147-A177-3AD203B41FA5}">
                      <a16:colId xmlns:a16="http://schemas.microsoft.com/office/drawing/2014/main" val="2800840443"/>
                    </a:ext>
                  </a:extLst>
                </a:gridCol>
              </a:tblGrid>
              <a:tr h="377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754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6344"/>
                  </a:ext>
                </a:extLst>
              </a:tr>
              <a:tr h="3187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1898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252224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D1EC7BD-3F6C-3AAF-8BBA-0C892436F012}"/>
              </a:ext>
            </a:extLst>
          </p:cNvPr>
          <p:cNvSpPr/>
          <p:nvPr/>
        </p:nvSpPr>
        <p:spPr>
          <a:xfrm>
            <a:off x="628650" y="3305175"/>
            <a:ext cx="781050" cy="330200"/>
          </a:xfrm>
          <a:prstGeom prst="roundRect">
            <a:avLst/>
          </a:prstGeom>
          <a:noFill/>
          <a:ln w="158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0AAAD-2541-C31E-18E2-BBFCAE4B56AF}"/>
              </a:ext>
            </a:extLst>
          </p:cNvPr>
          <p:cNvSpPr txBox="1"/>
          <p:nvPr/>
        </p:nvSpPr>
        <p:spPr>
          <a:xfrm>
            <a:off x="299839" y="3699129"/>
            <a:ext cx="18438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NAND(Negative And) </a:t>
            </a:r>
            <a:endParaRPr lang="ko-KR" altLang="en-US" sz="1600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2491ACC2-64ED-AE15-0205-A18B1CE03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66926"/>
              </p:ext>
            </p:extLst>
          </p:nvPr>
        </p:nvGraphicFramePr>
        <p:xfrm>
          <a:off x="1962730" y="4380165"/>
          <a:ext cx="1875846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82">
                  <a:extLst>
                    <a:ext uri="{9D8B030D-6E8A-4147-A177-3AD203B41FA5}">
                      <a16:colId xmlns:a16="http://schemas.microsoft.com/office/drawing/2014/main" val="1503835976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406674630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748018756"/>
                    </a:ext>
                  </a:extLst>
                </a:gridCol>
              </a:tblGrid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return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58663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9372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2282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83007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266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A928B84-F3CE-33C5-772E-957726EC1EC2}"/>
              </a:ext>
            </a:extLst>
          </p:cNvPr>
          <p:cNvSpPr txBox="1"/>
          <p:nvPr/>
        </p:nvSpPr>
        <p:spPr>
          <a:xfrm>
            <a:off x="2549084" y="3970746"/>
            <a:ext cx="703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AND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32B7B7-0BA4-44BB-6EC5-9F652A19E790}"/>
              </a:ext>
            </a:extLst>
          </p:cNvPr>
          <p:cNvSpPr/>
          <p:nvPr/>
        </p:nvSpPr>
        <p:spPr>
          <a:xfrm>
            <a:off x="1875928" y="6138181"/>
            <a:ext cx="20494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1 is returned, </a:t>
            </a:r>
            <a:br>
              <a:rPr lang="en-US" altLang="ko-KR" sz="1400" dirty="0">
                <a:latin typeface="Arial Narrow" panose="020B0606020202030204" pitchFamily="34" charset="0"/>
              </a:rPr>
            </a:br>
            <a:r>
              <a:rPr lang="en-US" altLang="ko-KR" sz="1400" dirty="0">
                <a:latin typeface="Arial Narrow" panose="020B0606020202030204" pitchFamily="34" charset="0"/>
              </a:rPr>
              <a:t>when both x1 and x2 are 1</a:t>
            </a:r>
          </a:p>
        </p:txBody>
      </p:sp>
      <p:graphicFrame>
        <p:nvGraphicFramePr>
          <p:cNvPr id="18" name="표 2">
            <a:extLst>
              <a:ext uri="{FF2B5EF4-FFF2-40B4-BE49-F238E27FC236}">
                <a16:creationId xmlns:a16="http://schemas.microsoft.com/office/drawing/2014/main" id="{3BDF56EB-7DEC-2340-3AA8-718B8DD8A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653453"/>
              </p:ext>
            </p:extLst>
          </p:nvPr>
        </p:nvGraphicFramePr>
        <p:xfrm>
          <a:off x="5135052" y="4380165"/>
          <a:ext cx="1875846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282">
                  <a:extLst>
                    <a:ext uri="{9D8B030D-6E8A-4147-A177-3AD203B41FA5}">
                      <a16:colId xmlns:a16="http://schemas.microsoft.com/office/drawing/2014/main" val="1503835976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406674630"/>
                    </a:ext>
                  </a:extLst>
                </a:gridCol>
                <a:gridCol w="625282">
                  <a:extLst>
                    <a:ext uri="{9D8B030D-6E8A-4147-A177-3AD203B41FA5}">
                      <a16:colId xmlns:a16="http://schemas.microsoft.com/office/drawing/2014/main" val="1748018756"/>
                    </a:ext>
                  </a:extLst>
                </a:gridCol>
              </a:tblGrid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x2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return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58663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9372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532282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83007"/>
                  </a:ext>
                </a:extLst>
              </a:tr>
              <a:tr h="324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Arial Narrow" panose="020B0606020202030204" pitchFamily="34" charset="0"/>
                        </a:rPr>
                        <a:t>1</a:t>
                      </a:r>
                      <a:endParaRPr lang="ko-KR" altLang="en-US" sz="16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0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2668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C9C6578-C9A0-CCFF-59B7-E16B7782B3BB}"/>
              </a:ext>
            </a:extLst>
          </p:cNvPr>
          <p:cNvSpPr txBox="1"/>
          <p:nvPr/>
        </p:nvSpPr>
        <p:spPr>
          <a:xfrm>
            <a:off x="5721405" y="3970746"/>
            <a:ext cx="784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NAND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EBD532-8CDB-A831-96A5-A7826FDE4072}"/>
              </a:ext>
            </a:extLst>
          </p:cNvPr>
          <p:cNvSpPr/>
          <p:nvPr/>
        </p:nvSpPr>
        <p:spPr>
          <a:xfrm>
            <a:off x="5306212" y="6138181"/>
            <a:ext cx="15335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Arial Narrow" panose="020B0606020202030204" pitchFamily="34" charset="0"/>
              </a:rPr>
              <a:t>The opposite value of AND gate</a:t>
            </a:r>
          </a:p>
        </p:txBody>
      </p:sp>
      <p:sp>
        <p:nvSpPr>
          <p:cNvPr id="5" name="화살표: 왼쪽/오른쪽 4">
            <a:extLst>
              <a:ext uri="{FF2B5EF4-FFF2-40B4-BE49-F238E27FC236}">
                <a16:creationId xmlns:a16="http://schemas.microsoft.com/office/drawing/2014/main" id="{F7AE5728-4B8C-E5CF-D5D5-2E2D95ECA098}"/>
              </a:ext>
            </a:extLst>
          </p:cNvPr>
          <p:cNvSpPr/>
          <p:nvPr/>
        </p:nvSpPr>
        <p:spPr>
          <a:xfrm>
            <a:off x="4008949" y="4991100"/>
            <a:ext cx="925001" cy="457200"/>
          </a:xfrm>
          <a:prstGeom prst="leftRightArrow">
            <a:avLst>
              <a:gd name="adj1" fmla="val 50000"/>
              <a:gd name="adj2" fmla="val 3958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104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FEE20-4582-C97D-5767-E20D37969A55}"/>
              </a:ext>
            </a:extLst>
          </p:cNvPr>
          <p:cNvSpPr/>
          <p:nvPr/>
        </p:nvSpPr>
        <p:spPr>
          <a:xfrm>
            <a:off x="328772" y="1139130"/>
            <a:ext cx="8405654" cy="49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Solving the XOR problem using multilayer perceptron based on python manual 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2123C-0B1B-A89F-BA17-F99AD4736395}"/>
              </a:ext>
            </a:extLst>
          </p:cNvPr>
          <p:cNvSpPr txBox="1"/>
          <p:nvPr/>
        </p:nvSpPr>
        <p:spPr>
          <a:xfrm>
            <a:off x="1105856" y="2494440"/>
            <a:ext cx="646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https://colab.research.google.com/github/JunetaeKim/DeepLearningClass/blob/main/Week6/Week6_XOR_MLP.ipynb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344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8277" y="2773680"/>
            <a:ext cx="489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Backpropagation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097546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4287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Backpropagation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method for training the weight matrices of a neural network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Backpropagation is an extended concept of gradient descent.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Basic principle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Calculates the error between the predicted value and the actual value based on weight matrices, and updates the weight matrices iteratively so that the error is minimized.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backpropagation algorithm is the process of estimating the weights (values where the slope becomes 0 when differentiating) that minimize the predicted error.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935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Backpropagation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Calculate the error and adjust the weights learned in the previous epoch based on the error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800029-FE3F-1704-C525-3BF41A7A9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2943225"/>
            <a:ext cx="4076700" cy="3057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E3BD26-16B0-43B1-D731-101E9567504E}"/>
              </a:ext>
            </a:extLst>
          </p:cNvPr>
          <p:cNvSpPr txBox="1"/>
          <p:nvPr/>
        </p:nvSpPr>
        <p:spPr>
          <a:xfrm rot="1481313">
            <a:off x="2819789" y="3285943"/>
            <a:ext cx="200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Adjusting the weights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E4F5B-12AB-2442-D1A2-2EECF8BE60DF}"/>
              </a:ext>
            </a:extLst>
          </p:cNvPr>
          <p:cNvSpPr txBox="1"/>
          <p:nvPr/>
        </p:nvSpPr>
        <p:spPr>
          <a:xfrm>
            <a:off x="5294765" y="4287321"/>
            <a:ext cx="200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Calculating the error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2006D-8706-BDAC-9751-31DEBCA50DE4}"/>
              </a:ext>
            </a:extLst>
          </p:cNvPr>
          <p:cNvSpPr txBox="1"/>
          <p:nvPr/>
        </p:nvSpPr>
        <p:spPr>
          <a:xfrm>
            <a:off x="3026039" y="5889448"/>
            <a:ext cx="2858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 Narrow" panose="020B0606020202030204" pitchFamily="34" charset="0"/>
              </a:rPr>
              <a:t>In the case of perceptron</a:t>
            </a:r>
            <a:endParaRPr lang="ko-KR" altLang="en-US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40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C754298-7BE7-B087-D185-A534BC9C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38" y="2757991"/>
            <a:ext cx="5638800" cy="338137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Backpropagation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Calculate the error and adjust the weights learned in the previous epoch based on the error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3BD26-16B0-43B1-D731-101E9567504E}"/>
              </a:ext>
            </a:extLst>
          </p:cNvPr>
          <p:cNvSpPr txBox="1"/>
          <p:nvPr/>
        </p:nvSpPr>
        <p:spPr>
          <a:xfrm rot="1481313">
            <a:off x="4981663" y="3223634"/>
            <a:ext cx="2298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Adjusting the weights in the output layer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E4F5B-12AB-2442-D1A2-2EECF8BE60DF}"/>
              </a:ext>
            </a:extLst>
          </p:cNvPr>
          <p:cNvSpPr txBox="1"/>
          <p:nvPr/>
        </p:nvSpPr>
        <p:spPr>
          <a:xfrm>
            <a:off x="6894348" y="4287566"/>
            <a:ext cx="200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Calculating the error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2006D-8706-BDAC-9751-31DEBCA50DE4}"/>
              </a:ext>
            </a:extLst>
          </p:cNvPr>
          <p:cNvSpPr txBox="1"/>
          <p:nvPr/>
        </p:nvSpPr>
        <p:spPr>
          <a:xfrm>
            <a:off x="2678567" y="5898592"/>
            <a:ext cx="3868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 Narrow" panose="020B0606020202030204" pitchFamily="34" charset="0"/>
              </a:rPr>
              <a:t>In the case of multilayer perceptron</a:t>
            </a:r>
            <a:endParaRPr lang="ko-KR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62204-2B3F-99CC-0848-8733ED8E5E83}"/>
              </a:ext>
            </a:extLst>
          </p:cNvPr>
          <p:cNvSpPr txBox="1"/>
          <p:nvPr/>
        </p:nvSpPr>
        <p:spPr>
          <a:xfrm>
            <a:off x="2333733" y="2505230"/>
            <a:ext cx="2238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Adjusting the weights in the hidden layer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591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147717" cy="2994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Working procedure of backpropagation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Predict the outcome values(y</a:t>
            </a:r>
            <a:r>
              <a:rPr lang="en-US" altLang="ko-KR" baseline="-25000" dirty="0">
                <a:solidFill>
                  <a:srgbClr val="222222"/>
                </a:solidFill>
                <a:latin typeface="Arial Narrow" panose="020B0606020202030204" pitchFamily="34" charset="0"/>
              </a:rPr>
              <a:t>out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) based on randomly initialized weight matrices(w)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Calculates the error between the predicted result and the actual value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③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Using gradient descent algorithm, the weights learned in the previous epoch are updated so that the error is small.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④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Repeat the above process until the error no longer decreases.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49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4502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More on backpropagation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Here, "updating the weight matrix to reduce the error" means that the weights are adjusted so that the derivative approaches zero.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In other words, when the gradient is subtracted from the weight, the weight does not change at all.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b="0" dirty="0">
                    <a:solidFill>
                      <a:srgbClr val="222222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𝑊𝑡</m:t>
                    </m:r>
                    <m:r>
                      <a:rPr lang="en-US" altLang="ko-KR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𝐸𝑟𝑟𝑜𝑟</m:t>
                        </m:r>
                      </m:num>
                      <m:den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𝑊𝑡</m:t>
                    </m:r>
                  </m:oMath>
                </a14:m>
                <a:endPara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Another way to express error backpropagation is to repeat the weight training operation until weights do not change even when the gradient is subtracted from the weight matrices.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4502323"/>
              </a:xfrm>
              <a:prstGeom prst="rect">
                <a:avLst/>
              </a:prstGeom>
              <a:blipFill>
                <a:blip r:embed="rId3"/>
                <a:stretch>
                  <a:fillRect l="-628" r="-5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322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000050" y="2773680"/>
            <a:ext cx="489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Gradient Vanishing Problem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070909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Backpropagation algorithm summary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Adjusting the weights of each layer by moving backward from the output layer.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 train the weights, the derivative value, i.e. the slope, is required.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AD6A1E-5B5C-09D1-3778-CC26FCB0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3654631"/>
            <a:ext cx="70199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95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579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Gradient vanishing problem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When there are multi-layers, the gradient of the layers close to the input is very small, so the parameters of those layers are not updated.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As shown in the figure below, the closer to the input, the more blurred the edges and nodes, which indicates that the value of the gradient gradually decreases.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208F1F-87E0-5A9B-7319-DA7AA6CF6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3654631"/>
            <a:ext cx="70199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65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579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Causes of gradient vanishing problem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gradient vanishing problem is due to the nature of the sigmoid function used as the activation function.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As the parameter is trained through multiple layers, the gradient disappears, making it difficult to train the weights.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3CCDA1F-3620-FC6E-D1DC-759EA545C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12239" r="17837"/>
          <a:stretch/>
        </p:blipFill>
        <p:spPr bwMode="auto">
          <a:xfrm>
            <a:off x="1147831" y="3923913"/>
            <a:ext cx="5950084" cy="2399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2BBE13-37DA-CBB4-5B56-8031DEE9D540}"/>
              </a:ext>
            </a:extLst>
          </p:cNvPr>
          <p:cNvSpPr txBox="1"/>
          <p:nvPr/>
        </p:nvSpPr>
        <p:spPr>
          <a:xfrm>
            <a:off x="2241989" y="3655066"/>
            <a:ext cx="988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Sigmoid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81D5E-369D-8BCB-3A0A-D2D26380D8FB}"/>
              </a:ext>
            </a:extLst>
          </p:cNvPr>
          <p:cNvSpPr txBox="1"/>
          <p:nvPr/>
        </p:nvSpPr>
        <p:spPr>
          <a:xfrm>
            <a:off x="4706639" y="3655066"/>
            <a:ext cx="2056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Derivatives of sigmoid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971FE-930B-2F78-DF27-96E433AD9BAD}"/>
              </a:ext>
            </a:extLst>
          </p:cNvPr>
          <p:cNvSpPr txBox="1"/>
          <p:nvPr/>
        </p:nvSpPr>
        <p:spPr>
          <a:xfrm>
            <a:off x="7097915" y="5340485"/>
            <a:ext cx="1176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Max &lt;= 0.3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9163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91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of gradient vanishing problem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B7CB3-8F11-C3EB-9354-EBE192235661}"/>
              </a:ext>
            </a:extLst>
          </p:cNvPr>
          <p:cNvSpPr txBox="1"/>
          <p:nvPr/>
        </p:nvSpPr>
        <p:spPr>
          <a:xfrm>
            <a:off x="1105856" y="2494440"/>
            <a:ext cx="646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https://colab.research.google.com/github/JunetaeKim/DeepLearningClass/blob/main/Week6/Week6_GradVanish.ipynb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793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748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Efforts to minimize the problem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 solve this problem, several functions that can be used instead of a sigmoid as the activation function have been introduced.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44114B-7030-9308-32DE-DED22C9F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61" y="3080201"/>
            <a:ext cx="6667500" cy="3295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5AD727-F73B-C06E-5EDE-3E12A1F31838}"/>
              </a:ext>
            </a:extLst>
          </p:cNvPr>
          <p:cNvSpPr txBox="1"/>
          <p:nvPr/>
        </p:nvSpPr>
        <p:spPr>
          <a:xfrm>
            <a:off x="2050421" y="4149151"/>
            <a:ext cx="937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</a:rPr>
              <a:t>derivative</a:t>
            </a:r>
            <a:endParaRPr lang="ko-KR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E98593-F76A-F5F4-F829-8735CFC4DB5C}"/>
              </a:ext>
            </a:extLst>
          </p:cNvPr>
          <p:cNvSpPr txBox="1"/>
          <p:nvPr/>
        </p:nvSpPr>
        <p:spPr>
          <a:xfrm>
            <a:off x="2050421" y="3543037"/>
            <a:ext cx="937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2"/>
                </a:solidFill>
              </a:rPr>
              <a:t>function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022D78-C008-50BB-DA71-310EF3CC0ED8}"/>
              </a:ext>
            </a:extLst>
          </p:cNvPr>
          <p:cNvSpPr txBox="1"/>
          <p:nvPr/>
        </p:nvSpPr>
        <p:spPr>
          <a:xfrm>
            <a:off x="1579448" y="2926904"/>
            <a:ext cx="937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sigmoid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7A6C1B-6B8E-8533-FEBC-F08511C41079}"/>
              </a:ext>
            </a:extLst>
          </p:cNvPr>
          <p:cNvSpPr txBox="1"/>
          <p:nvPr/>
        </p:nvSpPr>
        <p:spPr>
          <a:xfrm>
            <a:off x="3411263" y="2926904"/>
            <a:ext cx="61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tanh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EFEEA1-7942-951F-98D6-8FFDEA2D8024}"/>
              </a:ext>
            </a:extLst>
          </p:cNvPr>
          <p:cNvSpPr txBox="1"/>
          <p:nvPr/>
        </p:nvSpPr>
        <p:spPr>
          <a:xfrm>
            <a:off x="5115209" y="2926904"/>
            <a:ext cx="61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relu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435FEA-2ED1-F66B-9ED7-EE6B190F839E}"/>
              </a:ext>
            </a:extLst>
          </p:cNvPr>
          <p:cNvSpPr txBox="1"/>
          <p:nvPr/>
        </p:nvSpPr>
        <p:spPr>
          <a:xfrm>
            <a:off x="6665442" y="2926904"/>
            <a:ext cx="1048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softplus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771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5487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Activation functions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Hyperbolic tangent function: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has the effect that the range of the derivative value is expanded than that of the sigmoid.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has still gradient vanishing problem because derivatives less than 1 still exist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Rectified Linear Unit(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ReLu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):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is currently the most used activation function as an alternative to the sigmoid function.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Even if the derivatives are multiplied through multiple hidden layers, the values ​​may remain.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This simple method made it possible to stack multiple layers, thereby accelerating advances in deep learning.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29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3410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Activation functions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Softplus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function: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Differentiating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ReLu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can result in zero values when </a:t>
            </a:r>
            <a:r>
              <a:rPr lang="en-US" altLang="ko-KR">
                <a:solidFill>
                  <a:srgbClr val="222222"/>
                </a:solidFill>
                <a:latin typeface="Arial Narrow" panose="020B0606020202030204" pitchFamily="34" charset="0"/>
              </a:rPr>
              <a:t>x is less than or equal to zero, so the weight matrix of zero nodes is no longer trained.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Therefore, it is a function that improves the advantages of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ReLU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so that the derivatives do not become zero.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6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1399033" y="2532888"/>
            <a:ext cx="6144768" cy="1142999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000050" y="2773680"/>
            <a:ext cx="489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Advanced Gradient Descent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959119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319928" cy="3410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 of gradient descent method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Gradient descent estimates the weights accurately, but has a disadvantage in that the amount of computation is very high because the entire data has to be differentiated for each update.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optimization process may stop before finding the optimal solution.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00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2994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The advent of stochastic gradient descent (SGD)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Instead of using the entire data, some randomly selected data is used for training.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By using some data, it is possible to update faster and more often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Since SGD uses random data, it may appear unstable with large amplitudes of errors in progress.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8DDA44-823A-62BA-B107-29CFC7DD2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17" y="3614738"/>
            <a:ext cx="6734175" cy="219075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BB4C0A1-E1FC-8752-95AD-E08EED152F31}"/>
              </a:ext>
            </a:extLst>
          </p:cNvPr>
          <p:cNvGrpSpPr/>
          <p:nvPr/>
        </p:nvGrpSpPr>
        <p:grpSpPr>
          <a:xfrm>
            <a:off x="2789890" y="5280301"/>
            <a:ext cx="1481944" cy="307777"/>
            <a:chOff x="2789890" y="5280301"/>
            <a:chExt cx="1481944" cy="30777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787EE4C-B142-ADBC-06EF-C86329D7B481}"/>
                </a:ext>
              </a:extLst>
            </p:cNvPr>
            <p:cNvSpPr/>
            <p:nvPr/>
          </p:nvSpPr>
          <p:spPr>
            <a:xfrm>
              <a:off x="2789890" y="5280301"/>
              <a:ext cx="1481944" cy="30777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FF7AC3-65FD-38C3-90AC-DA6B990D8D1D}"/>
                </a:ext>
              </a:extLst>
            </p:cNvPr>
            <p:cNvSpPr txBox="1"/>
            <p:nvPr/>
          </p:nvSpPr>
          <p:spPr>
            <a:xfrm>
              <a:off x="2789890" y="5280301"/>
              <a:ext cx="1481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slow convergence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BB59BCF-69F8-A9FA-B3E5-8693C1967C30}"/>
              </a:ext>
            </a:extLst>
          </p:cNvPr>
          <p:cNvGrpSpPr/>
          <p:nvPr/>
        </p:nvGrpSpPr>
        <p:grpSpPr>
          <a:xfrm>
            <a:off x="6401398" y="5280301"/>
            <a:ext cx="1481944" cy="307777"/>
            <a:chOff x="2789890" y="5280301"/>
            <a:chExt cx="1481944" cy="307777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2FAC187-0C69-8107-25DC-4CDD67449CA7}"/>
                </a:ext>
              </a:extLst>
            </p:cNvPr>
            <p:cNvSpPr/>
            <p:nvPr/>
          </p:nvSpPr>
          <p:spPr>
            <a:xfrm>
              <a:off x="2789890" y="5280301"/>
              <a:ext cx="1481944" cy="30777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A06BF2-E4D7-1BA9-D7C0-1D0B49849A86}"/>
                </a:ext>
              </a:extLst>
            </p:cNvPr>
            <p:cNvSpPr txBox="1"/>
            <p:nvPr/>
          </p:nvSpPr>
          <p:spPr>
            <a:xfrm>
              <a:off x="2789890" y="5280301"/>
              <a:ext cx="1481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fast convergence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DA3683E-5E74-9851-F018-11D22119004D}"/>
              </a:ext>
            </a:extLst>
          </p:cNvPr>
          <p:cNvSpPr txBox="1"/>
          <p:nvPr/>
        </p:nvSpPr>
        <p:spPr>
          <a:xfrm>
            <a:off x="5020147" y="5805488"/>
            <a:ext cx="732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SGD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D0F83C-EB61-DC47-D005-E7EAE9FBC142}"/>
              </a:ext>
            </a:extLst>
          </p:cNvPr>
          <p:cNvSpPr txBox="1"/>
          <p:nvPr/>
        </p:nvSpPr>
        <p:spPr>
          <a:xfrm>
            <a:off x="1291967" y="5804336"/>
            <a:ext cx="732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4231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3825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momentum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word “momentum” means “inertia, elasticity, acceleration”.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Momentum SGD literally means adding momentum to gradient descent.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By introducing momentum into SGD, parameters are updated only at a certain rate in the same direction by referring to the previous updated value and direction (+, -) before updating the parameter.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As a result, the unstable fluctuations of large errors can be reduced.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ECAE9-849A-5517-2296-2F5A7AED3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" y="4070270"/>
            <a:ext cx="7362825" cy="235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019A8B-FA9A-19CB-5C6A-5B3ECBFB09D6}"/>
              </a:ext>
            </a:extLst>
          </p:cNvPr>
          <p:cNvSpPr txBox="1"/>
          <p:nvPr/>
        </p:nvSpPr>
        <p:spPr>
          <a:xfrm>
            <a:off x="785812" y="6418065"/>
            <a:ext cx="732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SGD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9D751-679D-F3D9-F37C-64BDA4F65E43}"/>
              </a:ext>
            </a:extLst>
          </p:cNvPr>
          <p:cNvSpPr txBox="1"/>
          <p:nvPr/>
        </p:nvSpPr>
        <p:spPr>
          <a:xfrm>
            <a:off x="4829647" y="6418065"/>
            <a:ext cx="2037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SGD with momentum 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4722212-7EF1-A92D-31FE-60D49087CB08}"/>
              </a:ext>
            </a:extLst>
          </p:cNvPr>
          <p:cNvGrpSpPr/>
          <p:nvPr/>
        </p:nvGrpSpPr>
        <p:grpSpPr>
          <a:xfrm>
            <a:off x="2554678" y="5869572"/>
            <a:ext cx="1481944" cy="338555"/>
            <a:chOff x="2789890" y="5255387"/>
            <a:chExt cx="1481944" cy="33855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551E149-9F8D-4082-D24A-7EBAF9E5D552}"/>
                </a:ext>
              </a:extLst>
            </p:cNvPr>
            <p:cNvSpPr/>
            <p:nvPr/>
          </p:nvSpPr>
          <p:spPr>
            <a:xfrm>
              <a:off x="2789890" y="5255387"/>
              <a:ext cx="1481944" cy="33855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6D89D7-2EAC-65AD-9630-E22E2167BA7B}"/>
                </a:ext>
              </a:extLst>
            </p:cNvPr>
            <p:cNvSpPr txBox="1"/>
            <p:nvPr/>
          </p:nvSpPr>
          <p:spPr>
            <a:xfrm>
              <a:off x="2789890" y="5280301"/>
              <a:ext cx="1481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High fluctuation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873DE75-B1E4-543C-09FF-3C0A2B688035}"/>
              </a:ext>
            </a:extLst>
          </p:cNvPr>
          <p:cNvGrpSpPr/>
          <p:nvPr/>
        </p:nvGrpSpPr>
        <p:grpSpPr>
          <a:xfrm>
            <a:off x="6526603" y="5869572"/>
            <a:ext cx="1481944" cy="338555"/>
            <a:chOff x="2789890" y="5255387"/>
            <a:chExt cx="1481944" cy="33855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0D0ACE8-1E18-70DD-E177-6E6E1B463EBA}"/>
                </a:ext>
              </a:extLst>
            </p:cNvPr>
            <p:cNvSpPr/>
            <p:nvPr/>
          </p:nvSpPr>
          <p:spPr>
            <a:xfrm>
              <a:off x="2789890" y="5255387"/>
              <a:ext cx="1481944" cy="33855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E4830B-0846-EB75-227C-F707B18F8BC8}"/>
                </a:ext>
              </a:extLst>
            </p:cNvPr>
            <p:cNvSpPr txBox="1"/>
            <p:nvPr/>
          </p:nvSpPr>
          <p:spPr>
            <a:xfrm>
              <a:off x="2789890" y="5280301"/>
              <a:ext cx="1481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Low fluctuation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7529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Representative optimizers for deep learning training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C8BF21-BECC-D042-FEB4-39983CC3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1833563"/>
            <a:ext cx="4781550" cy="476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21E864-4032-51BD-21F6-E3E853905B0F}"/>
              </a:ext>
            </a:extLst>
          </p:cNvPr>
          <p:cNvSpPr txBox="1"/>
          <p:nvPr/>
        </p:nvSpPr>
        <p:spPr>
          <a:xfrm>
            <a:off x="659168" y="3027557"/>
            <a:ext cx="303951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Dozens of optimizers exist, and new optimizers are still being researched and developed.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048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Basic Concepts for Neural Networks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52266" cy="1332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Representative optimizers for deep learning training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8B2C91-3C7B-80C2-EFC1-1BC7374C2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805434"/>
            <a:ext cx="8652266" cy="45825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22B018-101B-7CFF-7290-29E46209EFFC}"/>
              </a:ext>
            </a:extLst>
          </p:cNvPr>
          <p:cNvSpPr txBox="1"/>
          <p:nvPr/>
        </p:nvSpPr>
        <p:spPr>
          <a:xfrm>
            <a:off x="295594" y="2154198"/>
            <a:ext cx="121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All data is fully utilized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2150F-289A-3DED-E79D-00FECE557095}"/>
              </a:ext>
            </a:extLst>
          </p:cNvPr>
          <p:cNvSpPr txBox="1"/>
          <p:nvPr/>
        </p:nvSpPr>
        <p:spPr>
          <a:xfrm>
            <a:off x="200025" y="4554319"/>
            <a:ext cx="17621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Update frequently with small bits of random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566E44-C14E-4FAD-F3F2-7FC2F5282D56}"/>
              </a:ext>
            </a:extLst>
          </p:cNvPr>
          <p:cNvSpPr txBox="1"/>
          <p:nvPr/>
        </p:nvSpPr>
        <p:spPr>
          <a:xfrm>
            <a:off x="2771775" y="3429000"/>
            <a:ext cx="18002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Minimize fluctuations by introducing momentum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9AA1DA-1747-9D49-96FB-D387934A22BD}"/>
              </a:ext>
            </a:extLst>
          </p:cNvPr>
          <p:cNvSpPr txBox="1"/>
          <p:nvPr/>
        </p:nvSpPr>
        <p:spPr>
          <a:xfrm>
            <a:off x="2876550" y="5631418"/>
            <a:ext cx="13906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Learn fast at first, learn more detail later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7CA532-200F-9EB0-3470-D53E66AC03DF}"/>
              </a:ext>
            </a:extLst>
          </p:cNvPr>
          <p:cNvSpPr txBox="1"/>
          <p:nvPr/>
        </p:nvSpPr>
        <p:spPr>
          <a:xfrm>
            <a:off x="4510087" y="2316547"/>
            <a:ext cx="19478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Calculate the slope by moving in advance in the direction the momentum will move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4E40A-5E71-D55A-1A19-40FE61A41E8C}"/>
              </a:ext>
            </a:extLst>
          </p:cNvPr>
          <p:cNvSpPr txBox="1"/>
          <p:nvPr/>
        </p:nvSpPr>
        <p:spPr>
          <a:xfrm>
            <a:off x="5411983" y="5020270"/>
            <a:ext cx="22842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Learn in detail, but have some flexibility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7D953F-B60D-2AA0-BB6C-5E86D6E66134}"/>
              </a:ext>
            </a:extLst>
          </p:cNvPr>
          <p:cNvSpPr txBox="1"/>
          <p:nvPr/>
        </p:nvSpPr>
        <p:spPr>
          <a:xfrm>
            <a:off x="5557837" y="6228147"/>
            <a:ext cx="1800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Prevent learning from being too detailed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E9FCDE-E741-EF39-9079-64CD7FF43053}"/>
              </a:ext>
            </a:extLst>
          </p:cNvPr>
          <p:cNvSpPr txBox="1"/>
          <p:nvPr/>
        </p:nvSpPr>
        <p:spPr>
          <a:xfrm>
            <a:off x="7414016" y="4210065"/>
            <a:ext cx="1558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learn with both gradient and learning rate taken into account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8FCA7F-4C46-2CDD-1463-C5FB6B33A3AC}"/>
              </a:ext>
            </a:extLst>
          </p:cNvPr>
          <p:cNvSpPr txBox="1"/>
          <p:nvPr/>
        </p:nvSpPr>
        <p:spPr>
          <a:xfrm>
            <a:off x="7047303" y="1805397"/>
            <a:ext cx="1947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/>
              <a:t>Applying NAG instead of momentum in Adam</a:t>
            </a:r>
          </a:p>
        </p:txBody>
      </p:sp>
    </p:spTree>
    <p:extLst>
      <p:ext uri="{BB962C8B-B14F-4D97-AF65-F5344CB8AC3E}">
        <p14:creationId xmlns:p14="http://schemas.microsoft.com/office/powerpoint/2010/main" val="3727781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19619</TotalTime>
  <Words>2364</Words>
  <Application>Microsoft Office PowerPoint</Application>
  <PresentationFormat>화면 슬라이드 쇼(4:3)</PresentationFormat>
  <Paragraphs>471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맑은 고딕</vt:lpstr>
      <vt:lpstr>Arial</vt:lpstr>
      <vt:lpstr>Arial Narrow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김준태</dc:creator>
  <cp:lastModifiedBy>준태 김</cp:lastModifiedBy>
  <cp:revision>1944</cp:revision>
  <cp:lastPrinted>2017-04-16T10:58:23Z</cp:lastPrinted>
  <dcterms:created xsi:type="dcterms:W3CDTF">2017-03-22T07:59:28Z</dcterms:created>
  <dcterms:modified xsi:type="dcterms:W3CDTF">2025-04-07T05:20:52Z</dcterms:modified>
</cp:coreProperties>
</file>